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관측 사고율</c:v>
                </c:pt>
              </c:strCache>
            </c:strRef>
          </c:tx>
          <c:spPr>
            <a:ln w="28575" cap="flat">
              <a:solidFill>
                <a:srgbClr val="1B8A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8A8F"/>
              </a:solidFill>
              <a:ln w="9525" cap="flat">
                <a:solidFill>
                  <a:srgbClr val="1B8A8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1천</c:v>
                </c:pt>
                <c:pt idx="5">
                  <c:v>5천</c:v>
                </c:pt>
                <c:pt idx="6">
                  <c:v>1만</c:v>
                </c:pt>
                <c:pt idx="7">
                  <c:v>5만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9.1999999999999993</c:v>
                </c:pt>
                <c:pt idx="1">
                  <c:v>2.4</c:v>
                </c:pt>
                <c:pt idx="2">
                  <c:v>7.1</c:v>
                </c:pt>
                <c:pt idx="3">
                  <c:v>3.6</c:v>
                </c:pt>
                <c:pt idx="4">
                  <c:v>5.9</c:v>
                </c:pt>
                <c:pt idx="5">
                  <c:v>4.4000000000000004</c:v>
                </c:pt>
                <c:pt idx="6">
                  <c:v>5.3</c:v>
                </c:pt>
                <c:pt idx="7">
                  <c:v>4.9000000000000004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4C-41C0-9155-169C0711D8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참값</c:v>
                </c:pt>
              </c:strCache>
            </c:strRef>
          </c:tx>
          <c:spPr>
            <a:ln w="28575" cap="flat">
              <a:solidFill>
                <a:srgbClr val="E0A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A100"/>
              </a:solidFill>
              <a:ln w="9525" cap="flat">
                <a:solidFill>
                  <a:srgbClr val="E0A1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500</c:v>
                </c:pt>
                <c:pt idx="4">
                  <c:v>1천</c:v>
                </c:pt>
                <c:pt idx="5">
                  <c:v>5천</c:v>
                </c:pt>
                <c:pt idx="6">
                  <c:v>1만</c:v>
                </c:pt>
                <c:pt idx="7">
                  <c:v>5만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4C-41C0-9155-169C0711D8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52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InsureFlow 8주 발표 시리즈의 1주차 킥오프입니다. 오늘은 팀·프로젝트 소개, 8주 로드맵, 그리고 보험 도메인의 핵심 개념과 용어를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발표의 흐름입니다. 도메인 개념과 용어가 본체이고, 그것을 우리 프로젝트(InsureFlow)와 8주 로드맵에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6팀은 보험 시스템 도메인을 맡았습니다. 각자 역할을 나눠 도메인 학습과 InsureFlow 프로젝트를 함께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플레이북의 격주 8회 발표 일정입니다. 1주차는 개념·용어와 팀 소개에 집중하고, 4·5주차에서 우리 프로젝트의 IT 구현을 깊게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발표를 한 문장으로 요약하면 이렇습니다. 면접에서 '보험이 뭐냐'고 물으면 이 한 문장으로 시작할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보험은 사적인 도박이 아니라 법으로 정의된 계약입니다. 본질은 위험의 분산, 즉 Risk Pooling입니다.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두 원리가 보험을 통계적으로 가능하게 만듭니다. 대수의 법칙으로 확률을 추정하고, 수지상등 원칙으로 균형을 맞춰 보험료를 산출합니다.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분류 기준(가입목적·상법·보험업법) 중 IT 학습은 보험업법 기준을 씁니다. 생명/손해/제3보험으로 나뉘고, 지급 방식이 정액이냐 실손이냐가 시스템 설계를 가릅니다.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정액과 실손의 차이는 단순한 분류가 아니라, 청구 지급 시스템을 둘로 나누는 핵심 설계 포인트입니다. 실손은 손해사정과 영수증 검증, 비례보상 로직이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보험료는 내는 돈, 보험금은 받는 돈입니다. 그리고 영업보험료는 순보험료(보험금 재원)와 부가보험료(사업비)로 나뉩니다. 이 구조가 2주차 보험료 산출의 기초가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계약자·피보험자·수익자는 다를 수 있기 때문에, 계약에 사람을 직접 넣지 않고 '계약 - 당사자' 를 1:N 역할 관계로 모델링합니다. 이게 4주차 ERD 설계의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 산출물인 용어 사전 v1의 일부입니다. 각 용어를 정의에서 그치지 않고 IT 관점(어떤 테이블·로직·배치로 구현되나)까지 연결한 것이 우리 팀의 차별점입니다.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보험 계약은 하나의 긴 생명주기를 갖습니다. 1주차에는 전체 지도만 보여주고, 3주차에 각 단계의 입력·처리·출력을 상세히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쇼핑·SNS와 달리 금융 시스템은 정확성·시점성·정합성·추적성이 절대 명제입니다. 보험 코어 시스템의 모든 설계 결정이 여기서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InsureFlow는 단순 CRUD가 아니라, 보험 코어의 본질적 문제(정합성·멱등성·정산)를 엔지니어링으로 푸는 프로젝트입니다. Java 21은 버전만 올린 게 아니라 가상 스레드·sealed interface 같은 기능을 도메인 안전성에 활용합니다.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네 가지가 면접에서 '게시판 만들었습니다'와 우리를 구분 짓는 지점입니다. 4·5·6주차 발표에서 실제 코드와 테스트로 하나씩 증명합니다.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프로젝트의 헤드라인 슬라이드입니다. 30건 중 25번째에서 강제로 실패시킨 뒤 재시작하면, Reader가 마지막 커밋(20건) 다음인 21번부터 이어 읽고, 같은 멱등키가 중복을 막아 최종 30건·중복 0이 됩니다. 이 불변식들을 매 PR마다 CI가 자동 검증하고, 깨지면 머지를 막습니다. '정합성을 한 번 맞춘 게 아니라 깨지지 않게 박제했다'가 핵심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좋은 발표의 6번째 조건인 '면접 연결'입니다. 조사 내용과 우리 해석을 구분하고, 마지막엔 한 문장으로 압축했습니다.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출처는 모두 공식 자료를 우선했습니다. 2주차는 보험료가 실제로 어떻게 만들어지는지 — 3이원 방식과 언더라이팅을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554480"/>
            <a:ext cx="4206240" cy="4206240"/>
          </a:xfrm>
          <a:prstGeom prst="ellipse">
            <a:avLst/>
          </a:prstGeom>
          <a:solidFill>
            <a:srgbClr val="274C77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138160" y="3108960"/>
            <a:ext cx="2926080" cy="2926080"/>
          </a:xfrm>
          <a:prstGeom prst="ellipse">
            <a:avLst/>
          </a:prstGeom>
          <a:solidFill>
            <a:srgbClr val="1B8A8F">
              <a:alpha val="2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 IT · INSURANCE DOMAIN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03504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Insure</a:t>
            </a:r>
            <a:r>
              <a:rPr lang="en-US" sz="6000" b="1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도메인 &amp; 보험 코어 시스템 프로젝트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개념부터 IT 구현까지 — 8주 발표 시리즈의 시작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175004" cy="420624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11750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킥오프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79676" y="4160520"/>
            <a:ext cx="2286000" cy="420624"/>
          </a:xfrm>
          <a:prstGeom prst="roundRect">
            <a:avLst>
              <a:gd name="adj" fmla="val 50000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979676" y="41605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06. 26 (금)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0268" y="4160520"/>
            <a:ext cx="1668780" cy="420624"/>
          </a:xfrm>
          <a:prstGeom prst="roundRect">
            <a:avLst>
              <a:gd name="adj" fmla="val 50000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30268" y="4160520"/>
            <a:ext cx="16687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6팀 · 보험 시스템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42245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8EA6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예소 · 채연 · 현준 · 은정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TODAY'S AGENDA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다섯 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7512" y="1508760"/>
            <a:ext cx="402336" cy="402336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cons/tea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19" y="1613367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9576" y="13898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3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73352" y="14813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&amp; 프로젝트 소개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800600" y="138988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6팀이 누구이며, InsureFlow가 무엇인지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098548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7512" y="2217420"/>
            <a:ext cx="402336" cy="402336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icons/roadma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19" y="2322027"/>
            <a:ext cx="193121" cy="1931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79576" y="20985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3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673352" y="21899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 발표 로드맵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800600" y="209854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→ 흐름 → 구현 → 통합 → 면접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2807208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67512" y="2926080"/>
            <a:ext cx="402336" cy="402336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icons/concep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19" y="3030687"/>
            <a:ext cx="193121" cy="1931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79576" y="280720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3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673352" y="28986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도메인 핵심 개념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4800600" y="280720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정의·원리·분류·보험료·이해관계자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02920" y="3515868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667512" y="3634740"/>
            <a:ext cx="402336" cy="402336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icons/doc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119" y="3739347"/>
            <a:ext cx="193121" cy="19312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79576" y="35158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3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1673352" y="36073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사전 v1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4800600" y="351586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+ 왜 중요 + IT 관점 3중 구조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02920" y="4224528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667512" y="4343400"/>
            <a:ext cx="402336" cy="402336"/>
          </a:xfrm>
          <a:prstGeom prst="ellipse">
            <a:avLst/>
          </a:prstGeom>
          <a:solidFill>
            <a:srgbClr val="12686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icons/system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119" y="4448007"/>
            <a:ext cx="193121" cy="19312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79576" y="42245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3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900" dirty="0"/>
          </a:p>
        </p:txBody>
      </p:sp>
      <p:sp>
        <p:nvSpPr>
          <p:cNvPr id="33" name="Text 26"/>
          <p:cNvSpPr/>
          <p:nvPr/>
        </p:nvSpPr>
        <p:spPr>
          <a:xfrm>
            <a:off x="1673352" y="4315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관점 · 다음 주 예고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800600" y="42245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시스템의 본질과 우리의 설계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6 · INSURANCE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팀과 프로젝트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5026" y="1371600"/>
            <a:ext cx="4054133" cy="3246120"/>
          </a:xfrm>
          <a:prstGeom prst="roundRect">
            <a:avLst>
              <a:gd name="adj" fmla="val 2254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컨셉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65376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가상의 보험사를 세우고,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계약·수납·청구·정산의</a:t>
            </a:r>
            <a:r>
              <a:rPr lang="en-US" sz="1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1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흐름을</a:t>
            </a:r>
            <a:r>
              <a:rPr lang="en-US" sz="1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끝에서 끝까지 구현한다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</a:t>
            </a:r>
            <a:r>
              <a:rPr lang="en-US" sz="125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 고객·설계사용 온라인 API, 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 err="1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</a:t>
            </a:r>
            <a:r>
              <a:rPr lang="en-US" sz="1250" dirty="0" err="1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</a:t>
            </a:r>
            <a:r>
              <a:rPr lang="en-US" sz="125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대량 정산 배치 — 둘을 이벤트로 연결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114800"/>
            <a:ext cx="1312164" cy="329184"/>
          </a:xfrm>
          <a:prstGeom prst="roundRect">
            <a:avLst>
              <a:gd name="adj" fmla="val 50000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13121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9132" y="411480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99132" y="411480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Batch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17036" y="41148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717036" y="41148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1372303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&amp; 역할 분담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71907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855464" y="1847088"/>
            <a:ext cx="402336" cy="402336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55464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85816" y="18105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71907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리서치 · 보험 분류·상품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45059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55464" y="2578608"/>
            <a:ext cx="402336" cy="402336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55464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85816" y="254203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24505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설계 · 발표/문서 정리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18211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855464" y="3310128"/>
            <a:ext cx="402336" cy="402336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55464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85816" y="32735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현준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63640" y="31821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구조 · 용어/시스템 매핑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91363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855464" y="4041648"/>
            <a:ext cx="402336" cy="402336"/>
          </a:xfrm>
          <a:prstGeom prst="ellipse">
            <a:avLst/>
          </a:prstGeom>
          <a:solidFill>
            <a:srgbClr val="1268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855464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은정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85816" y="40050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은정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63640" y="39136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사전 · 계약 유지/지급 정리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8-WEEK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8번의 발표, 이렇게 쌓아갑니다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 →  업무 흐름  →  IT 구현  →  케이스  →  통합·면접 — 매 발표가 다음 발표의 토대가 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1792" y="1682496"/>
            <a:ext cx="256032" cy="256032"/>
          </a:xfrm>
          <a:prstGeom prst="ellipse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1792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2763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06/26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20240" y="16276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 · 도메인 개념·용어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1627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D0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 + 용어 사전 v1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040941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1792" y="2095805"/>
            <a:ext cx="256032" cy="256032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792" y="20958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040941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07/10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20240" y="2040941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보험료 구조·산출 + 언더라이팅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26480" y="2040941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3이원 도식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454250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" y="2509114"/>
            <a:ext cx="256032" cy="256032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1792" y="25091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45425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07/24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20240" y="245425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생명주기 전체 흐름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26480" y="245425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업무 흐름도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867558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21792" y="2922422"/>
            <a:ext cx="256032" cy="256032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1792" y="29224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286755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08/07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920240" y="286755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구현 ① 아키텍처·ERD·상태머신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26480" y="28675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ERD + 상태도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280867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21792" y="3335731"/>
            <a:ext cx="256032" cy="256032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21792" y="33357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280867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08/21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920240" y="3280867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구현 ② Spring Batch 시나리오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26480" y="328086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4종 시나리오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694176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21792" y="3749040"/>
            <a:ext cx="256032" cy="256032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21792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" y="369417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09/03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920240" y="36941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보험금 지급·손해사정 + FDS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12648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 프로세스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4107485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21792" y="4162349"/>
            <a:ext cx="256032" cy="256032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21792" y="416234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05840" y="4107485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10/08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920240" y="4107485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분석 (실손·IFRS17·인슈어테크)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126480" y="4107485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리포트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4520794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21792" y="4575658"/>
            <a:ext cx="256032" cy="256032"/>
          </a:xfrm>
          <a:prstGeom prst="ellipse">
            <a:avLst/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21792" y="45756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05840" y="4520794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10/23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920240" y="452079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발표 + 면접 마스터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126480" y="452079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맵 + Q&amp;A 모음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743200"/>
            <a:ext cx="4023360" cy="4023360"/>
          </a:xfrm>
          <a:prstGeom prst="ellipse">
            <a:avLst/>
          </a:prstGeom>
          <a:solidFill>
            <a:srgbClr val="274C77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E0A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보험은 </a:t>
            </a:r>
            <a:r>
              <a:rPr lang="en-US" sz="3000" b="1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다수가 나눠 갖는 제도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약속을 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1원도 틀리지 않게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300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</a:t>
            </a:r>
            <a:r>
              <a:rPr lang="en-US" sz="3000" b="1" dirty="0" err="1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시각에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자동화하는</a:t>
            </a: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것이 보험 IT다.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이것이 우리가 8주 동안 증명할 한 문장입니다.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보험이란 무엇인가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0664" y="149961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0664" y="14996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보험업법 제2조 1호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1938528"/>
            <a:ext cx="3465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보험계약자가 보험사고 발생에 </a:t>
            </a: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금전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(보험금)을 지급받는 </a:t>
            </a: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것을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내용으로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901184" y="1499616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01184" y="14996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상법 제638조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1938528"/>
            <a:ext cx="3465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일방이 보험료를 내고, </a:t>
            </a: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재산·생명·신체에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불확정한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사고가 생기면 상대방이 </a:t>
            </a: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보험금을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지급하기로</a:t>
            </a: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계약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8138160" cy="1920240"/>
          </a:xfrm>
          <a:prstGeom prst="roundRect">
            <a:avLst>
              <a:gd name="adj" fmla="val 3810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77240" y="29809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본질    </a:t>
            </a: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= 위험을 다수가 나누어 대비하는 제도 (Risk Pooling)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234440" y="3456432"/>
            <a:ext cx="274320" cy="27432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0" descr="icons/pers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3502152"/>
            <a:ext cx="164592" cy="16459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444752" y="3429000"/>
            <a:ext cx="118872" cy="118872"/>
          </a:xfrm>
          <a:prstGeom prst="ellipse">
            <a:avLst/>
          </a:prstGeom>
          <a:solidFill>
            <a:srgbClr val="E0A100"/>
          </a:solidFill>
          <a:ln w="952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1783080" y="3456432"/>
            <a:ext cx="274320" cy="27432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icons/pers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4" y="3502152"/>
            <a:ext cx="164592" cy="16459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993392" y="3429000"/>
            <a:ext cx="118872" cy="118872"/>
          </a:xfrm>
          <a:prstGeom prst="ellipse">
            <a:avLst/>
          </a:prstGeom>
          <a:solidFill>
            <a:srgbClr val="E0A100"/>
          </a:solidFill>
          <a:ln w="952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960120" y="3767328"/>
            <a:ext cx="274320" cy="27432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icons/pers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813048"/>
            <a:ext cx="164592" cy="16459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170432" y="3739896"/>
            <a:ext cx="118872" cy="118872"/>
          </a:xfrm>
          <a:prstGeom prst="ellipse">
            <a:avLst/>
          </a:prstGeom>
          <a:solidFill>
            <a:srgbClr val="E0A100"/>
          </a:solidFill>
          <a:ln w="952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1508760" y="3767328"/>
            <a:ext cx="274320" cy="27432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icons/pers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3813048"/>
            <a:ext cx="164592" cy="1645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719072" y="3739896"/>
            <a:ext cx="118872" cy="118872"/>
          </a:xfrm>
          <a:prstGeom prst="ellipse">
            <a:avLst/>
          </a:prstGeom>
          <a:solidFill>
            <a:srgbClr val="E0A100"/>
          </a:solidFill>
          <a:ln w="952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2057400" y="3767328"/>
            <a:ext cx="274320" cy="27432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icons/pers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3813048"/>
            <a:ext cx="164592" cy="16459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2267712" y="3739896"/>
            <a:ext cx="118872" cy="118872"/>
          </a:xfrm>
          <a:prstGeom prst="ellipse">
            <a:avLst/>
          </a:prstGeom>
          <a:solidFill>
            <a:srgbClr val="E0A100"/>
          </a:solidFill>
          <a:ln w="9525">
            <a:solidFill>
              <a:srgbClr val="1329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3"/>
          <p:cNvSpPr/>
          <p:nvPr/>
        </p:nvSpPr>
        <p:spPr>
          <a:xfrm>
            <a:off x="77724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다수의 가입자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2606040" y="3584448"/>
            <a:ext cx="914400" cy="365760"/>
          </a:xfrm>
          <a:prstGeom prst="rightArrow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/>
          <p:nvPr/>
        </p:nvSpPr>
        <p:spPr>
          <a:xfrm>
            <a:off x="2450592" y="39502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보험료·조금씩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794760" y="3346704"/>
            <a:ext cx="1143000" cy="841248"/>
          </a:xfrm>
          <a:prstGeom prst="can">
            <a:avLst/>
          </a:prstGeom>
          <a:solidFill>
            <a:srgbClr val="274C77"/>
          </a:solidFill>
          <a:ln w="15875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7"/>
          <p:cNvSpPr/>
          <p:nvPr/>
        </p:nvSpPr>
        <p:spPr>
          <a:xfrm>
            <a:off x="3794760" y="35112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기금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566160" y="4133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공동의 기금 (Pool)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212080" y="3584448"/>
            <a:ext cx="914400" cy="365760"/>
          </a:xfrm>
          <a:prstGeom prst="rightArrow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/>
          <p:cNvSpPr/>
          <p:nvPr/>
        </p:nvSpPr>
        <p:spPr>
          <a:xfrm>
            <a:off x="5056632" y="39502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B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보험금·몰아서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6446520" y="3383280"/>
            <a:ext cx="749808" cy="74980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5" descr="icons/shiel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3575304"/>
            <a:ext cx="347472" cy="34747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035040" y="41330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당한 1인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보험을 떠받치는 두 원리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“보험료는 임의로 정하는 게 아니라, 확률을 추정하고 수지를 맞춰 산출한다” — 보험에서의 금융공학 출발점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22376" y="1810512"/>
            <a:ext cx="475488" cy="47548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cons/his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9476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77393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대수의 법칙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325880" y="207568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Law of Large Numbers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0664" y="23225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모을수록 사고율이 일정값에 </a:t>
            </a:r>
            <a:r>
              <a:rPr lang="en-US" sz="115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</a:t>
            </a: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확률로 보험료를 산출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798064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22376" y="2980944"/>
            <a:ext cx="475488" cy="475488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icons/sca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11810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944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수지상등의 원칙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1325880" y="32461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Principle of Equivalence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40664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보험료 = 나갈 보험금 + </a:t>
            </a:r>
            <a:r>
              <a:rPr lang="en-US" sz="115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사업비</a:t>
            </a: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순보험료 = 기댓값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343400" y="1627632"/>
            <a:ext cx="4297680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4544568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수의 법칙 — 가입자가 늘수록 수렴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453128" y="2011680"/>
          <a:ext cx="4023360" cy="1444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Text 16"/>
          <p:cNvSpPr/>
          <p:nvPr/>
        </p:nvSpPr>
        <p:spPr>
          <a:xfrm>
            <a:off x="4544568" y="3547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표본↑ → 관측 사고율이 참값에 수렴 · 개인은 불확실, 집단은 안정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02920" y="411480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731520" y="41148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순보험료 공식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194560" y="4114800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사고발생확률 × 보험금  =  </a:t>
            </a:r>
            <a:r>
              <a:rPr lang="en-US" sz="1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(K / N) × S</a:t>
            </a:r>
            <a:r>
              <a:rPr lang="en-US" sz="14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F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K=사고건수, N=가입자수, S=건당 보험금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보험의 3대 분류 (보험업법 기준)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보험업법 기준은 회사 허가·상품 분류의 기준 — IT 도메인·상품 프로세스는 이 기준으로 학습합니다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2624328" cy="365760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icons/healt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366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44168" y="1810512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생명보험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40664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대상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0664" y="27340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생사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0664" y="3017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보험업법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0664" y="31912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사망·생존·연금·노후자금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0664" y="3474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상품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0664" y="36484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생명·연금·퇴직보험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0664" y="4078224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740664" y="40782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주로 정액형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59836" y="164592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259836" y="1645920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259836" y="2121408"/>
            <a:ext cx="2624328" cy="365760"/>
          </a:xfrm>
          <a:prstGeom prst="rect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icons/c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156" y="1883664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101084" y="1810512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손해보험</a:t>
            </a:r>
            <a:endParaRPr lang="en-US" sz="1900" dirty="0"/>
          </a:p>
        </p:txBody>
      </p:sp>
      <p:sp>
        <p:nvSpPr>
          <p:cNvPr id="24" name="Text 20"/>
          <p:cNvSpPr/>
          <p:nvPr/>
        </p:nvSpPr>
        <p:spPr>
          <a:xfrm>
            <a:off x="3497580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대상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497580" y="27340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재산상 손해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3497580" y="3017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보험업법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497580" y="31912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재산 손해·배상책임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497580" y="3474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상품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497580" y="36484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화재·자동차·해상·보증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3497580" y="4078224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3497580" y="40782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8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주로 실손형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016752" y="164592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6016752" y="1645920"/>
            <a:ext cx="2624328" cy="841248"/>
          </a:xfrm>
          <a:prstGeom prst="roundRect">
            <a:avLst>
              <a:gd name="adj" fmla="val 8696"/>
            </a:avLst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6016752" y="2121408"/>
            <a:ext cx="2624328" cy="365760"/>
          </a:xfrm>
          <a:prstGeom prst="rect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2" descr="icons/he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883664"/>
            <a:ext cx="384048" cy="38404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858000" y="1810512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제3보험</a:t>
            </a:r>
            <a:endParaRPr lang="en-US" sz="1900" dirty="0"/>
          </a:p>
        </p:txBody>
      </p:sp>
      <p:sp>
        <p:nvSpPr>
          <p:cNvPr id="37" name="Text 32"/>
          <p:cNvSpPr/>
          <p:nvPr/>
        </p:nvSpPr>
        <p:spPr>
          <a:xfrm>
            <a:off x="6254496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 대상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6254496" y="27340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 위험 (중간 성격)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6254496" y="30175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보험업법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254496" y="31912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생명+손해 혼재</a:t>
            </a:r>
            <a:endParaRPr lang="en-US" sz="1150" dirty="0"/>
          </a:p>
        </p:txBody>
      </p:sp>
      <p:sp>
        <p:nvSpPr>
          <p:cNvPr id="41" name="Text 36"/>
          <p:cNvSpPr/>
          <p:nvPr/>
        </p:nvSpPr>
        <p:spPr>
          <a:xfrm>
            <a:off x="6254496" y="3474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상품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6254496" y="3648456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상해·질병·간병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6254496" y="4078224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6254496" y="40782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74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 + 실손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PAYOUT LOGIC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정액보상 vs 실손보상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 로직이 갈리는 지점 — 시스템에서 지급 계산 모듈을 정액형/실손형으로 분기해야 하는 근거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1664208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정액보상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1664208"/>
            <a:ext cx="3154680" cy="475488"/>
          </a:xfrm>
          <a:prstGeom prst="roundRect">
            <a:avLst>
              <a:gd name="adj" fmla="val 11538"/>
            </a:avLst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0" y="166420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실손보상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231136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E8EEF4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2311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31720" y="2231136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514600" y="223113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시 정해진 금액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2231136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0" y="2231136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손해액만큼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2798064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E8EEF4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279806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331720" y="2798064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514600" y="279806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 진단 시 3,000만 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0" y="2798064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669280" y="279806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입원치료비 영수증 기준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3364992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E8EEF4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3649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중복가입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331720" y="3364992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514600" y="336499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다 받음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0" y="3364992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669280" y="336499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비례보상 (중복 보상 X)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3931920"/>
            <a:ext cx="1828800" cy="512064"/>
          </a:xfrm>
          <a:prstGeom prst="roundRect">
            <a:avLst>
              <a:gd name="adj" fmla="val 14286"/>
            </a:avLst>
          </a:prstGeom>
          <a:solidFill>
            <a:srgbClr val="E8EEF4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39319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함의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331720" y="3931920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514600" y="393192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가입금액 = 지급액 (단순)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0" y="3931920"/>
            <a:ext cx="3154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669280" y="3931920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손해사정·영수증 검증 로직 필요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46817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· 정액=생명·제3보험 진단비  |  실손=손해·실손의료비 — 이 한 줄이 청구 지급 모듈 분기를 결정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 vs BENEFIT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보험료 ≠ 보험금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88720" y="1591056"/>
            <a:ext cx="548640" cy="5486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cons/coin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7373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128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보험료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5237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계약자가 내는 돈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9718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88720" y="3145536"/>
            <a:ext cx="548640" cy="548640"/>
          </a:xfrm>
          <a:prstGeom prst="ellipse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icons/mone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024" y="32918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보험금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2920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시 받는 돈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697480" y="1417320"/>
            <a:ext cx="59436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971800" y="15910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영업보험료(계약자가 내는 보험료)의 구조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2971800" y="2011680"/>
            <a:ext cx="2788920" cy="530352"/>
          </a:xfrm>
          <a:prstGeom prst="roundRect">
            <a:avLst>
              <a:gd name="adj" fmla="val 10345"/>
            </a:avLst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3118104" y="20939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순보험료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118104" y="23408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F0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보험금 지급 재원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108960" y="2633472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3255264" y="2715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위험보험료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255264" y="29626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사망·질병 등 보험금 지급용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108960" y="3236976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3255264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저축보험료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3255264" y="3566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만기·해지환급금 지급용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5943600" y="201168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6089904" y="2093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부가보험료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089904" y="23408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BEF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사업비 재원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080760" y="2633472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/>
          <p:nvPr/>
        </p:nvSpPr>
        <p:spPr>
          <a:xfrm>
            <a:off x="6227064" y="27157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98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신계약비 · 유지비 · 수금비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227064" y="29626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생명보험 3요소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608076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순보험료 + 부가보험료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971800" y="39502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전손 사고가 아니면 보험금 ≠ 가입금액 — 초심자가 가장 많이 헷갈리는 지점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STAKEHOLDERS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3자 관계 — 데이터 모델의 심장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39572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380744" y="1664208"/>
            <a:ext cx="640080" cy="64008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cons/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182880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35000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보험사와 계약을 맺고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보험료를 내는 사람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63240" y="1481328"/>
            <a:ext cx="239572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941064" y="1664208"/>
            <a:ext cx="640080" cy="640080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icons/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656" y="182880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3240" y="235000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피보험자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200400" y="26517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보험사고의 대상이 되는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/ 물건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23560" y="1481328"/>
            <a:ext cx="239572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501384" y="1664208"/>
            <a:ext cx="640080" cy="640080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icons/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182880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23560" y="235000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수익자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760720" y="26517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시 보험금을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권리가 있는 사람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32461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713232" y="3291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한 가족, 세 역할 — 셋이 다를 수 있다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1298448" y="3986784"/>
            <a:ext cx="2377440" cy="0"/>
          </a:xfrm>
          <a:prstGeom prst="line">
            <a:avLst/>
          </a:prstGeom>
          <a:noFill/>
          <a:ln w="15875">
            <a:solidFill>
              <a:srgbClr val="C7CFD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795528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078992" y="3767328"/>
            <a:ext cx="438912" cy="438912"/>
          </a:xfrm>
          <a:prstGeom prst="ellipse">
            <a:avLst/>
          </a:prstGeom>
          <a:solidFill>
            <a:srgbClr val="1B8A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icons/perso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3867912"/>
            <a:ext cx="237744" cy="23774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41248" y="429768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841248" y="429768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계약자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1984248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자녀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267712" y="3767328"/>
            <a:ext cx="438912" cy="438912"/>
          </a:xfrm>
          <a:prstGeom prst="ellipse">
            <a:avLst/>
          </a:prstGeom>
          <a:solidFill>
            <a:srgbClr val="B984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4" descr="icons/perso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3867912"/>
            <a:ext cx="237744" cy="23774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2029968" y="429768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/>
          <p:nvPr/>
        </p:nvSpPr>
        <p:spPr>
          <a:xfrm>
            <a:off x="2029968" y="429768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피보험자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3172968" y="3584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배우자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456432" y="3767328"/>
            <a:ext cx="438912" cy="438912"/>
          </a:xfrm>
          <a:prstGeom prst="ellipse">
            <a:avLst/>
          </a:prstGeom>
          <a:solidFill>
            <a:srgbClr val="274C7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5" descr="icons/perso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3867912"/>
            <a:ext cx="237744" cy="23774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3218688" y="4297680"/>
            <a:ext cx="914400" cy="246888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9"/>
          <p:cNvSpPr/>
          <p:nvPr/>
        </p:nvSpPr>
        <p:spPr>
          <a:xfrm>
            <a:off x="3218688" y="429768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4C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수익자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4663440" y="32461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1"/>
          <p:cNvSpPr/>
          <p:nvPr/>
        </p:nvSpPr>
        <p:spPr>
          <a:xfrm>
            <a:off x="4919472" y="3419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관점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919472" y="369417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테이블에 사람을 박아넣으면 안 된다.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 : N 당사자(역할 구분)로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모델링해야</a:t>
            </a: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GLOSSARY v1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사전 — 산출물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+ IT 관점 — 모든 용어를 “개발자라면 어떻게 다룰까” 관점으로 묶었습니다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22376" y="16824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보장개시일 / 책임개시일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956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보험사의 보장 책임이 시작되는 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2212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 </a:t>
            </a:r>
            <a:r>
              <a:rPr lang="en-US" sz="105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보장공백 판정의 기준 시각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57276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82896" y="16824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면책기간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82896" y="1956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일정 기간 보장하지 않는 기간 (예: 암 90일)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82896" y="22128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 </a:t>
            </a:r>
            <a:r>
              <a:rPr lang="en-US" sz="105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사고일 vs 개시일 날짜 비교 로직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7860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22376" y="26883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고지의무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22376" y="29626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시 병력·위험을 알릴 의무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" y="32186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 </a:t>
            </a:r>
            <a:r>
              <a:rPr lang="en-US" sz="105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언더라이팅 입력값·심사 분기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57860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82896" y="26883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해지환급금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82896" y="29626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해지 시 돌려주는 금액 (원금보다 적을 수 있음)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82896" y="32186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 </a:t>
            </a:r>
            <a:r>
              <a:rPr lang="en-US" sz="105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책임준비금과 연동 계산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58444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22376" y="36941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실효 / 부활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2376" y="39684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미납으로 해지된 계약 / 3년 내 되살리기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2376" y="4224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 </a:t>
            </a:r>
            <a:r>
              <a:rPr lang="en-US" sz="105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상태머신 전이 + 배치 처리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584448"/>
            <a:ext cx="39776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82896" y="36941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공시이율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82896" y="39684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금리연동형 상품에 적용하는 이율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82896" y="4224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 </a:t>
            </a:r>
            <a:r>
              <a:rPr lang="en-US" sz="105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이율 마스터 · 적립금 재계산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PREVIEW · WEEK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생명주기 한눈에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선택부터 보험금 지급까지 — 3주차에 단계별로 깊게 다룹니다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30936" y="1920240"/>
            <a:ext cx="292608" cy="29260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30936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696" y="1783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선택</a:t>
            </a:r>
            <a:endParaRPr lang="en-US" sz="1250" dirty="0"/>
          </a:p>
        </p:txBody>
      </p:sp>
      <p:pic>
        <p:nvPicPr>
          <p:cNvPr id="10" name="Image 0" descr="icons/chev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438" y="1965960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19172" y="1783080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647188" y="1920240"/>
            <a:ext cx="292608" cy="29260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64718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012948" y="1783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보험료 산출</a:t>
            </a:r>
            <a:endParaRPr lang="en-US" sz="1250" dirty="0"/>
          </a:p>
        </p:txBody>
      </p:sp>
      <p:pic>
        <p:nvPicPr>
          <p:cNvPr id="15" name="Image 1" descr="icons/chev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7" y="1965960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35424" y="1783080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663440" y="1920240"/>
            <a:ext cx="292608" cy="29260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46634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29200" y="1783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청약</a:t>
            </a:r>
            <a:endParaRPr lang="en-US" sz="1250" dirty="0"/>
          </a:p>
        </p:txBody>
      </p:sp>
      <p:pic>
        <p:nvPicPr>
          <p:cNvPr id="20" name="Image 2" descr="icons/chev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16" y="1965960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551676" y="1783080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6679692" y="1920240"/>
            <a:ext cx="292608" cy="29260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6679692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045452" y="1783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언더라이팅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02920" y="2642616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630936" y="2779776"/>
            <a:ext cx="292608" cy="29260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630936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996696" y="264261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체결</a:t>
            </a:r>
            <a:endParaRPr lang="en-US" sz="1250" dirty="0"/>
          </a:p>
        </p:txBody>
      </p:sp>
      <p:pic>
        <p:nvPicPr>
          <p:cNvPr id="29" name="Image 3" descr="icons/chev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459" y="2823738"/>
            <a:ext cx="201168" cy="20116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519172" y="2642616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2647188" y="2779776"/>
            <a:ext cx="292608" cy="292608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/>
          <p:nvPr/>
        </p:nvSpPr>
        <p:spPr>
          <a:xfrm>
            <a:off x="2647188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3012948" y="264261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납입·유지</a:t>
            </a:r>
            <a:endParaRPr lang="en-US" sz="1250" dirty="0"/>
          </a:p>
        </p:txBody>
      </p:sp>
      <p:pic>
        <p:nvPicPr>
          <p:cNvPr id="34" name="Image 4" descr="icons/chev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7" y="2823738"/>
            <a:ext cx="201168" cy="201168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535424" y="2642616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9"/>
          <p:cNvSpPr/>
          <p:nvPr/>
        </p:nvSpPr>
        <p:spPr>
          <a:xfrm>
            <a:off x="4663440" y="2779776"/>
            <a:ext cx="292608" cy="292608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/>
          <p:cNvSpPr/>
          <p:nvPr/>
        </p:nvSpPr>
        <p:spPr>
          <a:xfrm>
            <a:off x="466344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029200" y="264261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미납·실효·부활</a:t>
            </a:r>
            <a:endParaRPr lang="en-US" sz="1250" dirty="0"/>
          </a:p>
        </p:txBody>
      </p:sp>
      <p:pic>
        <p:nvPicPr>
          <p:cNvPr id="39" name="Image 5" descr="icons/chev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16" y="2825496"/>
            <a:ext cx="201168" cy="201168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551676" y="2642616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3"/>
          <p:cNvSpPr/>
          <p:nvPr/>
        </p:nvSpPr>
        <p:spPr>
          <a:xfrm>
            <a:off x="6679692" y="2779776"/>
            <a:ext cx="292608" cy="292608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/>
          <p:nvPr/>
        </p:nvSpPr>
        <p:spPr>
          <a:xfrm>
            <a:off x="6679692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7045452" y="264261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접수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502920" y="3502152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7"/>
          <p:cNvSpPr/>
          <p:nvPr/>
        </p:nvSpPr>
        <p:spPr>
          <a:xfrm>
            <a:off x="630936" y="3639312"/>
            <a:ext cx="292608" cy="292608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8"/>
          <p:cNvSpPr/>
          <p:nvPr/>
        </p:nvSpPr>
        <p:spPr>
          <a:xfrm>
            <a:off x="630936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996696" y="3502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손해사정</a:t>
            </a:r>
            <a:endParaRPr lang="en-US" sz="1250" dirty="0"/>
          </a:p>
        </p:txBody>
      </p:sp>
      <p:pic>
        <p:nvPicPr>
          <p:cNvPr id="48" name="Image 6" descr="icons/chev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480" y="3685032"/>
            <a:ext cx="201168" cy="201168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2519172" y="3502152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1"/>
          <p:cNvSpPr/>
          <p:nvPr/>
        </p:nvSpPr>
        <p:spPr>
          <a:xfrm>
            <a:off x="2647188" y="3639312"/>
            <a:ext cx="292608" cy="292608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2"/>
          <p:cNvSpPr/>
          <p:nvPr/>
        </p:nvSpPr>
        <p:spPr>
          <a:xfrm>
            <a:off x="2647188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3012948" y="3502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 심사</a:t>
            </a:r>
            <a:endParaRPr lang="en-US" sz="1250" dirty="0"/>
          </a:p>
        </p:txBody>
      </p:sp>
      <p:pic>
        <p:nvPicPr>
          <p:cNvPr id="53" name="Image 7" descr="icons/chev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60" y="3681516"/>
            <a:ext cx="201168" cy="201168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4535424" y="3502152"/>
            <a:ext cx="18928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223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5"/>
          <p:cNvSpPr/>
          <p:nvPr/>
        </p:nvSpPr>
        <p:spPr>
          <a:xfrm>
            <a:off x="4663440" y="3639312"/>
            <a:ext cx="292608" cy="292608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6"/>
          <p:cNvSpPr/>
          <p:nvPr/>
        </p:nvSpPr>
        <p:spPr>
          <a:xfrm>
            <a:off x="466344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57" name="Text 47"/>
          <p:cNvSpPr/>
          <p:nvPr/>
        </p:nvSpPr>
        <p:spPr>
          <a:xfrm>
            <a:off x="5029200" y="3502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보험금 지급</a:t>
            </a:r>
            <a:endParaRPr lang="en-US" sz="1250" dirty="0"/>
          </a:p>
        </p:txBody>
      </p:sp>
      <p:sp>
        <p:nvSpPr>
          <p:cNvPr id="58" name="Shape 48"/>
          <p:cNvSpPr/>
          <p:nvPr/>
        </p:nvSpPr>
        <p:spPr>
          <a:xfrm>
            <a:off x="502920" y="4526280"/>
            <a:ext cx="182880" cy="18288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9"/>
          <p:cNvSpPr/>
          <p:nvPr/>
        </p:nvSpPr>
        <p:spPr>
          <a:xfrm>
            <a:off x="740664" y="44439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가입·체결</a:t>
            </a:r>
            <a:endParaRPr lang="en-US" sz="1050" dirty="0"/>
          </a:p>
        </p:txBody>
      </p:sp>
      <p:sp>
        <p:nvSpPr>
          <p:cNvPr id="60" name="Shape 50"/>
          <p:cNvSpPr/>
          <p:nvPr/>
        </p:nvSpPr>
        <p:spPr>
          <a:xfrm>
            <a:off x="1965960" y="4526280"/>
            <a:ext cx="182880" cy="182880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1"/>
          <p:cNvSpPr/>
          <p:nvPr/>
        </p:nvSpPr>
        <p:spPr>
          <a:xfrm>
            <a:off x="2203704" y="44439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유지·변동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3429000" y="4526280"/>
            <a:ext cx="182880" cy="182880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3"/>
          <p:cNvSpPr/>
          <p:nvPr/>
        </p:nvSpPr>
        <p:spPr>
          <a:xfrm>
            <a:off x="3666744" y="444398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사고·지급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DOMAIN MATTERS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왜 보험 도메인을 알아야 하는가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384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C77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4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시스템 = 돈(정확성) × 시간(시점성) × 보존(정합성) × 증거(추적성) — 모든 설계 결정은 이 4개로 환원된다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40664" y="1901952"/>
            <a:ext cx="548640" cy="5486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icons/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4825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186537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435608" y="2176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1원도 틀리면 안 된다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" y="25603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금지 · BigDecimal 필수 · 라운딩 정책 명시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664208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901184" y="1901952"/>
            <a:ext cx="548640" cy="5486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icons/c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04825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186537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시점성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596128" y="2176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시각에 정확히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919472" y="25603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납입일·만기 도래 → Spring Batch가 존재하는 이유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2920" y="3182112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40664" y="3419856"/>
            <a:ext cx="548640" cy="5486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icons/exchan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56616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35608" y="33832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1435608" y="36941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돈은 생기지도 사라지지도 않는다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58952" y="40782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 = 대변, 복식부기로 보존 · 대사로 검증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182112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C3A60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4901184" y="3419856"/>
            <a:ext cx="548640" cy="5486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icons/searc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566160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96128" y="33832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추적가능성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5596128" y="36941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누가·언제·왜 했는지 영구 기록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919472" y="40782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 원장(Append-Only) · 감사 로그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PROJECT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InsureFlow 아키텍처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낮의 온라인 코어와 밤의 배치 코어를, 이벤트와 원장으로 연결하는 보험 코어 시스템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591056"/>
            <a:ext cx="2624328" cy="713232"/>
          </a:xfrm>
          <a:prstGeom prst="roundRect">
            <a:avLst>
              <a:gd name="adj" fmla="val 10256"/>
            </a:avLst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2624328" cy="347472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22376" y="1737360"/>
            <a:ext cx="420624" cy="420624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icons/syste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4708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170078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코어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34440" y="199339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3 · Web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0664" y="2551176"/>
            <a:ext cx="91440" cy="914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05256" y="24871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상품·고객·계약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0664" y="2953512"/>
            <a:ext cx="91440" cy="914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05256" y="28895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가입/조회/청구 접수 API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0664" y="3355848"/>
            <a:ext cx="91440" cy="914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05256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멱등키 · 낙관적 락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59836" y="1591056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259836" y="1591056"/>
            <a:ext cx="2624328" cy="713232"/>
          </a:xfrm>
          <a:prstGeom prst="roundRect">
            <a:avLst>
              <a:gd name="adj" fmla="val 10256"/>
            </a:avLst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259836" y="1956816"/>
            <a:ext cx="2624328" cy="347472"/>
          </a:xfrm>
          <a:prstGeom prst="rect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479292" y="1737360"/>
            <a:ext cx="420624" cy="420624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1" descr="icons/reloa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847088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991356" y="170078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코어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3991356" y="199339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Batch 5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497580" y="2551176"/>
            <a:ext cx="91440" cy="91440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3662172" y="24871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수납 · 실효 · 부활 · 만기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497580" y="2953512"/>
            <a:ext cx="91440" cy="91440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3662172" y="28895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+ skip/retry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3497580" y="3355848"/>
            <a:ext cx="91440" cy="91440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3662172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지점 재시작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016752" y="1591056"/>
            <a:ext cx="26243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/>
          <p:nvPr/>
        </p:nvSpPr>
        <p:spPr>
          <a:xfrm>
            <a:off x="6016752" y="1591056"/>
            <a:ext cx="2624328" cy="713232"/>
          </a:xfrm>
          <a:prstGeom prst="roundRect">
            <a:avLst>
              <a:gd name="adj" fmla="val 10256"/>
            </a:avLst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/>
          <p:nvPr/>
        </p:nvSpPr>
        <p:spPr>
          <a:xfrm>
            <a:off x="6016752" y="1956816"/>
            <a:ext cx="2624328" cy="347472"/>
          </a:xfrm>
          <a:prstGeom prst="rect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/>
          <p:cNvSpPr/>
          <p:nvPr/>
        </p:nvSpPr>
        <p:spPr>
          <a:xfrm>
            <a:off x="6236208" y="1737360"/>
            <a:ext cx="420624" cy="420624"/>
          </a:xfrm>
          <a:prstGeom prst="ellipse">
            <a:avLst/>
          </a:prstGeom>
          <a:solidFill>
            <a:srgbClr val="0F25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2" descr="icons/ledg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847088"/>
            <a:ext cx="201168" cy="20116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748272" y="170078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· 이벤트</a:t>
            </a:r>
            <a:endParaRPr lang="en-US" sz="1550" dirty="0"/>
          </a:p>
        </p:txBody>
      </p:sp>
      <p:sp>
        <p:nvSpPr>
          <p:cNvPr id="38" name="Text 33"/>
          <p:cNvSpPr/>
          <p:nvPr/>
        </p:nvSpPr>
        <p:spPr>
          <a:xfrm>
            <a:off x="6748272" y="1993392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3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Ledger · Outbox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254496" y="2551176"/>
            <a:ext cx="91440" cy="91440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/>
          <p:nvPr/>
        </p:nvSpPr>
        <p:spPr>
          <a:xfrm>
            <a:off x="6419088" y="24871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복식부기 원장 + 대사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6254496" y="2953512"/>
            <a:ext cx="91440" cy="91440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/>
          <p:nvPr/>
        </p:nvSpPr>
        <p:spPr>
          <a:xfrm>
            <a:off x="6419088" y="28895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이벤트 → Kafka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6254496" y="3355848"/>
            <a:ext cx="91440" cy="91440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6419088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차변=대변 트리거 검증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502920" y="3950208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/>
          <p:nvPr/>
        </p:nvSpPr>
        <p:spPr>
          <a:xfrm>
            <a:off x="713232" y="395020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1463040" y="395020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7E2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 (Virtual Threads · Record · Sealed)  ·  Spring Boot 3 · Spring Batch 5  ·  PostgreSQL · JPA · Flyway  ·  Docker · Testcontainers  ·  Actuator · Prometheus · Grafana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ENGINEERING HIGHLIGHTS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코드로 증명할 4가지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0664" y="1655064"/>
            <a:ext cx="548640" cy="548640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cons/ide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013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163677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2중 방어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8952" y="220370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수납·지급은 재시도해도 두 번 빠지지 않는다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8952" y="2514600"/>
            <a:ext cx="3465576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251460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268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idempotency_key UNIQUE + (claim_id, seq) 자연키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417320"/>
            <a:ext cx="397764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901184" y="1655064"/>
            <a:ext cx="548640" cy="548640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icons/ledg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80136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96128" y="163677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복식부기 + 대사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919472" y="220370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정합성을 코드가 아니라 DB가 보증한다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919472" y="2514600"/>
            <a:ext cx="3465576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029200" y="251460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268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차변≠대변이면 커밋 트리거가 트랜잭션 차단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2920" y="3063240"/>
            <a:ext cx="397764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740664" y="3300984"/>
            <a:ext cx="548640" cy="548640"/>
          </a:xfrm>
          <a:prstGeom prst="ellipse">
            <a:avLst/>
          </a:prstGeom>
          <a:solidFill>
            <a:srgbClr val="274C7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icons/sta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44728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35608" y="32826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 상태머신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758952" y="38496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PAID인 청구는 APPROVED로 못 돌아간다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58952" y="4160520"/>
            <a:ext cx="3465576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868680" y="416052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268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sealed interface + switch 전이 가드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63440" y="3063240"/>
            <a:ext cx="397764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4901184" y="3300984"/>
            <a:ext cx="548640" cy="548640"/>
          </a:xfrm>
          <a:prstGeom prst="ellipse">
            <a:avLst/>
          </a:prstGeom>
          <a:solidFill>
            <a:srgbClr val="12686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 descr="icons/reloa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447288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96128" y="328269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재시작·복구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4919472" y="38496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3천만 건째에서 죽어도 거기부터 다시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4919472" y="4160520"/>
            <a:ext cx="3465576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/>
          <p:nvPr/>
        </p:nvSpPr>
        <p:spPr>
          <a:xfrm>
            <a:off x="5029200" y="416052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268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청크 지향 + skip/retry + JobRepository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 · TESTCONTAINERS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주장하지 않는다, 테스트로 증명한다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PostgreSQL을 띄워, 재시작·중복요청 하에서 이중지급이 0임을 통합 테스트로 검증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81381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수납 배치 30건 — 중간 실패 후 재시작 시나리오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92040" y="1700784"/>
            <a:ext cx="137160" cy="137160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65776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커밋·처리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806440" y="1700784"/>
            <a:ext cx="137160" cy="137160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80176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출금 시도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20840" y="1700784"/>
            <a:ext cx="137160" cy="137160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94576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269480" y="1700784"/>
            <a:ext cx="137160" cy="137160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43216" y="16276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미처리·스킵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20848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실행 → </a:t>
            </a:r>
            <a:r>
              <a:rPr lang="en-US" sz="1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478024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670048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862072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054096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246120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438144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630168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822192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014216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206240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398264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590288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82312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974336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166360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358384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550408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742432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934456" y="2103120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126480" y="2103120"/>
            <a:ext cx="171907" cy="171907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318504" y="2103120"/>
            <a:ext cx="171907" cy="171907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510528" y="2103120"/>
            <a:ext cx="171907" cy="171907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702552" y="2103120"/>
            <a:ext cx="171907" cy="171907"/>
          </a:xfrm>
          <a:prstGeom prst="rect">
            <a:avLst/>
          </a:prstGeom>
          <a:solidFill>
            <a:srgbClr val="E0A1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894576" y="2103120"/>
            <a:ext cx="171907" cy="171907"/>
          </a:xfrm>
          <a:prstGeom prst="rect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7086600" y="2103120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7278624" y="2103120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470648" y="2103120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662672" y="2103120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854696" y="2103120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894576" y="2103120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" y="24140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→ </a:t>
            </a:r>
            <a:r>
              <a:rPr lang="en-US" sz="1000" b="1" dirty="0">
                <a:solidFill>
                  <a:srgbClr val="126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0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2478024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670048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2862072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3054096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246120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3438144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630168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822192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014216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4206240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4398264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4590288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4782312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974336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5166360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5358384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5550408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5742432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5934456" y="2432304"/>
            <a:ext cx="171907" cy="171907"/>
          </a:xfrm>
          <a:prstGeom prst="rect">
            <a:avLst/>
          </a:prstGeom>
          <a:solidFill>
            <a:srgbClr val="D7DEE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6126480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318504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6510528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6702552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6894576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086600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7278624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7470648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7662672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7854696" y="2432304"/>
            <a:ext cx="171907" cy="171907"/>
          </a:xfrm>
          <a:prstGeom prst="rect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731520" y="2834640"/>
            <a:ext cx="7680960" cy="365760"/>
          </a:xfrm>
          <a:prstGeom prst="roundRect">
            <a:avLst>
              <a:gd name="adj" fmla="val 50000"/>
            </a:avLst>
          </a:prstGeom>
          <a:solidFill>
            <a:srgbClr val="EAF5E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0" name="Image 0" descr="icons/check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98648"/>
            <a:ext cx="237744" cy="237744"/>
          </a:xfrm>
          <a:prstGeom prst="rect">
            <a:avLst/>
          </a:prstGeom>
        </p:spPr>
      </p:pic>
      <p:sp>
        <p:nvSpPr>
          <p:cNvPr id="81" name="Text 78"/>
          <p:cNvSpPr/>
          <p:nvPr/>
        </p:nvSpPr>
        <p:spPr>
          <a:xfrm>
            <a:off x="1216152" y="2834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→ 최종 30건 처리 · </a:t>
            </a:r>
            <a:r>
              <a:rPr lang="en-US" sz="115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결제 0건</a:t>
            </a: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차변합 = 대변합 유지</a:t>
            </a:r>
            <a:endParaRPr lang="en-US" sz="1150" dirty="0"/>
          </a:p>
        </p:txBody>
      </p:sp>
      <p:sp>
        <p:nvSpPr>
          <p:cNvPr id="82" name="Shape 79"/>
          <p:cNvSpPr/>
          <p:nvPr/>
        </p:nvSpPr>
        <p:spPr>
          <a:xfrm>
            <a:off x="502920" y="3456432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/>
          <p:nvPr/>
        </p:nvSpPr>
        <p:spPr>
          <a:xfrm>
            <a:off x="722376" y="35844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테스트가 보증  </a:t>
            </a:r>
            <a:r>
              <a:rPr lang="en-US" sz="1200" b="1" dirty="0">
                <a:solidFill>
                  <a:srgbClr val="2E9E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4 passing</a:t>
            </a:r>
            <a:endParaRPr lang="en-US" sz="1200" dirty="0"/>
          </a:p>
        </p:txBody>
      </p:sp>
      <p:pic>
        <p:nvPicPr>
          <p:cNvPr id="84" name="Image 1" descr="icons/check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922776"/>
            <a:ext cx="164592" cy="164592"/>
          </a:xfrm>
          <a:prstGeom prst="rect">
            <a:avLst/>
          </a:prstGeom>
        </p:spPr>
      </p:pic>
      <p:sp>
        <p:nvSpPr>
          <p:cNvPr id="85" name="Text 81"/>
          <p:cNvSpPr/>
          <p:nvPr/>
        </p:nvSpPr>
        <p:spPr>
          <a:xfrm>
            <a:off x="978408" y="38953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 </a:t>
            </a: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배치 2회 → 건수·합계 불변</a:t>
            </a:r>
            <a:endParaRPr lang="en-US" sz="1050" dirty="0"/>
          </a:p>
        </p:txBody>
      </p:sp>
      <p:pic>
        <p:nvPicPr>
          <p:cNvPr id="86" name="Image 2" descr="icons/check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142232"/>
            <a:ext cx="164592" cy="164592"/>
          </a:xfrm>
          <a:prstGeom prst="rect">
            <a:avLst/>
          </a:prstGeom>
        </p:spPr>
      </p:pic>
      <p:sp>
        <p:nvSpPr>
          <p:cNvPr id="87" name="Text 82"/>
          <p:cNvSpPr/>
          <p:nvPr/>
        </p:nvSpPr>
        <p:spPr>
          <a:xfrm>
            <a:off x="978408" y="41148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이중지급 0  </a:t>
            </a: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재시작해도 중복 결제 0</a:t>
            </a:r>
            <a:endParaRPr lang="en-US" sz="1050" dirty="0"/>
          </a:p>
        </p:txBody>
      </p:sp>
      <p:pic>
        <p:nvPicPr>
          <p:cNvPr id="88" name="Image 3" descr="icons/check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361688"/>
            <a:ext cx="164592" cy="164592"/>
          </a:xfrm>
          <a:prstGeom prst="rect">
            <a:avLst/>
          </a:prstGeom>
        </p:spPr>
      </p:pic>
      <p:sp>
        <p:nvSpPr>
          <p:cNvPr id="89" name="Text 83"/>
          <p:cNvSpPr/>
          <p:nvPr/>
        </p:nvSpPr>
        <p:spPr>
          <a:xfrm>
            <a:off x="978408" y="43342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원장 불변식  </a:t>
            </a: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전표 차변합 = 대변합</a:t>
            </a:r>
            <a:endParaRPr lang="en-US" sz="1050" dirty="0"/>
          </a:p>
        </p:txBody>
      </p:sp>
      <p:pic>
        <p:nvPicPr>
          <p:cNvPr id="90" name="Image 4" descr="icons/check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581144"/>
            <a:ext cx="164592" cy="164592"/>
          </a:xfrm>
          <a:prstGeom prst="rect">
            <a:avLst/>
          </a:prstGeom>
        </p:spPr>
      </p:pic>
      <p:sp>
        <p:nvSpPr>
          <p:cNvPr id="91" name="Text 84"/>
          <p:cNvSpPr/>
          <p:nvPr/>
        </p:nvSpPr>
        <p:spPr>
          <a:xfrm>
            <a:off x="978408" y="45537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강제  </a:t>
            </a: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불균형 전표는 커밋 거부</a:t>
            </a:r>
            <a:endParaRPr lang="en-US" sz="1050" dirty="0"/>
          </a:p>
        </p:txBody>
      </p:sp>
      <p:sp>
        <p:nvSpPr>
          <p:cNvPr id="92" name="Shape 85"/>
          <p:cNvSpPr/>
          <p:nvPr/>
        </p:nvSpPr>
        <p:spPr>
          <a:xfrm>
            <a:off x="5669280" y="3456432"/>
            <a:ext cx="2971800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3" name="Text 86"/>
          <p:cNvSpPr/>
          <p:nvPr/>
        </p:nvSpPr>
        <p:spPr>
          <a:xfrm>
            <a:off x="589788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박제 — 매 PR 자동 실행</a:t>
            </a:r>
            <a:endParaRPr lang="en-US" sz="1050" dirty="0"/>
          </a:p>
        </p:txBody>
      </p:sp>
      <p:sp>
        <p:nvSpPr>
          <p:cNvPr id="94" name="Shape 87"/>
          <p:cNvSpPr/>
          <p:nvPr/>
        </p:nvSpPr>
        <p:spPr>
          <a:xfrm>
            <a:off x="5897880" y="3968496"/>
            <a:ext cx="1627632" cy="384048"/>
          </a:xfrm>
          <a:prstGeom prst="roundRect">
            <a:avLst>
              <a:gd name="adj" fmla="val 14286"/>
            </a:avLst>
          </a:prstGeom>
          <a:solidFill>
            <a:srgbClr val="303A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88"/>
          <p:cNvSpPr/>
          <p:nvPr/>
        </p:nvSpPr>
        <p:spPr>
          <a:xfrm>
            <a:off x="5897880" y="396849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회귀 방지</a:t>
            </a:r>
            <a:endParaRPr lang="en-US" sz="1000" dirty="0"/>
          </a:p>
        </p:txBody>
      </p:sp>
      <p:sp>
        <p:nvSpPr>
          <p:cNvPr id="96" name="Shape 89"/>
          <p:cNvSpPr/>
          <p:nvPr/>
        </p:nvSpPr>
        <p:spPr>
          <a:xfrm>
            <a:off x="7488936" y="3968496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7" name="Image 5" descr="icons/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4069080"/>
            <a:ext cx="182880" cy="182880"/>
          </a:xfrm>
          <a:prstGeom prst="rect">
            <a:avLst/>
          </a:prstGeom>
        </p:spPr>
      </p:pic>
      <p:sp>
        <p:nvSpPr>
          <p:cNvPr id="98" name="Text 90"/>
          <p:cNvSpPr/>
          <p:nvPr/>
        </p:nvSpPr>
        <p:spPr>
          <a:xfrm>
            <a:off x="7717536" y="3968496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passing</a:t>
            </a:r>
            <a:endParaRPr lang="en-US" sz="1000" dirty="0"/>
          </a:p>
        </p:txBody>
      </p:sp>
      <p:sp>
        <p:nvSpPr>
          <p:cNvPr id="99" name="Text 91"/>
          <p:cNvSpPr/>
          <p:nvPr/>
        </p:nvSpPr>
        <p:spPr>
          <a:xfrm>
            <a:off x="5897880" y="4443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EC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테스트가 깨진 PR은 머지가 차단됩니다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OUR TAKE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팀의 생각 &amp; 면접 연결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0" y="310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58952" y="1645920"/>
            <a:ext cx="457200" cy="457200"/>
          </a:xfrm>
          <a:prstGeom prst="ellipse">
            <a:avLst/>
          </a:prstGeom>
          <a:solidFill>
            <a:srgbClr val="B984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cons/cha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7393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5024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조사하며 든 생각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109728" cy="10972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87552" y="221284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용어를 외우는 게 아니라, 각 </a:t>
            </a:r>
            <a:r>
              <a:rPr lang="en-US" sz="12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용어를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“데이터·상태·배치”로 번역할 때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도메인이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비로소 보였다.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035808"/>
            <a:ext cx="109728" cy="10972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87552" y="296265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 vs 실손처럼, 비즈니스 한 줄 </a:t>
            </a:r>
            <a:r>
              <a:rPr lang="en-US" sz="12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분기를 만든다는 게 흥미로웠다.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3785616"/>
            <a:ext cx="109728" cy="10972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87552" y="371246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보험은 본질적으로 “시간이 </a:t>
            </a:r>
            <a:r>
              <a:rPr lang="en-US" sz="12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트리거”인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도메인이라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배치가 왜 핵심인지 납득됐다.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13294B"/>
          </a:solidFill>
          <a:ln/>
          <a:effectLst>
            <a:outerShdw blurRad="101600" dist="38100" dir="5400000" algn="bl" rotWithShape="0">
              <a:srgbClr val="12233B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937760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면접에서 한 문장으로 답한다면?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E0A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400" dirty="0"/>
          </a:p>
        </p:txBody>
      </p:sp>
      <p:sp>
        <p:nvSpPr>
          <p:cNvPr id="18" name="Text 15"/>
          <p:cNvSpPr/>
          <p:nvPr/>
        </p:nvSpPr>
        <p:spPr>
          <a:xfrm>
            <a:off x="4937760" y="2395728"/>
            <a:ext cx="3456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보험은 위험을 다수가 나눠 </a:t>
            </a:r>
            <a:r>
              <a:rPr lang="en-US" sz="16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갖는</a:t>
            </a: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6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제도이고</a:t>
            </a: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650" b="1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IT는 그 </a:t>
            </a:r>
            <a:r>
              <a:rPr lang="en-US" sz="1650" b="1" dirty="0" err="1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약속을</a:t>
            </a:r>
            <a:r>
              <a:rPr lang="en-US" sz="1650" b="1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650" b="1" dirty="0" err="1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정확성·시점성·정합성·추적성</a:t>
            </a: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위에서 자동화하는 일입니다.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650" b="1" dirty="0" err="1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저희는</a:t>
            </a:r>
            <a:r>
              <a:rPr lang="en-US" sz="1650" b="1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그걸 InsureFlow로 </a:t>
            </a:r>
            <a:r>
              <a:rPr lang="en-US" sz="1650" b="1" dirty="0" err="1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r>
              <a:rPr lang="en-US" sz="1650" b="1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650" b="1" dirty="0" err="1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구현하고</a:t>
            </a:r>
            <a:r>
              <a:rPr lang="ko-KR" altLang="en-US" sz="1650" b="1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 합니다</a:t>
            </a:r>
            <a:r>
              <a:rPr lang="en-US" altLang="ko-KR" sz="1650" b="1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651760"/>
            <a:ext cx="3840480" cy="3840480"/>
          </a:xfrm>
          <a:prstGeom prst="ellipse">
            <a:avLst/>
          </a:prstGeom>
          <a:solidFill>
            <a:srgbClr val="274C77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8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 &amp;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955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&amp; 다음 주 예고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참고한 공식 출처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2020824"/>
            <a:ext cx="109728" cy="10972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7824" y="19568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국가법령정보센터 (law.go.kr) — 보험업법 · 상법 · 표준약관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478024"/>
            <a:ext cx="109728" cy="10972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77824" y="24140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생활법령정보 (easylaw.go.kr) — 보험 용어 · 계약자 권리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2935224"/>
            <a:ext cx="109728" cy="10972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77824" y="2871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보험연구원 KIRI · 보험개발원 KIDI — 보험료 산출 체계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392424"/>
            <a:ext cx="109728" cy="109728"/>
          </a:xfrm>
          <a:prstGeom prst="ellipse">
            <a:avLst/>
          </a:prstGeom>
          <a:solidFill>
            <a:srgbClr val="1B8A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77824" y="3328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금융감독원 보도자료 — 미납·실효·부활 소비자 유의사항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187452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1C3A60"/>
          </a:solidFill>
          <a:ln w="19050">
            <a:solidFill>
              <a:srgbClr val="E0A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0" y="2066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0A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· 2주차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23225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07/10 (금)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0" y="2706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보험료 구조·산출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언더라이팅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0" y="34564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C2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3이원 방식(예정이율·위험률·사업비)과 보험료 방향, 역선택·도덕적 해이 방지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3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InsureFlow · 6팀 보험 시스템 · 1주차 킥오프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2221</Words>
  <Application>Microsoft Office PowerPoint</Application>
  <PresentationFormat>화면 슬라이드 쇼(16:9)</PresentationFormat>
  <Paragraphs>414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Malgun Gothic</vt:lpstr>
      <vt:lpstr>Arial</vt:lpstr>
      <vt:lpstr>Cambria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InsureFlow - 1주차 킥오프</dc:title>
  <dc:subject>PptxGenJS Presentation</dc:subject>
  <dc:creator>6팀 보험 시스템</dc:creator>
  <cp:lastModifiedBy>아카데미006 퍼스트존</cp:lastModifiedBy>
  <cp:revision>21</cp:revision>
  <dcterms:created xsi:type="dcterms:W3CDTF">2026-06-26T06:39:19Z</dcterms:created>
  <dcterms:modified xsi:type="dcterms:W3CDTF">2026-06-26T06:51:09Z</dcterms:modified>
</cp:coreProperties>
</file>