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80" d="100"/>
          <a:sy n="18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presProps" Target="presProps.xml"  /><Relationship Id="rId16" Type="http://schemas.openxmlformats.org/officeDocument/2006/relationships/viewProps" Target="viewProps.xml"  /><Relationship Id="rId17" Type="http://schemas.openxmlformats.org/officeDocument/2006/relationships/theme" Target="theme/theme1.xml"  /><Relationship Id="rId18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Canva 링크 직접 수정은 불가하므로 PowerPoint 파일로 제작. 발표 목적: 카드 결제의 전체 흐름과 IT 관점의 데이터 처리·예외 상황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Toss Payments 문서는 카드 결제를 인증→승인→매입 3단계로 설명한다. 결제 승인 API는 paymentKey에 해당하는 결제를 검증하고 승인한다.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S1: Toss Payments 카드 결제 총정리 — 카드 결제는 인증→승인→매입 3단계, 신용카드는 승인 시점 한도 차감, 체크카드는 바로 출금.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S2: 결제창 연동 흐름. S3: /v1/payments/confirm은 paymentKey에 해당하는 결제를 검증하고 승인하며, paymentKey/orderId/amount가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S3/S4: paymentKey/orderId/amount는 승인 API 요청 본문. orderId와 paymentKey는 결제 데이터 관리를 위해 저장해야 한다. 결제 승인 이후 매출전표 URL은 receipt.url에서 확인 가능하다.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테이블 구조는 발표용 예시. 공식 API 문서의 paymentKey/orderId/amount, Payment 객체, 취소 객체를 기반으로 설계. 참고 블로그는 결제 이벤트와 결제 주문, 원장/지갑 개념을 설명함.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승인 API 성공과 실패, 결제 조회, 취소/부분취소를 상태로 분리하는 것이 장애 대응에 중요하다.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Toss confirm API는 paymentKey/orderId/amount를 사용한다. KICC 개발자센터는 금액 불일치, DB 처리 실패, 네트워크 오류에 대한 취소/거래조회 처리를 안내한다.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예외 상황은 금액 검증, DB 저장 실패 보상, 타임아웃 조회, 멱등성, 취소/환불 분리, 카드정보 보안으로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신용카드 중심 발표라면 승인 이후 매입, 청구, 결제일 흐름까지 구분한다. 청구사이클 파일의 정리를 참고하여 신용카드와 체크카드 차이를 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Toss Payments Sandbox URL은 사용자가 제공. 샌드박스에서 테스트 키와 결제창을 이용해 흐름을 확인하는 발표 시나리오.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사용자가 제공한 YouTube 링크는 웹 fetch 제한으로 내용을 검증하지 못해 출처 본문에는 넣지 않고 참고 영상으로만 취급.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신용카드 온라인 결제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627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흐름과 IT 데이터 처리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23317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사용자 주문 생성 → 결제창 → 카드 인증 → 승인 API → PG/VAN/카드사 → 매입/정산 → 예외 처리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6492240" y="3840480"/>
            <a:ext cx="105156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321040" y="3840480"/>
            <a:ext cx="105156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149840" y="3840480"/>
            <a:ext cx="105156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486400" y="3520440"/>
            <a:ext cx="1005840" cy="64008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43800" y="3520440"/>
            <a:ext cx="777240" cy="640080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72600" y="3520440"/>
            <a:ext cx="777240" cy="640080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201400" y="3520440"/>
            <a:ext cx="594360" cy="640080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" y="3794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범위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" y="4096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일반 결제 흐름  ② 테이블/상태 설계  ③ 예외 상황 대응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Toss Payments 개발자센터 · 참고 파일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972800" y="6510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발표의 초점: “결제 완료”는 한 번에 끝나지 않는다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보는 결제 완료 화면과 서버/PG/카드사 데이터 처리는 분리된다.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lnSpc>
                <a:spcPct val="105000"/>
              </a:lnSpc>
              <a:buNone/>
              <a:defRPr/>
            </a:pPr>
            <a:r>
              <a:rPr lang="en-US" sz="1000" b="1" baseline="-24000">
                <a:solidFill>
                  <a:srgbClr val="2563eb"/>
                </a:solidFill>
                <a:effectLst/>
                <a:latin typeface="맑은 고딕"/>
                <a:ea typeface="맑은 고딕"/>
                <a:cs typeface="맑은 고딕"/>
              </a:rPr>
              <a:t>사용자 관점</a:t>
            </a:r>
            <a:endParaRPr lang="en-US" sz="1000" b="1" baseline="-24000">
              <a:effectLst/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5196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서버/PG 관점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카드사/정산 관점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017520" cy="292608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결제창에서 인증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" y="2167128"/>
            <a:ext cx="2944368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앱·SMS·비밀번호 등으로 카드 소유자 확인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4251960" y="1783080"/>
            <a:ext cx="3017520" cy="292608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API 호출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88536" y="2167128"/>
            <a:ext cx="2944368" cy="1417320"/>
          </a:xfrm>
          <a:prstGeom prst="rect">
            <a:avLst/>
          </a:prstGeom>
          <a:noFill/>
          <a:ln/>
        </p:spPr>
        <p:txBody>
          <a:bodyPr wrap="square" lIns="381" tIns="381" rIns="381" bIns="381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1030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paymentKey, orderId, amount를 서버에서 검증 후 승인</a:t>
            </a:r>
            <a:endParaRPr lang="en-US" sz="1030"/>
          </a:p>
        </p:txBody>
      </p:sp>
      <p:sp>
        <p:nvSpPr>
          <p:cNvPr id="13" name="Text 11"/>
          <p:cNvSpPr/>
          <p:nvPr/>
        </p:nvSpPr>
        <p:spPr>
          <a:xfrm>
            <a:off x="7863840" y="1783080"/>
            <a:ext cx="3017520" cy="29260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후 매입/정산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00416" y="2167128"/>
            <a:ext cx="2944368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거래는 매입을 거쳐 가맹점 대금 지급으로 연결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3611880" y="2697480"/>
            <a:ext cx="5486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23760" y="2697480"/>
            <a:ext cx="5486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40080" y="4343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구성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1818742" cy="347472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58822" y="4709160"/>
            <a:ext cx="4493362" cy="347472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52183" y="4709160"/>
            <a:ext cx="4386377" cy="347472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관점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5056632"/>
            <a:ext cx="1818742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58822" y="5056632"/>
            <a:ext cx="4493362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누구에게 무엇을 요청하는가?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52183" y="5056632"/>
            <a:ext cx="4386377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호출 순서, 상태 전이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5404104"/>
            <a:ext cx="1818742" cy="347472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58822" y="5404104"/>
            <a:ext cx="4493362" cy="347472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값이 DB에 남아야 하는가?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52183" y="5404104"/>
            <a:ext cx="4386377" cy="347472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orders, payments, payment_events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5751576"/>
            <a:ext cx="1818742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58822" y="5751576"/>
            <a:ext cx="4493362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성공/실패가 애매하면 어떻게 복구하는가?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52183" y="5751576"/>
            <a:ext cx="4386377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조회, 취소, 멱등성, 웹훅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S1, S2, S3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972800" y="6510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결제 기본 구조: 인증 → 승인 → 매입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신용카드는 승인 시점에 한도가 차감되고, 매입 이후 가맹점 정산 흐름으로 이어진다.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0" y="2359152"/>
            <a:ext cx="47548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349240" y="2359152"/>
            <a:ext cx="47548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955280" y="2359152"/>
            <a:ext cx="47548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2011680" cy="86868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인증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소유자 확인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920240"/>
            <a:ext cx="2011680" cy="868680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승인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PG→VAN→카드사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7880" y="1920240"/>
            <a:ext cx="2011680" cy="868680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매입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거래 대금 요청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0" y="1920240"/>
            <a:ext cx="2011680" cy="868680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정산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대금 지급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결제창 또는 앱카드에서 본인 인증이 진행된다.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329184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승인 API를 호출해야 최종 결제 처리로 넘어간다.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589788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결제 건을 카드사에 알려 대금 지급 대상으로 만든다.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850392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정산은 사용자 화면 뒤에서 처리되는 가맹점 대금 흐름이다.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822960" y="4251960"/>
            <a:ext cx="10241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4622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40280" y="4416552"/>
            <a:ext cx="7909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인증은 “카드 주인 확인”, 승인은 “카드사가 결제를 허락”, 매입은 “승인 건에 대한 대금을 요청”하는 단계다.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0280" y="4809744"/>
            <a:ext cx="7909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문서상 카드 결제는 인증 → 승인 → 매입 3단계로 설명된다.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S1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972800" y="6510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결제 연동 흐름: 브라우저 결과만 믿으면 안 된다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프론트에서 결제창 인증 후, 백엔드가 confirm API를 호출해야 최종 승인으로 본다.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1234440" cy="438912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4600" y="1234440"/>
            <a:ext cx="1234440" cy="438912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34840" y="1234440"/>
            <a:ext cx="1234440" cy="438912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서버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29400" y="1234440"/>
            <a:ext cx="1234440" cy="438912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23960" y="1234440"/>
            <a:ext cx="1234440" cy="438912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VAN/카드사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11580" y="1737360"/>
            <a:ext cx="0" cy="38862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1820" y="1737360"/>
            <a:ext cx="0" cy="38862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2060" y="1737360"/>
            <a:ext cx="0" cy="38862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6620" y="1737360"/>
            <a:ext cx="0" cy="38862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41180" y="1737360"/>
            <a:ext cx="0" cy="38862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11580" y="1874520"/>
            <a:ext cx="192024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303020" y="1709928"/>
            <a:ext cx="1737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주문/결제 버튼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3131820" y="2286000"/>
            <a:ext cx="41148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223260" y="2121408"/>
            <a:ext cx="3931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결제창 호출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7246620" y="2697480"/>
            <a:ext cx="-603504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303020" y="2532888"/>
            <a:ext cx="58521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인증 결과 redirect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5052060" y="3108960"/>
            <a:ext cx="21945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143500" y="2944368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POST /payments/confirm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7246620" y="3520440"/>
            <a:ext cx="21945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338060" y="3355848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승인 요청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9441180" y="3931920"/>
            <a:ext cx="-21945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338060" y="3767328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승인 결과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7246620" y="4343400"/>
            <a:ext cx="-21945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143500" y="4178808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Payment 객체 반환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5280660" y="4590288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DB 저장·주문 완료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828800" y="5806440"/>
            <a:ext cx="3200400" cy="292608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완료 ≠ 결제 승인 완료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5815584"/>
            <a:ext cx="5303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결제 완료 처리는 서버의 승인 API 성공 응답과 DB 저장 성공을 기준으로 잡는다.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S2, S3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972800" y="6510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신용카드 결제에서 서버가 저장해야 하는 값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 응답과 내부 주문을 연결해야 조회·취소·장애 복구가 가능하다.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2926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승인 API 요청 핵심 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1828800" cy="77724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paymentKey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 결제 고유키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691640"/>
            <a:ext cx="1828800" cy="777240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상점 주문 식별값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91640"/>
            <a:ext cx="1508760" cy="777240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amount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금액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2075688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09160" y="2075688"/>
            <a:ext cx="45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8580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저장 후보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429000"/>
            <a:ext cx="1638605" cy="301752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324405" y="3429000"/>
            <a:ext cx="3482035" cy="301752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이유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5800" y="3730752"/>
            <a:ext cx="163860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payment_key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24405" y="3730752"/>
            <a:ext cx="348203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조회·취소 API의 기준 키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4032504"/>
            <a:ext cx="1638605" cy="301752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order_id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24405" y="4032504"/>
            <a:ext cx="3482035" cy="301752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주문과 결제 연결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5800" y="4334256"/>
            <a:ext cx="163860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approval_no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24405" y="4334256"/>
            <a:ext cx="348203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승인 식별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5800" y="4636008"/>
            <a:ext cx="1638605" cy="301752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amount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324405" y="4636008"/>
            <a:ext cx="3482035" cy="301752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주문금액과 승인금액 검증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85800" y="4937760"/>
            <a:ext cx="163860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24405" y="4937760"/>
            <a:ext cx="348203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READY/APPROVED/CANCELED 등 상태 관리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5800" y="5239512"/>
            <a:ext cx="1638605" cy="301752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receipt_url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24405" y="5239512"/>
            <a:ext cx="3482035" cy="301752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매출전표 안내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12280" y="1325880"/>
            <a:ext cx="4480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59168" y="1627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발표에서 강조할 문장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59168" y="2057400"/>
            <a:ext cx="37947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시스템에서 중요한 것은 “결제 성공 화면”이 아니라, 주문·결제·취소 데이터를 같은 기준키로 일관되게 묶는 것이다.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59168" y="3657600"/>
            <a:ext cx="37033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API 문서에서 orderId는 결제 데이터 관리를 위해 반드시 저장해야 한다고 안내한다.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7059168" y="4389120"/>
            <a:ext cx="37033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 객체에는 결제수단, 카드 정보, 영수증 URL 등 후속 처리에 필요한 값이 포함된다.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50292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S3, S4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972800" y="6510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 예시: 주문과 결제를 분리한다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주문은 쇼핑몰 업무 상태, 결제는 PG/카드 승인 상태다.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697480" y="2240280"/>
            <a:ext cx="12801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715000" y="2240280"/>
            <a:ext cx="96012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715000" y="3977640"/>
            <a:ext cx="96012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412480" y="2743200"/>
            <a:ext cx="0" cy="86868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5800" y="1600200"/>
            <a:ext cx="2011680" cy="320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20116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PK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order_no UNIQUE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member_id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order_amount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order_status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77640" y="1417320"/>
            <a:ext cx="1737360" cy="320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77640" y="1737360"/>
            <a:ext cx="173736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PK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order_id FK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payment_key UNIQUE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method=CARD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amount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payment_status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approved_at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0" y="1417320"/>
            <a:ext cx="1828800" cy="3200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card_approvals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75120" y="1737360"/>
            <a:ext cx="182880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PK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payment_id FK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issuer_code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acquirer_code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approve_no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card_type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installment_plan_months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675120" y="3611880"/>
            <a:ext cx="1828800" cy="3200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payment_cancellations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75120" y="3931920"/>
            <a:ext cx="182880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PK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payment_id FK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transaction_key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cancel_amount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cancel_reason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cancel_status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canceled_at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372600" y="2560320"/>
            <a:ext cx="1828800" cy="32004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payment_events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72600" y="2880360"/>
            <a:ext cx="182880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PK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payment_id FK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event_type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payload_json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received_at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processed_at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5800" y="57150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4520" y="5696712"/>
            <a:ext cx="8412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orders는 상품·배송 흐름, payments는 외부 결제 흐름, events는 비동기 상태 변경 기록으로 분리한다.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S3, S4, 참고 블로그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972800" y="6510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전이: 결제는 “성공/실패” 두 값으로 부족하다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완료, 승인 요청, 승인 완료, 취소 요청, 부분 취소를 구분한다.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20240" y="2112264"/>
            <a:ext cx="2286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74720" y="2112264"/>
            <a:ext cx="32004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20640" y="2112264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03720" y="2112264"/>
            <a:ext cx="54864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778240" y="2112264"/>
            <a:ext cx="50292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85800" y="1828800"/>
            <a:ext cx="1234440" cy="566928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1828800"/>
            <a:ext cx="1234440" cy="566928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86200" y="1828800"/>
            <a:ext cx="1234440" cy="566928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1828800"/>
            <a:ext cx="1234440" cy="56692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43800" y="1828800"/>
            <a:ext cx="1234440" cy="566928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72600" y="1828800"/>
            <a:ext cx="1234440" cy="566928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743200"/>
            <a:ext cx="0" cy="11887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886200" y="4023360"/>
            <a:ext cx="1234440" cy="566928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2743200"/>
            <a:ext cx="0" cy="11887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669280" y="4023360"/>
            <a:ext cx="1234440" cy="566928"/>
          </a:xfrm>
          <a:prstGeom prst="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UNKNOWN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필요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8040" y="3977640"/>
            <a:ext cx="4114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UNKNOWN은 승인 API 응답을 못 받은 상태다. 실제 결제 성공 여부를 결제 조회 API로 확인해야 한다.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85800" y="4846320"/>
            <a:ext cx="1909267" cy="301752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95067" y="4846320"/>
            <a:ext cx="4030675" cy="301752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25742" y="4846320"/>
            <a:ext cx="4667098" cy="301752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기준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5800" y="5148072"/>
            <a:ext cx="1909267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AUTH_DONE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95067" y="5148072"/>
            <a:ext cx="403067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결제창 인증 완료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625742" y="5148072"/>
            <a:ext cx="4667098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주문 완료 아님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" y="5449824"/>
            <a:ext cx="1909267" cy="301752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95067" y="5449824"/>
            <a:ext cx="4030675" cy="301752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 승인 성공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25742" y="5449824"/>
            <a:ext cx="4667098" cy="301752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저장 후 주문 PAID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5800" y="5751576"/>
            <a:ext cx="1909267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95067" y="5751576"/>
            <a:ext cx="4030675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실패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625742" y="5751576"/>
            <a:ext cx="4667098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실패/재시도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5800" y="6053328"/>
            <a:ext cx="1909267" cy="301752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UNKNOWN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95067" y="6053328"/>
            <a:ext cx="4030675" cy="301752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없음/타임아웃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625742" y="6053328"/>
            <a:ext cx="4667098" cy="301752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조회 후 보정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S3, S7, S9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972800" y="6510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요청 시 데이터 처리 순서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서버의 핵심은 금액 검증, 승인 호출, DB 저장, 실패 보상 처리다.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365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343400" y="2286000"/>
            <a:ext cx="365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0" y="2286000"/>
            <a:ext cx="365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458200" y="2286000"/>
            <a:ext cx="365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5800" y="1645920"/>
            <a:ext cx="1600200" cy="5029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주문 조회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6002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orderId로 주문 조회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상태=PAYMENT_REQUESTED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2743200" y="1645920"/>
            <a:ext cx="1600200" cy="5029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금액 검증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331720"/>
            <a:ext cx="16002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주문금액과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amount 비교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4800600" y="1645920"/>
            <a:ext cx="1600200" cy="502920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승인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331720"/>
            <a:ext cx="16002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/v1/payments/confirm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paymentKey/orderId/amount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6858000" y="1645920"/>
            <a:ext cx="1600200" cy="5029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DB 저장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2331720"/>
            <a:ext cx="16002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payments, card_approvals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APPROVED 저장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8915400" y="1645920"/>
            <a:ext cx="1600200" cy="5029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결과 안내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15400" y="2331720"/>
            <a:ext cx="16002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화면·매출전표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receipt.url 안내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914400" y="3977640"/>
            <a:ext cx="4663440" cy="10972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2062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트랜잭션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4160520"/>
            <a:ext cx="2331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승인은 성공했지만 DB 저장이 실패하면 결제 취소 API를 호출하거나 거래 상태 조회 후 보정한다.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3977640"/>
            <a:ext cx="466344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206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불명확한 결과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66760" y="4160520"/>
            <a:ext cx="2240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타임아웃/네트워크 오류는 실패 단정 금지. 결제 조회로 실제 승인 여부를 확인한다.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S3, KICC, S8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972800" y="6510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상황 목록: 발표에서 반드시 언급할 체크리스트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시스템은 정상 흐름보다 예외 흐름 설계가 더 중요하다.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2424074" cy="548640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3018434" y="1325880"/>
            <a:ext cx="4187038" cy="548640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원인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205472" y="1325880"/>
            <a:ext cx="4407408" cy="548640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424074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불일치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3018434" y="1874520"/>
            <a:ext cx="4187038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 금액 조작·쿠폰 반영 오류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205472" y="1874520"/>
            <a:ext cx="4407408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주문금액과 승인금액 비교 후 불일치 시 취소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2424074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후 DB 실패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018434" y="2423160"/>
            <a:ext cx="4187038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승인은 성공했지만 주문 저장 실패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7205472" y="2423160"/>
            <a:ext cx="4407408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취소 API 호출 또는 거래조회 후 보정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594360" y="2971800"/>
            <a:ext cx="2424074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타임아웃/응답 없음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018434" y="2971800"/>
            <a:ext cx="4187038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승인은 됐지만 응답만 못 받은 상태 가능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7205472" y="2971800"/>
            <a:ext cx="4407408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조회 API로 상태 확인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94360" y="3520440"/>
            <a:ext cx="2424074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요청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3018434" y="3520440"/>
            <a:ext cx="4187038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더블클릭·재시도·웹훅 중복 수신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205472" y="3520440"/>
            <a:ext cx="4407408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orderId/paymentKey/idempotencyKey UNIQUE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594360" y="4069080"/>
            <a:ext cx="2424074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취소/부분취소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018434" y="4069080"/>
            <a:ext cx="4187038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매입 전/후에 따라 환불 시점 차이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7205472" y="4069080"/>
            <a:ext cx="4407408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상태와 환불 완료 상태 분리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594360" y="4617720"/>
            <a:ext cx="2424074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018434" y="4617720"/>
            <a:ext cx="4187038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카드번호·CVC 직접 저장 위험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7205472" y="4617720"/>
            <a:ext cx="4407408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 결제창 사용, 민감정보 저장 최소화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40080" y="5897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74520" y="5879592"/>
            <a:ext cx="7772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“다시 시도”가 가능한 API여야 하지만, 실제 과금은 한 번만 일어나야 한다.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S3, S5, S6, S7, S8, PCI DSS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972800" y="6510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신용카드 특화 흐름: 승인 이후에도 청구까지 남아 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체크카드는 즉시 출금, 신용카드는 한도 차감 후 이용대금 청구로 이어진다.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6858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20440" y="2103120"/>
            <a:ext cx="6858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03520" y="2103120"/>
            <a:ext cx="6858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086600" y="2103120"/>
            <a:ext cx="6858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869680" y="2103120"/>
            <a:ext cx="6858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31520" y="1828800"/>
            <a:ext cx="1005840" cy="54864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828800"/>
            <a:ext cx="1005840" cy="54864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차감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0" y="1828800"/>
            <a:ext cx="1005840" cy="54864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1828800"/>
            <a:ext cx="1005840" cy="548640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청구서 반영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0" y="1828800"/>
            <a:ext cx="1005840" cy="548640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46920" y="1828800"/>
            <a:ext cx="1005840" cy="548640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반영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88036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승인 문자를 보고 결제가 끝났다고 느끼지만, 카드사 업무상 매입·청구·취소 반영 단계가 이어진다.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886200"/>
            <a:ext cx="2066544" cy="384048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910" dirty="0"/>
          </a:p>
        </p:txBody>
      </p:sp>
      <p:sp>
        <p:nvSpPr>
          <p:cNvPr id="19" name="Text 17"/>
          <p:cNvSpPr/>
          <p:nvPr/>
        </p:nvSpPr>
        <p:spPr>
          <a:xfrm>
            <a:off x="2980944" y="3886200"/>
            <a:ext cx="4133088" cy="384048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신용카드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7114032" y="3886200"/>
            <a:ext cx="4133088" cy="384048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체크카드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914400" y="4270248"/>
            <a:ext cx="2066544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시점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2980944" y="4270248"/>
            <a:ext cx="413308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차감</a:t>
            </a:r>
            <a:endParaRPr lang="en-US" sz="910" dirty="0"/>
          </a:p>
        </p:txBody>
      </p:sp>
      <p:sp>
        <p:nvSpPr>
          <p:cNvPr id="23" name="Text 21"/>
          <p:cNvSpPr/>
          <p:nvPr/>
        </p:nvSpPr>
        <p:spPr>
          <a:xfrm>
            <a:off x="7114032" y="4270248"/>
            <a:ext cx="413308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계좌에서 즉시 출금</a:t>
            </a:r>
            <a:endParaRPr lang="en-US" sz="910" dirty="0"/>
          </a:p>
        </p:txBody>
      </p:sp>
      <p:sp>
        <p:nvSpPr>
          <p:cNvPr id="24" name="Text 22"/>
          <p:cNvSpPr/>
          <p:nvPr/>
        </p:nvSpPr>
        <p:spPr>
          <a:xfrm>
            <a:off x="914400" y="4654296"/>
            <a:ext cx="2066544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돈 흐름</a:t>
            </a:r>
            <a:endParaRPr lang="en-US" sz="910" dirty="0"/>
          </a:p>
        </p:txBody>
      </p:sp>
      <p:sp>
        <p:nvSpPr>
          <p:cNvPr id="25" name="Text 23"/>
          <p:cNvSpPr/>
          <p:nvPr/>
        </p:nvSpPr>
        <p:spPr>
          <a:xfrm>
            <a:off x="2980944" y="4654296"/>
            <a:ext cx="4133088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결제일에 카드값 납부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7114032" y="4654296"/>
            <a:ext cx="4133088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시점에 출금</a:t>
            </a:r>
            <a:endParaRPr lang="en-US" sz="910" dirty="0"/>
          </a:p>
        </p:txBody>
      </p:sp>
      <p:sp>
        <p:nvSpPr>
          <p:cNvPr id="27" name="Text 25"/>
          <p:cNvSpPr/>
          <p:nvPr/>
        </p:nvSpPr>
        <p:spPr>
          <a:xfrm>
            <a:off x="914400" y="5038344"/>
            <a:ext cx="2066544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반영</a:t>
            </a:r>
            <a:endParaRPr lang="en-US" sz="910" dirty="0"/>
          </a:p>
        </p:txBody>
      </p:sp>
      <p:sp>
        <p:nvSpPr>
          <p:cNvPr id="28" name="Text 26"/>
          <p:cNvSpPr/>
          <p:nvPr/>
        </p:nvSpPr>
        <p:spPr>
          <a:xfrm>
            <a:off x="2980944" y="5038344"/>
            <a:ext cx="413308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청구 전/후에 따라 차감 시점 차이</a:t>
            </a:r>
            <a:endParaRPr lang="en-US" sz="910" dirty="0"/>
          </a:p>
        </p:txBody>
      </p:sp>
      <p:sp>
        <p:nvSpPr>
          <p:cNvPr id="29" name="Text 27"/>
          <p:cNvSpPr/>
          <p:nvPr/>
        </p:nvSpPr>
        <p:spPr>
          <a:xfrm>
            <a:off x="7114032" y="5038344"/>
            <a:ext cx="413308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출금된 금액의 환불 흐름</a:t>
            </a:r>
            <a:endParaRPr lang="en-US" sz="910" dirty="0"/>
          </a:p>
        </p:txBody>
      </p:sp>
      <p:sp>
        <p:nvSpPr>
          <p:cNvPr id="30" name="Text 28"/>
          <p:cNvSpPr/>
          <p:nvPr/>
        </p:nvSpPr>
        <p:spPr>
          <a:xfrm>
            <a:off x="914400" y="5422392"/>
            <a:ext cx="2066544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포인트</a:t>
            </a:r>
            <a:endParaRPr lang="en-US" sz="910" dirty="0"/>
          </a:p>
        </p:txBody>
      </p:sp>
      <p:sp>
        <p:nvSpPr>
          <p:cNvPr id="31" name="Text 29"/>
          <p:cNvSpPr/>
          <p:nvPr/>
        </p:nvSpPr>
        <p:spPr>
          <a:xfrm>
            <a:off x="2980944" y="5422392"/>
            <a:ext cx="4133088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청구·결제일·취소매출전표 고려</a:t>
            </a:r>
            <a:endParaRPr lang="en-US" sz="910" dirty="0"/>
          </a:p>
        </p:txBody>
      </p:sp>
      <p:sp>
        <p:nvSpPr>
          <p:cNvPr id="32" name="Text 30"/>
          <p:cNvSpPr/>
          <p:nvPr/>
        </p:nvSpPr>
        <p:spPr>
          <a:xfrm>
            <a:off x="7114032" y="5422392"/>
            <a:ext cx="4133088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환불상태·잔액부족·은행점검 고려</a:t>
            </a:r>
            <a:endParaRPr lang="en-US" sz="91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S1, 청구사이클 참고 파일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972800" y="6510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시연 시나리오: 샌드박스로 흐름만 확인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결제 대신 Toss Payments Sandbox와 테스트 키 기준으로 승인/조회/취소 흐름을 보여준다.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48840" y="2011680"/>
            <a:ext cx="11430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09160" y="2011680"/>
            <a:ext cx="11430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269480" y="2011680"/>
            <a:ext cx="11430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77240" y="1645920"/>
            <a:ext cx="1371600" cy="7315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결제 요청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645920"/>
            <a:ext cx="1417320" cy="731520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성공 URL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1645920"/>
            <a:ext cx="1417320" cy="731520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confirm API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0" y="1645920"/>
            <a:ext cx="1417320" cy="731520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DB 확인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063240"/>
            <a:ext cx="30175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보여줄 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9536" y="3447288"/>
            <a:ext cx="2944368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paymentKey / orderId / amount가 성공 URL로 넘어오고, 서버가 승인 API를 호출한다.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4572000" y="3063240"/>
            <a:ext cx="30175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DB에서 보여줄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08576" y="3447288"/>
            <a:ext cx="2944368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orders.status = PAID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payments.status = APPROVED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card_approvals.approve_no 저장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8321040" y="3063240"/>
            <a:ext cx="27432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데모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57616" y="3447288"/>
            <a:ext cx="2670048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amount 불일치, confirm 재시도, 취소 API, 웹훅 이벤트 로그를 짧게 설명한다.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99669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시연은 “완성된 결제 서비스”보다 “결제 결과를 서버가 어떻게 확정하고 저장하는가”를 보여주는 데 초점을 둔다.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Toss Sandbox, S2, S3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972800" y="6510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및 참고 자료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발표에서는 공식 문서를 우선 근거로 사용하고, 블로그·영상은 이해 보조 자료로 둔다.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1106424" cy="384048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700784" y="1170432"/>
            <a:ext cx="4204411" cy="384048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05195" y="1170432"/>
            <a:ext cx="5753405" cy="384048"/>
          </a:xfrm>
          <a:prstGeom prst="rect">
            <a:avLst/>
          </a:prstGeom>
          <a:solidFill>
            <a:srgbClr val="0F172A"/>
          </a:solidFill>
          <a:ln w="5080">
            <a:solidFill>
              <a:srgbClr val="F8FA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1106424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700784" y="1554480"/>
            <a:ext cx="4204411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 개발자센터, 카드 결제 총정리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905195" y="1554480"/>
            <a:ext cx="5753405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https://docs.tosspayments.com/resources/glossary/card-payment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94360" y="1938528"/>
            <a:ext cx="1106424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700784" y="1938528"/>
            <a:ext cx="4204411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 개발자센터, 결제창 연동하기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05195" y="1938528"/>
            <a:ext cx="5753405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https://docs.tosspayments.com/guides/payment/integration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4360" y="2322576"/>
            <a:ext cx="1106424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700784" y="2322576"/>
            <a:ext cx="4204411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 Core API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905195" y="2322576"/>
            <a:ext cx="5753405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https://docs.tosspayments.com/reference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94360" y="2706624"/>
            <a:ext cx="1106424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700784" y="2706624"/>
            <a:ext cx="4204411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Payments, 결제 결과 안내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05195" y="2706624"/>
            <a:ext cx="5753405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https://docs.tosspayments.com/guides/learn/payment-results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3090672"/>
            <a:ext cx="1106424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700784" y="3090672"/>
            <a:ext cx="4204411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Payments, 결제 취소하기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05195" y="3090672"/>
            <a:ext cx="5753405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https://docs.tosspayments.com/guides/v2/cancel-payment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3474720"/>
            <a:ext cx="1106424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700784" y="3474720"/>
            <a:ext cx="4204411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Payments, 멱등성이 뭔가요?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905195" y="3474720"/>
            <a:ext cx="5753405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https://docs.tosspayments.com/blog/what-is-idempotency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4360" y="3858768"/>
            <a:ext cx="1106424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700784" y="3858768"/>
            <a:ext cx="4204411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Payments, 웹훅 연결하기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05195" y="3858768"/>
            <a:ext cx="5753405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https://docs.tosspayments.com/guides/v2/webhook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94360" y="4242816"/>
            <a:ext cx="1106424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700784" y="4242816"/>
            <a:ext cx="4204411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KICC 개발자센터, 결제 승인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905195" y="4242816"/>
            <a:ext cx="5753405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https://docs.kicc.co.kr/docs/online-payment/general/integration/approve-payment/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4360" y="4626864"/>
            <a:ext cx="1106424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S9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700784" y="4626864"/>
            <a:ext cx="4204411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 Sandbox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905195" y="4626864"/>
            <a:ext cx="5753405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https://developers.tosspayments.com/sandbox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94360" y="5010912"/>
            <a:ext cx="1106424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700784" y="5010912"/>
            <a:ext cx="4204411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DevDev, 간단 결제 시스템 구현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905195" y="5010912"/>
            <a:ext cx="5753405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https://dev-jhl.tistory.com/116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40080" y="60533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영상 URL은 발표 자료 하단에 별도 보관: YouTube 2건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공식 문서 우선 · 개인 블로그/영상은 보조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972800" y="6510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OpenAI</ep:Company>
  <ep:Words>1041</ep:Words>
  <ep:PresentationFormat>On-screen Show (16:9)</ep:PresentationFormat>
  <ep:Paragraphs>312</ep:Paragraphs>
  <ep:Slides>12</ep:Slides>
  <ep:Notes>12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ep:HeadingPairs>
  <ep:TitlesOfParts>
    <vt:vector size="13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2026-07-07T07:18:27.000</dcterms:created>
  <dc:creator>OpenAI</dc:creator>
  <cp:lastModifiedBy>admin</cp:lastModifiedBy>
  <dcterms:modified xsi:type="dcterms:W3CDTF">2026-07-07T07:34:22.352</dcterms:modified>
  <cp:revision>3</cp:revision>
  <dc:subject>신용카드 온라인 결제 프로세스</dc:subject>
  <dc:title>신용카드 온라인 결제 프로세스와 IT 데이터 흐름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