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58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2A357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6 · 보험 시스템 스터디 · 2주차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보험료 구조·산출과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언더라이팅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94360" y="4526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3이원 방식 vs CFP · 언더라이팅 · 계약 체결과 증권 발행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5166360"/>
            <a:ext cx="1828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10 (금) ㅣ 발표자: 은정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복습 · 1주차 (06/26)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킥오프 — 도메인 개념과 용어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554480"/>
          </a:xfrm>
          <a:prstGeom prst="roundRect">
            <a:avLst>
              <a:gd name="adj" fmla="val 411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0299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보험의 본질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231343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위험을 다수가 나눠 갖는 제도(Risk Pooling). 대수의 법칙과 수지상등의 원칙으로 보험료를 산출한다.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600200"/>
            <a:ext cx="5394960" cy="1554480"/>
          </a:xfrm>
          <a:prstGeom prst="roundRect">
            <a:avLst>
              <a:gd name="adj" fmla="val 411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0299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3대 분류·지급 로직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73952" y="231343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생명보험/손해보험/제3보험. 정액보상(생명·제3보험)과 실손보상(손해보험)으로 지급 로직이 갈린다.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5394960" cy="1554480"/>
          </a:xfrm>
          <a:prstGeom prst="roundRect">
            <a:avLst>
              <a:gd name="adj" fmla="val 411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81304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639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3자 관계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04672" y="40965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계약자(내는 사람)·피보험자(사고 대상)·수익자(받는 사람)는 서로 다를 수 있다 — 계약은 1:N 당사자로 모델링.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17920" y="3383280"/>
            <a:ext cx="5394960" cy="1554480"/>
          </a:xfrm>
          <a:prstGeom prst="roundRect">
            <a:avLst>
              <a:gd name="adj" fmla="val 411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361188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381304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3639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용어사전 v1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73952" y="40965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보장개시일·면책기간·고지의무·해지환급금·실효/부활·공시이율 등 6개 핵심 용어를 IT 관점과 함께 정리.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868680" y="5349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“보험은 위험을 다수가 나눠 </a:t>
            </a:r>
            <a:r>
              <a:rPr lang="en-US" sz="125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갖는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제도</a:t>
            </a:r>
            <a:r>
              <a:rPr lang="ko-KR" alt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이고</a:t>
            </a:r>
            <a:r>
              <a:rPr lang="en-US" altLang="ko-KR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그 약속을 정확성·시점성·정합성·추적성 위에서 자동화하는 것이 </a:t>
            </a:r>
            <a:r>
              <a:rPr lang="en-US" sz="125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· 07/10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흐름 — 실제 업무 순서 그대로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상품설계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(요율표)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55448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23160" y="15544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예상보험료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55448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155448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15544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155448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9244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승낙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38360" y="155448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921240" y="15544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6696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계약성립·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증권발행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3535680" cy="2423160"/>
          </a:xfrm>
          <a:prstGeom prst="roundRect">
            <a:avLst>
              <a:gd name="adj" fmla="val 2642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169920" y="3429000"/>
            <a:ext cx="594360" cy="59436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088" y="3630168"/>
            <a:ext cx="192024" cy="19202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77240" y="39776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77240" y="448056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영업보험료 구성, 3이원 방식 vs CFP, 산출 단계와 사후 정산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12920" y="3246120"/>
            <a:ext cx="3535680" cy="2423160"/>
          </a:xfrm>
          <a:prstGeom prst="roundRect">
            <a:avLst>
              <a:gd name="adj" fmla="val 2642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54152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32" name="Shape 29"/>
          <p:cNvSpPr/>
          <p:nvPr/>
        </p:nvSpPr>
        <p:spPr>
          <a:xfrm>
            <a:off x="6934200" y="3429000"/>
            <a:ext cx="594360" cy="59436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368" y="3630168"/>
            <a:ext cx="192024" cy="192024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541520" y="39776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4541520" y="448056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정의·필요성·절차, AI 자동화, IT 구조(요율표·룰 테이블), 지속성, DB 저장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8077200" y="3246120"/>
            <a:ext cx="3535680" cy="2423160"/>
          </a:xfrm>
          <a:prstGeom prst="roundRect">
            <a:avLst>
              <a:gd name="adj" fmla="val 2642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830580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38" name="Shape 34"/>
          <p:cNvSpPr/>
          <p:nvPr/>
        </p:nvSpPr>
        <p:spPr>
          <a:xfrm>
            <a:off x="10698480" y="3429000"/>
            <a:ext cx="594360" cy="59436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48" y="3630168"/>
            <a:ext cx="192024" cy="19202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305800" y="39776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체결·증권 발행</a:t>
            </a:r>
            <a:endParaRPr lang="en-US" sz="1500" dirty="0"/>
          </a:p>
        </p:txBody>
      </p:sp>
      <p:sp>
        <p:nvSpPr>
          <p:cNvPr id="41" name="Text 36"/>
          <p:cNvSpPr/>
          <p:nvPr/>
        </p:nvSpPr>
        <p:spPr>
          <a:xfrm>
            <a:off x="8305800" y="448056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 승낙 이후 계약이 성립되는 과정을 짧게 짚고 마무리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주차에서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오늘 다룬 계약 체결 이후의 ‘계약 </a:t>
            </a:r>
            <a:r>
              <a:rPr lang="en-US" sz="125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생명주기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ko-KR" alt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이어서 다룰 예정입니다</a:t>
            </a:r>
            <a:r>
              <a:rPr lang="en-US" altLang="ko-KR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보험료 구조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영업보험료는 어떻게 구성되는가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영업보험료 = 순보험료 + 부가보험료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057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영업보험료 (고객이 실제로 납입하는 금액)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291840" y="2788920"/>
            <a:ext cx="0" cy="274320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2788920"/>
            <a:ext cx="0" cy="274320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63240"/>
            <a:ext cx="5349240" cy="640080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063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순보험료 — 보험금 지급 재원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063240"/>
            <a:ext cx="5349240" cy="640080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063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부가보험료 — 사업 운영비 재원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828800" y="3703320"/>
            <a:ext cx="0" cy="228600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703320"/>
            <a:ext cx="0" cy="228600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3703320"/>
            <a:ext cx="0" cy="228600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78440" y="3703320"/>
            <a:ext cx="0" cy="228600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319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31920"/>
            <a:ext cx="2651760" cy="1051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위험보험료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사망·질병 등 사고 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지급할 보험금의 재원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39319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931920"/>
            <a:ext cx="2651760" cy="1051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저축보험료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383280" y="4343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만기환급금·중도급부금 등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돌려줄 돈의 재원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70771" y="39319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70771" y="3931920"/>
            <a:ext cx="2651760" cy="1051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7931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신계약비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7931" y="4343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설계사 수당, 청약서 발행 등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체결 비용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51473" y="39319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51473" y="3931920"/>
            <a:ext cx="2651760" cy="1051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88633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유지비·수금비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088633" y="4343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</a:t>
            </a: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유지관리</a:t>
            </a: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수납 처리 비용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7240" y="53949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541264"/>
            <a:ext cx="393192" cy="39319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645920" y="52578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수지상등의</a:t>
            </a: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</a:t>
            </a: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계약자들이 낼 보험료 총액 = 보험회사가 지급할 보험금 + 사업비 </a:t>
            </a:r>
            <a:r>
              <a:rPr lang="en-US" sz="125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총액</a:t>
            </a: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균형을 실제로 계산해내는 두 </a:t>
            </a:r>
            <a:r>
              <a:rPr lang="en-US" sz="125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</a:t>
            </a: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방법이</a:t>
            </a: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뒤에서 다룰</a:t>
            </a: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3이원 </a:t>
            </a:r>
            <a:r>
              <a:rPr lang="en-US" sz="125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방식과</a:t>
            </a: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CFP</a:t>
            </a:r>
            <a:r>
              <a:rPr lang="ko-KR" alt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</a:t>
            </a:r>
            <a:r>
              <a:rPr lang="en-US" altLang="ko-KR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보험료 산출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3이원 방식 — 산출 단계와 사후 정산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3이원 방식이란: 예정위험률·예정이자율·예정사업비율, 3가지 예정기초율만 적용해 수지상등의 원칙이 성립하도록 보험료를 산출하는 전통적 방식.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3가지 예정기초율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4048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04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31343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예정위험률 (q)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624328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확률. 실제 발생률에 안전할증을 더해 보수적으로 산출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474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33832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예정이자율 (i)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694176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운용 예상수익률이자 현재가치 할인율. 시중금리보다 낮게 설정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48640" y="4379976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4456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544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4531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예정사업비율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764024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체결·유지·관리 비용 비율. 예정신계약비+예정관리비로 구성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6263640" y="18288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사후 정산 — 3이원만의 특징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263640" y="221284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보수적으로 예정한 기초율과 실제 결과의 차이가 사후 정산 재원이 된다: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281767"/>
              </p:ext>
            </p:extLst>
          </p:nvPr>
        </p:nvGraphicFramePr>
        <p:xfrm>
          <a:off x="6263640" y="2670048"/>
          <a:ext cx="5349240" cy="1737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발생 원인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위차익</a:t>
                      </a:r>
                      <a:endParaRPr lang="en-US" altLang="ko-K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예정위험률</a:t>
                      </a:r>
                      <a:r>
                        <a:rPr lang="en-US" altLang="ko-KR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&gt; </a:t>
                      </a: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</a:t>
                      </a:r>
                      <a:r>
                        <a:rPr lang="en-US" altLang="ko-KR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사고발생률일</a:t>
                      </a:r>
                      <a:r>
                        <a:rPr lang="en-US" altLang="ko-KR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때 </a:t>
                      </a: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발생</a:t>
                      </a:r>
                      <a:endParaRPr lang="en-US" altLang="ko-K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이차익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예정</a:t>
                      </a:r>
                      <a:r>
                        <a:rPr lang="ko-KR" alt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</a:t>
                      </a: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이율</a:t>
                      </a:r>
                      <a:r>
                        <a:rPr lang="en-US" altLang="ko-KR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&lt; </a:t>
                      </a: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</a:t>
                      </a:r>
                      <a:r>
                        <a:rPr lang="en-US" altLang="ko-KR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운용수익률일</a:t>
                      </a:r>
                      <a:r>
                        <a:rPr lang="en-US" altLang="ko-KR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때 </a:t>
                      </a:r>
                      <a:r>
                        <a:rPr lang="en-US" altLang="ko-KR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발생</a:t>
                      </a:r>
                      <a:endParaRPr lang="en-US" altLang="ko-K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비차익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예정사업비율 &gt; 실제 집행 사업비일 때 발생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7240" y="5349240"/>
            <a:ext cx="105324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새 가격요소 반영이 제한적이고, 판매 전 수익성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분석이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어</a:t>
            </a:r>
            <a:r>
              <a:rPr lang="ko-KR" alt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려움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그래서 등장한 것이 다음 페이지의 현금흐름방식(CFP)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보험료 산출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현금흐름방식(CFP) — 산출 단계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CFP란: 3대 기초율 외에 계약해지율·투자수익률·판매규모 등 현금흐름에 영향을 주는 다양한 요소를 종합 반영해 미래 현금흐름을 시뮬레이션하는 정밀한 방식.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= 최적가정으로 계산한 기초원가·제반비용 + 회사가 원하는 이익마진(Profit Margin)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535680" cy="1325880"/>
          </a:xfrm>
          <a:prstGeom prst="roundRect">
            <a:avLst>
              <a:gd name="adj" fmla="val 482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432304"/>
            <a:ext cx="438912" cy="43891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32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2404872"/>
            <a:ext cx="263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시산보험료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설정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2907792"/>
            <a:ext cx="312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계산을 시작하기 위한 임의의 초기 보험료값을 설정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312920" y="2286000"/>
            <a:ext cx="3535680" cy="1325880"/>
          </a:xfrm>
          <a:prstGeom prst="roundRect">
            <a:avLst>
              <a:gd name="adj" fmla="val 482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512" y="2432304"/>
            <a:ext cx="438912" cy="43891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4477512" y="2432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6152" y="2404872"/>
            <a:ext cx="263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최적가정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수립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14088" y="2907792"/>
            <a:ext cx="312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해지율·투자수익률·사업비 등을 보수성 없이 현실적으로 추정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077200" y="2286000"/>
            <a:ext cx="3535680" cy="1325880"/>
          </a:xfrm>
          <a:prstGeom prst="roundRect">
            <a:avLst>
              <a:gd name="adj" fmla="val 482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41792" y="2432304"/>
            <a:ext cx="438912" cy="43891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41792" y="2432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90432" y="2404872"/>
            <a:ext cx="263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현금흐름 시뮬레이션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907792"/>
            <a:ext cx="312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보험기간 전체의 수입·지급·비용 흐름을 연도별로 생성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3535680" cy="1325880"/>
          </a:xfrm>
          <a:prstGeom prst="roundRect">
            <a:avLst>
              <a:gd name="adj" fmla="val 482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Shape 22"/>
          <p:cNvSpPr/>
          <p:nvPr/>
        </p:nvSpPr>
        <p:spPr>
          <a:xfrm>
            <a:off x="713232" y="3986784"/>
            <a:ext cx="438912" cy="43891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1872" y="3959352"/>
            <a:ext cx="263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목표이익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충족 검증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9808" y="4462272"/>
            <a:ext cx="312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현재가치화하여 목표이익 달성 여부 확인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312920" y="3840480"/>
            <a:ext cx="3535680" cy="1325880"/>
          </a:xfrm>
          <a:prstGeom prst="roundRect">
            <a:avLst>
              <a:gd name="adj" fmla="val 482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77512" y="3986784"/>
            <a:ext cx="438912" cy="43891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30" name="Text 28"/>
          <p:cNvSpPr/>
          <p:nvPr/>
        </p:nvSpPr>
        <p:spPr>
          <a:xfrm>
            <a:off x="4477512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6152" y="3959352"/>
            <a:ext cx="263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(Iteration)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14088" y="4462272"/>
            <a:ext cx="312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미충족 시 시산보험료를 조정해 확률론적으로 반복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8077200" y="3840480"/>
            <a:ext cx="3535680" cy="1325880"/>
          </a:xfrm>
          <a:prstGeom prst="roundRect">
            <a:avLst>
              <a:gd name="adj" fmla="val 482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41792" y="3986784"/>
            <a:ext cx="438912" cy="438912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35" name="Text 33"/>
          <p:cNvSpPr/>
          <p:nvPr/>
        </p:nvSpPr>
        <p:spPr>
          <a:xfrm>
            <a:off x="8241792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90432" y="3959352"/>
            <a:ext cx="263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민감도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분석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78368" y="4462272"/>
            <a:ext cx="312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금리·해지율 변화에 따른 보험료 민감도를 분석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 도입 효과: 보험료 내역 투명화, 상품 개발 유연성 제고,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전 목표이익 관리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보험료 산출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3이원 방식 vs 현금흐름방식(CFP)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3이원은 ‘보수적으로 계산하고 나중에 </a:t>
            </a:r>
            <a:r>
              <a:rPr lang="en-US" sz="1300" i="1" dirty="0" err="1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</a:t>
            </a: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vs</a:t>
            </a:r>
            <a:r>
              <a:rPr lang="ko-KR" alt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CFP는</a:t>
            </a: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‘현실적으로 계산하고 이익까지 미리 </a:t>
            </a:r>
            <a:r>
              <a:rPr lang="en-US" sz="1300" i="1" dirty="0" err="1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5661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3이원 방식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현금흐름방식(CFP)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기준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예정위험률·예정이자율·예정사업비율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3이원 포함 + 해지율·투자수익률·판매규모 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가정 방식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보수적인 예정기초율(안전할증 포함)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최적가정(Best Estimate) 중심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계산 구조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결정론적 수식 → 즉시 산출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확률론적 시뮬레이션 → 반복(iteration)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이해와 계산이 쉬움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현실 반영도가 높음, 수익성 선제 분석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새로운 가격요소 반영이 제한적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산출 복잡, 전산시스템 의존도 높음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발표용 한 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전통적 보험료 계산 방식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현대적·정교한 보험료 계산 방식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5715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생명보험사는 3년간 3이원·CFP를 병행하다가 2013년 4월부터 CFP를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본격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언더라이팅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언더라이팅이란 무엇인가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55648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54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기원: 1680년대 런던 로이즈 커피하우스에서, 투자자가 계약서 아래(Under)에 책임 비율을 적고 서명(Writing)한 관행에서 유래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707547"/>
            <a:ext cx="914400" cy="91440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908715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753267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정의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91640" y="3164747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피보험자의 위험을 평가하고, 적절한 위험집단으로 분류하여 보험 가입 가능 여부, 보험료, 가입조건 등을 결정하는 과정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2628900" cy="822960"/>
          </a:xfrm>
          <a:prstGeom prst="roundRect">
            <a:avLst>
              <a:gd name="adj" fmla="val 777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0080" y="4297680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위험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177540" y="42976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360420" y="4297680"/>
            <a:ext cx="2628900" cy="822960"/>
          </a:xfrm>
          <a:prstGeom prst="roundRect">
            <a:avLst>
              <a:gd name="adj" fmla="val 777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451860" y="4297680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위험등급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989320" y="42976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172200" y="4297680"/>
            <a:ext cx="2628900" cy="822960"/>
          </a:xfrm>
          <a:prstGeom prst="roundRect">
            <a:avLst>
              <a:gd name="adj" fmla="val 777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263640" y="4297680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 여부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801100" y="42976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983980" y="4297680"/>
            <a:ext cx="262890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9075420" y="4297680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보험료·가입조건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868680" y="53492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언더라이팅은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위험을 무조건 피하는 과정이 아니라, “</a:t>
            </a:r>
            <a:r>
              <a:rPr lang="en-US" sz="13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받을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있는 위험과 받을 수 없는 </a:t>
            </a:r>
            <a:r>
              <a:rPr lang="en-US" sz="13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위험을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구분하는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과정이다.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언더라이팅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언더라이팅이 왜 필요한가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보험은 여러 사람이 낸 보험료로 사고 난 사람에게 지급하는 구조라, 위험이 높은 사람만 몰리면 손해가 커진다.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3153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97864" y="2148840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3500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0175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역선택 방지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657600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위험이 높은 사람이 보험금 수령을 목적으로 가입하는 것을 방지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3153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2148840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3500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98648" y="30175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보험사기 방지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944368" y="3657600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고액·다수 보장성 보험 집중 가입 등 의심 계약 차단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3153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15000" y="2148840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23500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57216" y="30175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위험집단 분류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202936" y="3657600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위험도가 낮은/보통/높은 사람을 구분</a:t>
            </a:r>
            <a:endParaRPr lang="en-US" sz="1030" dirty="0"/>
          </a:p>
        </p:txBody>
      </p:sp>
      <p:sp>
        <p:nvSpPr>
          <p:cNvPr id="22" name="Shape 17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3153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73568" y="2148840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36" y="235000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15784" y="30175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적정 보험료 산출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461504" y="3657600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위험도에 맞는 보험료 또는 인수조건 결정</a:t>
            </a:r>
            <a:endParaRPr lang="en-US" sz="1030" dirty="0"/>
          </a:p>
        </p:txBody>
      </p:sp>
      <p:sp>
        <p:nvSpPr>
          <p:cNvPr id="27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3153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232136" y="2148840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3304" y="235000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74352" y="30175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보험회사 안정성 확보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720072" y="3657600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손해율 악화 방지, 장기 지급 능력 유지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822960" y="5440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언더라이팅은 위험을 무조건 피하는 게 아니라, 위험을 평가해서 받을 수 있는 위험과 받을 수 없는 위험을 구분하는 과정이다.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언더라이팅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언더라이팅 절차와 위험 등급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087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청약 접수·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고지사항 확인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51760" y="1508760"/>
            <a:ext cx="137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508760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5087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필요여부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판단·등록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137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15087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자동심사 또는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언더라이터 심사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1508760"/>
            <a:ext cx="137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69480" y="1508760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15087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추가조사·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계약적부 확인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372600" y="1508760"/>
            <a:ext cx="137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09760" y="1508760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555480" y="15087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승인/조건부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승인/거절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2606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실무에서는 자동심사·수동심사가 함께 </a:t>
            </a:r>
            <a:r>
              <a:rPr lang="en-US" sz="1150" i="1" dirty="0" err="1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간다</a:t>
            </a: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kumimoji="0" lang="en-US" altLang="ko-KR" sz="1080" b="0" i="0" u="none" strike="noStrike" kern="1200" cap="none" spc="0" normalizeH="0" baseline="0" noProof="0" dirty="0">
                <a:ln>
                  <a:noFill/>
                </a:ln>
                <a:solidFill>
                  <a:srgbClr val="2A2E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고액 계약, 병력 해석이 필요한 계약, 기업성 손해보험처럼 복잡한 계약은 언더라이터가 직접 심사한다.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심사 4대 요소</a:t>
            </a:r>
            <a:endParaRPr lang="en-US" sz="14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074191"/>
              </p:ext>
            </p:extLst>
          </p:nvPr>
        </p:nvGraphicFramePr>
        <p:xfrm>
          <a:off x="548640" y="3456432"/>
          <a:ext cx="5349240" cy="24688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고려 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신체적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연령·성별·체격·건강상태·병력·건강진단</a:t>
                      </a:r>
                      <a:endParaRPr lang="en-US" sz="1100" dirty="0">
                        <a:solidFill>
                          <a:srgbClr val="2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ex)</a:t>
                      </a:r>
                      <a:r>
                        <a:rPr lang="ko-KR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고령자는 </a:t>
                      </a:r>
                      <a:r>
                        <a:rPr lang="ko-KR" altLang="ko-KR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저연령자보다</a:t>
                      </a:r>
                      <a:r>
                        <a:rPr lang="ko-KR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보험료가 높다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직업·운전여부·흡연음주·취미·거주지역</a:t>
                      </a:r>
                      <a:endParaRPr lang="en-US" sz="1100" dirty="0">
                        <a:solidFill>
                          <a:srgbClr val="2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ex)</a:t>
                      </a:r>
                      <a:r>
                        <a:rPr lang="ko-KR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위험 직업 종사자는 표준보다 할증된다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도덕적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가입목적·계약자관계·고액가입·부실고지</a:t>
                      </a:r>
                      <a:endParaRPr lang="en-US" sz="1100" dirty="0">
                        <a:solidFill>
                          <a:srgbClr val="2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ex)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 </a:t>
                      </a:r>
                      <a:r>
                        <a:rPr lang="ko-KR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소득 대비 과도한 고액가입은 심사가 강화된다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재정적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소득·기존가입금액·보험료 </a:t>
                      </a:r>
                      <a:r>
                        <a:rPr lang="en-US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부담·보장</a:t>
                      </a: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적정성</a:t>
                      </a:r>
                      <a:endParaRPr lang="en-US" sz="1100" dirty="0">
                        <a:solidFill>
                          <a:srgbClr val="2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ex)</a:t>
                      </a:r>
                      <a:r>
                        <a:rPr lang="ko-KR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소득 대비 보험료 부담이 크면 가입이 제한된다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2636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언더라이팅 결과 유형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6263640" y="3456432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92240" y="35295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우량체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3840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표준체보다 위험 낮음 → 보험료 할인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263640" y="4352544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92240" y="4425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표준체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492240" y="47365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일반적 위험 수준 → 표준 요율·조건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6263640" y="5248656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5EBDD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492240" y="5321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표준미달체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492240" y="56327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높음 → 할증/부담보/삭감/가입제한/거절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6263640" y="61904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그대로 요율에 반영: 표준체=기본요율, 표준미달체=할증요율, 우량체=할인요율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>
            <a:extLst>
              <a:ext uri="{FF2B5EF4-FFF2-40B4-BE49-F238E27FC236}">
                <a16:creationId xmlns:a16="http://schemas.microsoft.com/office/drawing/2014/main" id="{D8167C56-2F3C-D0F2-5D01-283FE5916F8A}"/>
              </a:ext>
            </a:extLst>
          </p:cNvPr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언더라이팅</a:t>
            </a:r>
            <a:endParaRPr lang="en-US" sz="1250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A7C01F15-741B-14D6-E8BF-56A0C58B0F6B}"/>
              </a:ext>
            </a:extLst>
          </p:cNvPr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위험을 어떻게 숫자로 평가하나 — 수치평가법</a:t>
            </a:r>
            <a:endParaRPr lang="en-US" sz="2700" dirty="0"/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EC692180-2334-841E-ED8E-D5CF20CFD530}"/>
              </a:ext>
            </a:extLst>
          </p:cNvPr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384F2313-F169-925B-FBEF-F495B71EBA98}"/>
              </a:ext>
            </a:extLst>
          </p:cNvPr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BB15D23E-AAA3-8F9B-BFA4-B91068FCB121}"/>
              </a:ext>
            </a:extLst>
          </p:cNvPr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표준체·우량체·표준미달체라는 결과가 실제로 어떤 절차로 갈리는지를 </a:t>
            </a:r>
            <a:r>
              <a:rPr lang="en-US" sz="1250" i="1" dirty="0" err="1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정량화한</a:t>
            </a: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endParaRPr lang="en-US" sz="1250" dirty="0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24971851-1828-2E7C-E254-19B0A6401CA3}"/>
              </a:ext>
            </a:extLst>
          </p:cNvPr>
          <p:cNvSpPr/>
          <p:nvPr/>
        </p:nvSpPr>
        <p:spPr>
          <a:xfrm>
            <a:off x="548640" y="20423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정의</a:t>
            </a:r>
            <a:endParaRPr lang="en-US" sz="1400" dirty="0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FB9C50FB-83A8-9907-2104-CB8E19C7B4FC}"/>
              </a:ext>
            </a:extLst>
          </p:cNvPr>
          <p:cNvSpPr/>
          <p:nvPr/>
        </p:nvSpPr>
        <p:spPr>
          <a:xfrm>
            <a:off x="548640" y="238062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표준체를 100%로 놓고, 위험요인마다 가점(+)·감점(−)을 매겨 합산한 값(EM ratio)으로 위험 수준을 등급표에 매핑하는 정량 평가 방식</a:t>
            </a:r>
            <a:endParaRPr lang="en-US" sz="1150" dirty="0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6A28C7CC-EBFB-9FD7-2B05-9B475034D8B8}"/>
              </a:ext>
            </a:extLst>
          </p:cNvPr>
          <p:cNvSpPr/>
          <p:nvPr/>
        </p:nvSpPr>
        <p:spPr>
          <a:xfrm>
            <a:off x="548640" y="32310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어떻게 쓰이나</a:t>
            </a:r>
            <a:endParaRPr lang="en-US" sz="1400" dirty="0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96DDAA6D-BA35-2774-5D9D-CAD3D3CD30A4}"/>
              </a:ext>
            </a:extLst>
          </p:cNvPr>
          <p:cNvSpPr/>
          <p:nvPr/>
        </p:nvSpPr>
        <p:spPr>
          <a:xfrm>
            <a:off x="548640" y="359678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F4F7FC"/>
          </a:solidFill>
          <a:ln/>
        </p:spPr>
      </p:sp>
      <p:sp>
        <p:nvSpPr>
          <p:cNvPr id="62" name="Shape 9">
            <a:extLst>
              <a:ext uri="{FF2B5EF4-FFF2-40B4-BE49-F238E27FC236}">
                <a16:creationId xmlns:a16="http://schemas.microsoft.com/office/drawing/2014/main" id="{2A310135-F583-EDA3-E3CC-A6A5BFDBC6C8}"/>
              </a:ext>
            </a:extLst>
          </p:cNvPr>
          <p:cNvSpPr/>
          <p:nvPr/>
        </p:nvSpPr>
        <p:spPr>
          <a:xfrm>
            <a:off x="685800" y="36973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E6F71EBF-1B03-A847-B508-5EB6493C9CF7}"/>
              </a:ext>
            </a:extLst>
          </p:cNvPr>
          <p:cNvSpPr/>
          <p:nvPr/>
        </p:nvSpPr>
        <p:spPr>
          <a:xfrm>
            <a:off x="685800" y="36973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901803E1-95E6-B907-A96A-8D308DCDD54B}"/>
              </a:ext>
            </a:extLst>
          </p:cNvPr>
          <p:cNvSpPr/>
          <p:nvPr/>
        </p:nvSpPr>
        <p:spPr>
          <a:xfrm>
            <a:off x="1188720" y="363335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표준체 100%에서 시작</a:t>
            </a:r>
            <a:endParaRPr lang="en-US" sz="1080" dirty="0"/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40B1A595-BBE6-46F0-3605-37FDA8C01F21}"/>
              </a:ext>
            </a:extLst>
          </p:cNvPr>
          <p:cNvSpPr/>
          <p:nvPr/>
        </p:nvSpPr>
        <p:spPr>
          <a:xfrm>
            <a:off x="3246120" y="36333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심사의 출발점을 동일한 기준선으로 고정</a:t>
            </a:r>
            <a:endParaRPr lang="en-US" sz="930" dirty="0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31B4860D-8453-9555-0812-682D01BAC1C3}"/>
              </a:ext>
            </a:extLst>
          </p:cNvPr>
          <p:cNvSpPr/>
          <p:nvPr/>
        </p:nvSpPr>
        <p:spPr>
          <a:xfrm>
            <a:off x="548640" y="423686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F4F7FC"/>
          </a:solidFill>
          <a:ln/>
        </p:spPr>
      </p:sp>
      <p:sp>
        <p:nvSpPr>
          <p:cNvPr id="72" name="Shape 14">
            <a:extLst>
              <a:ext uri="{FF2B5EF4-FFF2-40B4-BE49-F238E27FC236}">
                <a16:creationId xmlns:a16="http://schemas.microsoft.com/office/drawing/2014/main" id="{571DA7A4-278B-813A-A7F4-6357C0E3EED7}"/>
              </a:ext>
            </a:extLst>
          </p:cNvPr>
          <p:cNvSpPr/>
          <p:nvPr/>
        </p:nvSpPr>
        <p:spPr>
          <a:xfrm>
            <a:off x="685800" y="433744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43ADE5FA-3754-2F1A-40CE-CBC610BD2183}"/>
              </a:ext>
            </a:extLst>
          </p:cNvPr>
          <p:cNvSpPr/>
          <p:nvPr/>
        </p:nvSpPr>
        <p:spPr>
          <a:xfrm>
            <a:off x="685800" y="4337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3D9EFC6C-31D2-24DF-9F80-447ABEE11075}"/>
              </a:ext>
            </a:extLst>
          </p:cNvPr>
          <p:cNvSpPr/>
          <p:nvPr/>
        </p:nvSpPr>
        <p:spPr>
          <a:xfrm>
            <a:off x="1188720" y="427343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위험요인별 가점·감점</a:t>
            </a:r>
            <a:endParaRPr lang="en-US" sz="1080" dirty="0"/>
          </a:p>
        </p:txBody>
      </p:sp>
      <p:sp>
        <p:nvSpPr>
          <p:cNvPr id="78" name="Text 17">
            <a:extLst>
              <a:ext uri="{FF2B5EF4-FFF2-40B4-BE49-F238E27FC236}">
                <a16:creationId xmlns:a16="http://schemas.microsoft.com/office/drawing/2014/main" id="{AB2188F5-6ECB-EAB9-92AB-27850AC80932}"/>
              </a:ext>
            </a:extLst>
          </p:cNvPr>
          <p:cNvSpPr/>
          <p:nvPr/>
        </p:nvSpPr>
        <p:spPr>
          <a:xfrm>
            <a:off x="3246120" y="427343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질병·체격·가족력 등 요인마다 정해진 값을 매김</a:t>
            </a:r>
            <a:endParaRPr lang="en-US" sz="930" dirty="0"/>
          </a:p>
        </p:txBody>
      </p:sp>
      <p:sp>
        <p:nvSpPr>
          <p:cNvPr id="80" name="Shape 18">
            <a:extLst>
              <a:ext uri="{FF2B5EF4-FFF2-40B4-BE49-F238E27FC236}">
                <a16:creationId xmlns:a16="http://schemas.microsoft.com/office/drawing/2014/main" id="{6A7C3E43-D749-1C91-0064-E7204EC42A9C}"/>
              </a:ext>
            </a:extLst>
          </p:cNvPr>
          <p:cNvSpPr/>
          <p:nvPr/>
        </p:nvSpPr>
        <p:spPr>
          <a:xfrm>
            <a:off x="548640" y="487694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F4F7FC"/>
          </a:solidFill>
          <a:ln/>
        </p:spPr>
      </p:sp>
      <p:sp>
        <p:nvSpPr>
          <p:cNvPr id="82" name="Shape 19">
            <a:extLst>
              <a:ext uri="{FF2B5EF4-FFF2-40B4-BE49-F238E27FC236}">
                <a16:creationId xmlns:a16="http://schemas.microsoft.com/office/drawing/2014/main" id="{08AC73D2-1F0D-DE5F-244D-DC01AD7A4F24}"/>
              </a:ext>
            </a:extLst>
          </p:cNvPr>
          <p:cNvSpPr/>
          <p:nvPr/>
        </p:nvSpPr>
        <p:spPr>
          <a:xfrm>
            <a:off x="685800" y="49775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81716567-2015-A55A-9E3C-DA69CFAAB56F}"/>
              </a:ext>
            </a:extLst>
          </p:cNvPr>
          <p:cNvSpPr/>
          <p:nvPr/>
        </p:nvSpPr>
        <p:spPr>
          <a:xfrm>
            <a:off x="685800" y="4977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1F03C152-7259-0C02-7FFD-A5B1746C9600}"/>
              </a:ext>
            </a:extLst>
          </p:cNvPr>
          <p:cNvSpPr/>
          <p:nvPr/>
        </p:nvSpPr>
        <p:spPr>
          <a:xfrm>
            <a:off x="1188720" y="491351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합산 → EM ratio 산출</a:t>
            </a:r>
            <a:endParaRPr lang="en-US" sz="1080" dirty="0"/>
          </a:p>
        </p:txBody>
      </p:sp>
      <p:sp>
        <p:nvSpPr>
          <p:cNvPr id="88" name="Text 22">
            <a:extLst>
              <a:ext uri="{FF2B5EF4-FFF2-40B4-BE49-F238E27FC236}">
                <a16:creationId xmlns:a16="http://schemas.microsoft.com/office/drawing/2014/main" id="{BC731EC9-A68C-4787-F4E6-893C61CA4FCC}"/>
              </a:ext>
            </a:extLst>
          </p:cNvPr>
          <p:cNvSpPr/>
          <p:nvPr/>
        </p:nvSpPr>
        <p:spPr>
          <a:xfrm>
            <a:off x="3246120" y="491351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가점·감점을 모두 더해 하나의 위험 점수로 압축</a:t>
            </a:r>
            <a:endParaRPr lang="en-US" sz="930" dirty="0"/>
          </a:p>
        </p:txBody>
      </p:sp>
      <p:sp>
        <p:nvSpPr>
          <p:cNvPr id="90" name="Shape 23">
            <a:extLst>
              <a:ext uri="{FF2B5EF4-FFF2-40B4-BE49-F238E27FC236}">
                <a16:creationId xmlns:a16="http://schemas.microsoft.com/office/drawing/2014/main" id="{C35E0D48-DD41-4F6B-87B0-C64432C16B71}"/>
              </a:ext>
            </a:extLst>
          </p:cNvPr>
          <p:cNvSpPr/>
          <p:nvPr/>
        </p:nvSpPr>
        <p:spPr>
          <a:xfrm>
            <a:off x="548640" y="551702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F4F7FC"/>
          </a:solidFill>
          <a:ln/>
        </p:spPr>
      </p:sp>
      <p:sp>
        <p:nvSpPr>
          <p:cNvPr id="92" name="Shape 24">
            <a:extLst>
              <a:ext uri="{FF2B5EF4-FFF2-40B4-BE49-F238E27FC236}">
                <a16:creationId xmlns:a16="http://schemas.microsoft.com/office/drawing/2014/main" id="{A95D6051-3F84-DD9D-CCBA-6EA071B3B871}"/>
              </a:ext>
            </a:extLst>
          </p:cNvPr>
          <p:cNvSpPr/>
          <p:nvPr/>
        </p:nvSpPr>
        <p:spPr>
          <a:xfrm>
            <a:off x="685800" y="56176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4" name="Text 25">
            <a:extLst>
              <a:ext uri="{FF2B5EF4-FFF2-40B4-BE49-F238E27FC236}">
                <a16:creationId xmlns:a16="http://schemas.microsoft.com/office/drawing/2014/main" id="{1D605C1E-2510-9CB2-1B53-54C07A0C6E7D}"/>
              </a:ext>
            </a:extLst>
          </p:cNvPr>
          <p:cNvSpPr/>
          <p:nvPr/>
        </p:nvSpPr>
        <p:spPr>
          <a:xfrm>
            <a:off x="685800" y="56176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6" name="Text 26">
            <a:extLst>
              <a:ext uri="{FF2B5EF4-FFF2-40B4-BE49-F238E27FC236}">
                <a16:creationId xmlns:a16="http://schemas.microsoft.com/office/drawing/2014/main" id="{0604F19A-FC8F-6DF2-AC26-89BDADFED51E}"/>
              </a:ext>
            </a:extLst>
          </p:cNvPr>
          <p:cNvSpPr/>
          <p:nvPr/>
        </p:nvSpPr>
        <p:spPr>
          <a:xfrm>
            <a:off x="1188720" y="55535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등급표에 매핑</a:t>
            </a:r>
            <a:endParaRPr lang="en-US" sz="1080" dirty="0"/>
          </a:p>
        </p:txBody>
      </p:sp>
      <p:sp>
        <p:nvSpPr>
          <p:cNvPr id="98" name="Text 27">
            <a:extLst>
              <a:ext uri="{FF2B5EF4-FFF2-40B4-BE49-F238E27FC236}">
                <a16:creationId xmlns:a16="http://schemas.microsoft.com/office/drawing/2014/main" id="{7D6F77DC-51F5-D4EE-359B-7A6E2E46A7E2}"/>
              </a:ext>
            </a:extLst>
          </p:cNvPr>
          <p:cNvSpPr/>
          <p:nvPr/>
        </p:nvSpPr>
        <p:spPr>
          <a:xfrm>
            <a:off x="3246120" y="555359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구간에 따라 우량체/표준체/표준미달체로 분류</a:t>
            </a:r>
            <a:endParaRPr lang="en-US" sz="930" dirty="0"/>
          </a:p>
        </p:txBody>
      </p:sp>
      <p:sp>
        <p:nvSpPr>
          <p:cNvPr id="102" name="Text 41">
            <a:extLst>
              <a:ext uri="{FF2B5EF4-FFF2-40B4-BE49-F238E27FC236}">
                <a16:creationId xmlns:a16="http://schemas.microsoft.com/office/drawing/2014/main" id="{09CE10E2-80F2-0F39-64AB-63C864EC4D7B}"/>
              </a:ext>
            </a:extLst>
          </p:cNvPr>
          <p:cNvSpPr/>
          <p:nvPr/>
        </p:nvSpPr>
        <p:spPr>
          <a:xfrm>
            <a:off x="6263640" y="20423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워크드 예시 — 45세 남성</a:t>
            </a:r>
            <a:endParaRPr lang="en-US" sz="1400" dirty="0"/>
          </a:p>
        </p:txBody>
      </p:sp>
      <p:graphicFrame>
        <p:nvGraphicFramePr>
          <p:cNvPr id="104" name="Table 1">
            <a:extLst>
              <a:ext uri="{FF2B5EF4-FFF2-40B4-BE49-F238E27FC236}">
                <a16:creationId xmlns:a16="http://schemas.microsoft.com/office/drawing/2014/main" id="{DA770D35-FBF9-62A9-11ED-AD7F8C50A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796017"/>
              </p:ext>
            </p:extLst>
          </p:nvPr>
        </p:nvGraphicFramePr>
        <p:xfrm>
          <a:off x="6263640" y="2408060"/>
          <a:ext cx="5349240" cy="234576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위험요인</a:t>
                      </a:r>
                      <a:endParaRPr lang="en-US" sz="1050" dirty="0"/>
                    </a:p>
                  </a:txBody>
                  <a:tcPr marR="45720" anchor="ctr">
                    <a:lnB w="9525" cap="flat" cmpd="sng" algn="ctr">
                      <a:solidFill>
                        <a:srgbClr val="E3E8F5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</a:t>
                      </a:r>
                      <a:endParaRPr lang="en-US" sz="1050" dirty="0"/>
                    </a:p>
                  </a:txBody>
                  <a:tcPr marL="45720" marR="45720" anchor="ctr">
                    <a:lnB w="9525" cap="flat" cmpd="sng" algn="ctr">
                      <a:solidFill>
                        <a:srgbClr val="E3E8F5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출발점 (표준체)</a:t>
                      </a:r>
                      <a:endParaRPr lang="en-US" sz="1050" dirty="0"/>
                    </a:p>
                  </a:txBody>
                  <a:tcPr marR="45720" anchor="ctr"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/>
                    </a:p>
                  </a:txBody>
                  <a:tcPr marL="45720" marR="45720" anchor="ctr"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2형 당뇨 (조절 양호)</a:t>
                      </a:r>
                      <a:endParaRPr lang="en-US" sz="1050" dirty="0"/>
                    </a:p>
                  </a:txBody>
                  <a:tcPr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</a:t>
                      </a:r>
                      <a:endParaRPr lang="en-US" sz="1050" dirty="0"/>
                    </a:p>
                  </a:txBody>
                  <a:tcPr marL="45720"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비만 BMI 33</a:t>
                      </a:r>
                      <a:endParaRPr lang="en-US" sz="1050" dirty="0"/>
                    </a:p>
                  </a:txBody>
                  <a:tcPr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</a:t>
                      </a:r>
                      <a:endParaRPr lang="en-US" sz="1050" dirty="0"/>
                    </a:p>
                  </a:txBody>
                  <a:tcPr marL="45720"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가족력 (부 심근경색 55세)</a:t>
                      </a:r>
                      <a:endParaRPr lang="en-US" sz="1050" dirty="0"/>
                    </a:p>
                  </a:txBody>
                  <a:tcPr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</a:t>
                      </a:r>
                      <a:endParaRPr lang="en-US" sz="1050" dirty="0"/>
                    </a:p>
                  </a:txBody>
                  <a:tcPr marL="45720"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비흡연·규칙적 운동</a:t>
                      </a:r>
                      <a:endParaRPr lang="en-US" sz="1050" dirty="0"/>
                    </a:p>
                  </a:txBody>
                  <a:tcPr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</a:t>
                      </a:r>
                      <a:endParaRPr lang="en-US" sz="1050" dirty="0"/>
                    </a:p>
                  </a:txBody>
                  <a:tcPr marL="45720"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 (EM ratio)</a:t>
                      </a:r>
                      <a:endParaRPr lang="en-US" sz="1050" dirty="0"/>
                    </a:p>
                  </a:txBody>
                  <a:tcPr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175%</a:t>
                      </a:r>
                      <a:endParaRPr lang="en-US" sz="1050" dirty="0"/>
                    </a:p>
                  </a:txBody>
                  <a:tcPr marL="45720" marR="45720" anchor="ctr">
                    <a:lnT w="635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6" name="Shape 42">
            <a:extLst>
              <a:ext uri="{FF2B5EF4-FFF2-40B4-BE49-F238E27FC236}">
                <a16:creationId xmlns:a16="http://schemas.microsoft.com/office/drawing/2014/main" id="{6CD67780-D4E0-3878-8125-3E0D80CB1D97}"/>
              </a:ext>
            </a:extLst>
          </p:cNvPr>
          <p:cNvSpPr/>
          <p:nvPr/>
        </p:nvSpPr>
        <p:spPr>
          <a:xfrm>
            <a:off x="6263640" y="48445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8" name="Text 43">
            <a:extLst>
              <a:ext uri="{FF2B5EF4-FFF2-40B4-BE49-F238E27FC236}">
                <a16:creationId xmlns:a16="http://schemas.microsoft.com/office/drawing/2014/main" id="{EC38BAD9-B7A8-2FCF-6F55-459FAF271FBF}"/>
              </a:ext>
            </a:extLst>
          </p:cNvPr>
          <p:cNvSpPr/>
          <p:nvPr/>
        </p:nvSpPr>
        <p:spPr>
          <a:xfrm>
            <a:off x="6492240" y="48445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175% = 예상 사망률이 표준체의 1.75배 → 등급표상 대략 표준미달체(약 75% 할증) 구간에 해당. 점수가 높을수록 할증률도 커진다.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 자동화 현황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자동화 아키텍처 — AI/ML → 룰엔진 → 상태머신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28900" cy="2377440"/>
          </a:xfrm>
          <a:prstGeom prst="roundRect">
            <a:avLst>
              <a:gd name="adj" fmla="val 2692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97330" y="1810512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98" y="20116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65176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· 통계모델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108960"/>
            <a:ext cx="2354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데이터를 입력받아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가능성·사고 확률·위험점수를 계산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177540" y="1600200"/>
            <a:ext cx="182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60420" y="1600200"/>
            <a:ext cx="2628900" cy="2377440"/>
          </a:xfrm>
          <a:prstGeom prst="roundRect">
            <a:avLst>
              <a:gd name="adj" fmla="val 2692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09110" y="1810512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278" y="201168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7580" y="265176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97580" y="3108960"/>
            <a:ext cx="2354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위험점수 + 고객정보 조건을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기준으로 업무 규칙을 적용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989320" y="1600200"/>
            <a:ext cx="182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172200" y="1600200"/>
            <a:ext cx="2628900" cy="2377440"/>
          </a:xfrm>
          <a:prstGeom prst="roundRect">
            <a:avLst>
              <a:gd name="adj" fmla="val 2692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20890" y="1810512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058" y="201168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65176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State Machine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09360" y="3108960"/>
            <a:ext cx="2354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적용 결과에 따라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청약 상태를 변경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801100" y="1600200"/>
            <a:ext cx="182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8983980" y="1600200"/>
            <a:ext cx="2628900" cy="2377440"/>
          </a:xfrm>
          <a:prstGeom prst="roundRect">
            <a:avLst>
              <a:gd name="adj" fmla="val 2692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932670" y="1810512"/>
            <a:ext cx="731520" cy="731520"/>
          </a:xfrm>
          <a:prstGeom prst="ellipse">
            <a:avLst/>
          </a:prstGeom>
          <a:solidFill>
            <a:srgbClr val="2A3574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838" y="201168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21140" y="265176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결과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121140" y="3108960"/>
            <a:ext cx="2354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위험등급 / 승인상태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할증 / 수동심사 / 거절 확정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업계 관점 3단계 흐름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548640" y="4617720"/>
            <a:ext cx="353568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731520" y="475488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자동심사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31520" y="5120640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고지사항·질병력·직업·가입금액 기준으로 가입 가능 여부를 빠르게 판단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312920" y="4617720"/>
            <a:ext cx="353568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4495800" y="475488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위험예측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495800" y="5120640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계약·청구·사고빈도·손해율 데이터로 위험등급을 예측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8077200" y="4617720"/>
            <a:ext cx="353568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8260080" y="475488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언더라이터 보조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8260080" y="5120640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심사 기준 검색·문서 요약·판단 근거 제시, 최종 판단은 사람이 수행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 자동화 현황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국내 보험사 사례와 완전 자동화의 한계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94396"/>
              </p:ext>
            </p:extLst>
          </p:nvPr>
        </p:nvGraphicFramePr>
        <p:xfrm>
          <a:off x="548640" y="1508760"/>
          <a:ext cx="11064240" cy="24323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시스템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내용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삼성화재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장기U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장기보험 전 상품 AI 자동심사, 담보별 할증·부담보 조건부 심사까지 자동화 확대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KB손보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인수심사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사고 패턴 분석으로 사고 가능성 예측, 인수심사 효율화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신한라이프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원더라이터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2,100개 질병별 심사 기준으로 위험등급 예측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교보생명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자연어처리 기반 청약서 분석, 자동 승낙 또는 직원 판단 참고자료 제공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63440"/>
            <a:ext cx="11064240" cy="1783080"/>
          </a:xfrm>
          <a:prstGeom prst="roundRect">
            <a:avLst>
              <a:gd name="adj" fmla="val 3590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완전 자동화가 어려운 이유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13892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불완전성 · 설명가능성 부족 · 예외 케이스 과다 · 모델 편향 가능성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거절·할증 등 소비자 권리에 직접 영향 → 고위험 판단은 수동심사로 분기, 내부통제 필요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현실적 방향은 ‘완전 자동화’가 아니라 자동화 영역을 넓히고 사람이 봐야 할 케이스를 정확히 선별하는 것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IT 구조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요율표 테이블 &amp; 룰/정책 테이블로 관리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017520"/>
          </a:xfrm>
          <a:prstGeom prst="roundRect">
            <a:avLst>
              <a:gd name="adj" fmla="val 2121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928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요율표 테이블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보험료는 상품·담보·나이·성별·기간·가입금액·적용일자에 따라 달라지고, 요율 자체도 계속 변한다 → DB 테이블로 관리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9260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컬럼 예시: 상품코드·담보코드·성별·나이·보험기간·납입기간·가입금액구간·위험등급·적용시작일·적용종료일·요율버전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263640" y="1508760"/>
            <a:ext cx="5349240" cy="3017520"/>
          </a:xfrm>
          <a:prstGeom prst="roundRect">
            <a:avLst>
              <a:gd name="adj" fmla="val 2121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89280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룰 · 정책 테이블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492240" y="2286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 기준은 상품개정·손해율변화·지급경험·규정변경·인수정책변경에 따라 계속 바뀐다 → 룰 엔진/정책 테이블로 관리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92240" y="3200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항목: 룰 버전·요율 버전·상품 버전·적용 시작일/종료일·변경 이력(누가·언제·왜)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548640" y="529639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 관리 — </a:t>
            </a:r>
            <a:r>
              <a:rPr lang="en-US" sz="135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언더라이팅은</a:t>
            </a: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승인/거절뿐 아니라 여러 상태를 거친다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5707870"/>
            <a:ext cx="1164336" cy="6400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20" name="Text 16"/>
          <p:cNvSpPr/>
          <p:nvPr/>
        </p:nvSpPr>
        <p:spPr>
          <a:xfrm>
            <a:off x="566928" y="5707870"/>
            <a:ext cx="112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</a:t>
            </a:r>
            <a:endParaRPr lang="en-US" sz="830" dirty="0"/>
          </a:p>
        </p:txBody>
      </p:sp>
      <p:sp>
        <p:nvSpPr>
          <p:cNvPr id="21" name="Shape 17"/>
          <p:cNvSpPr/>
          <p:nvPr/>
        </p:nvSpPr>
        <p:spPr>
          <a:xfrm>
            <a:off x="1786128" y="5707870"/>
            <a:ext cx="1164336" cy="6400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22" name="Text 18"/>
          <p:cNvSpPr/>
          <p:nvPr/>
        </p:nvSpPr>
        <p:spPr>
          <a:xfrm>
            <a:off x="1804416" y="5707870"/>
            <a:ext cx="112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자동심사중</a:t>
            </a:r>
            <a:endParaRPr lang="en-US" sz="830" dirty="0"/>
          </a:p>
        </p:txBody>
      </p:sp>
      <p:sp>
        <p:nvSpPr>
          <p:cNvPr id="23" name="Shape 19"/>
          <p:cNvSpPr/>
          <p:nvPr/>
        </p:nvSpPr>
        <p:spPr>
          <a:xfrm>
            <a:off x="3023616" y="5707870"/>
            <a:ext cx="1164336" cy="6400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24" name="Text 20"/>
          <p:cNvSpPr/>
          <p:nvPr/>
        </p:nvSpPr>
        <p:spPr>
          <a:xfrm>
            <a:off x="3041904" y="5707870"/>
            <a:ext cx="112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보류</a:t>
            </a:r>
            <a:endParaRPr lang="en-US" sz="830" dirty="0"/>
          </a:p>
        </p:txBody>
      </p:sp>
      <p:sp>
        <p:nvSpPr>
          <p:cNvPr id="25" name="Shape 21"/>
          <p:cNvSpPr/>
          <p:nvPr/>
        </p:nvSpPr>
        <p:spPr>
          <a:xfrm>
            <a:off x="4261104" y="5707870"/>
            <a:ext cx="1164336" cy="6400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26" name="Text 22"/>
          <p:cNvSpPr/>
          <p:nvPr/>
        </p:nvSpPr>
        <p:spPr>
          <a:xfrm>
            <a:off x="4279392" y="5707870"/>
            <a:ext cx="112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추가서류요청</a:t>
            </a:r>
            <a:endParaRPr lang="en-US" sz="830" dirty="0"/>
          </a:p>
        </p:txBody>
      </p:sp>
      <p:sp>
        <p:nvSpPr>
          <p:cNvPr id="27" name="Shape 23"/>
          <p:cNvSpPr/>
          <p:nvPr/>
        </p:nvSpPr>
        <p:spPr>
          <a:xfrm>
            <a:off x="5498592" y="5707870"/>
            <a:ext cx="1164336" cy="6400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28" name="Text 24"/>
          <p:cNvSpPr/>
          <p:nvPr/>
        </p:nvSpPr>
        <p:spPr>
          <a:xfrm>
            <a:off x="5516880" y="5707870"/>
            <a:ext cx="112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수동심사중</a:t>
            </a:r>
            <a:endParaRPr lang="en-US" sz="830" dirty="0"/>
          </a:p>
        </p:txBody>
      </p:sp>
      <p:sp>
        <p:nvSpPr>
          <p:cNvPr id="29" name="Shape 25"/>
          <p:cNvSpPr/>
          <p:nvPr/>
        </p:nvSpPr>
        <p:spPr>
          <a:xfrm>
            <a:off x="6736080" y="5707870"/>
            <a:ext cx="1164336" cy="6400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30" name="Text 26"/>
          <p:cNvSpPr/>
          <p:nvPr/>
        </p:nvSpPr>
        <p:spPr>
          <a:xfrm>
            <a:off x="6754368" y="5707870"/>
            <a:ext cx="112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조건부승인</a:t>
            </a:r>
            <a:endParaRPr lang="en-US" sz="830" dirty="0"/>
          </a:p>
        </p:txBody>
      </p:sp>
      <p:sp>
        <p:nvSpPr>
          <p:cNvPr id="31" name="Shape 27"/>
          <p:cNvSpPr/>
          <p:nvPr/>
        </p:nvSpPr>
        <p:spPr>
          <a:xfrm>
            <a:off x="7973568" y="5707870"/>
            <a:ext cx="1164336" cy="6400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32" name="Text 28"/>
          <p:cNvSpPr/>
          <p:nvPr/>
        </p:nvSpPr>
        <p:spPr>
          <a:xfrm>
            <a:off x="7991856" y="5707870"/>
            <a:ext cx="112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고객동의대기</a:t>
            </a:r>
            <a:endParaRPr lang="en-US" sz="830" dirty="0"/>
          </a:p>
        </p:txBody>
      </p:sp>
      <p:sp>
        <p:nvSpPr>
          <p:cNvPr id="33" name="Shape 29"/>
          <p:cNvSpPr/>
          <p:nvPr/>
        </p:nvSpPr>
        <p:spPr>
          <a:xfrm>
            <a:off x="9211056" y="5707870"/>
            <a:ext cx="1164336" cy="6400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34" name="Text 30"/>
          <p:cNvSpPr/>
          <p:nvPr/>
        </p:nvSpPr>
        <p:spPr>
          <a:xfrm>
            <a:off x="9229344" y="5707870"/>
            <a:ext cx="112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최종승인</a:t>
            </a:r>
            <a:endParaRPr lang="en-US" sz="830" dirty="0"/>
          </a:p>
        </p:txBody>
      </p:sp>
      <p:sp>
        <p:nvSpPr>
          <p:cNvPr id="35" name="Shape 31"/>
          <p:cNvSpPr/>
          <p:nvPr/>
        </p:nvSpPr>
        <p:spPr>
          <a:xfrm>
            <a:off x="10448544" y="5707870"/>
            <a:ext cx="1164336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6" name="Text 32"/>
          <p:cNvSpPr/>
          <p:nvPr/>
        </p:nvSpPr>
        <p:spPr>
          <a:xfrm>
            <a:off x="10466832" y="5707870"/>
            <a:ext cx="112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계약성립</a:t>
            </a:r>
            <a:endParaRPr lang="en-US" sz="8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IT 구조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언더라이팅은 한 번으로 끝나지 않는다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인수 이후에도 사고·손해율 데이터가 계속 쌓이고, 그 데이터가 다음 심사 기준과 요율에 영향을 준다.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594610" cy="2377440"/>
          </a:xfrm>
          <a:prstGeom prst="roundRect">
            <a:avLst>
              <a:gd name="adj" fmla="val 2692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80185" y="2286000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53" y="24871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15468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인수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611880"/>
            <a:ext cx="2320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 결과에 따라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요율·조건 적용, 계약 성립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43250" y="2103120"/>
            <a:ext cx="228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371850" y="2103120"/>
            <a:ext cx="2594610" cy="2377440"/>
          </a:xfrm>
          <a:prstGeom prst="roundRect">
            <a:avLst>
              <a:gd name="adj" fmla="val 2692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03395" y="2286000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563" y="248716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09010" y="315468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사고·손해율 데이터 축적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509010" y="3611880"/>
            <a:ext cx="2320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청구 이력, 손해율,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빈도 데이터 누적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966460" y="2103120"/>
            <a:ext cx="228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195060" y="2103120"/>
            <a:ext cx="2594610" cy="2377440"/>
          </a:xfrm>
          <a:prstGeom prst="roundRect">
            <a:avLst>
              <a:gd name="adj" fmla="val 2692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26605" y="2286000"/>
            <a:ext cx="731520" cy="7315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773" y="248716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32220" y="315468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재평가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32220" y="3611880"/>
            <a:ext cx="2320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상품개정·손해율변화·지급경험·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규정변경 등을 반영해 재검토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789670" y="2103120"/>
            <a:ext cx="228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9018270" y="2103120"/>
            <a:ext cx="2594610" cy="2377440"/>
          </a:xfrm>
          <a:prstGeom prst="roundRect">
            <a:avLst>
              <a:gd name="adj" fmla="val 2692"/>
            </a:avLst>
          </a:prstGeom>
          <a:solidFill>
            <a:srgbClr val="1E2761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49815" y="2286000"/>
            <a:ext cx="731520" cy="731520"/>
          </a:xfrm>
          <a:prstGeom prst="ellipse">
            <a:avLst/>
          </a:prstGeom>
          <a:solidFill>
            <a:srgbClr val="2A3574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0983" y="248716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55430" y="315468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요율표·룰 재정비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155430" y="3611880"/>
            <a:ext cx="23202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기초율/심사기준을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버전으로 반영, 배치 검증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이 사이클이 반복되며 요율표·룰 테이블이 지속적으로 갱신된다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77240" y="5394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53212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54480" y="516636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요율표와 룰/정책 테이블은 한 번 만들고 끝이 아니라, 데이터와 기준 변화를 반영해 지속적으로 정리·정비해야 하는 대상이다.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IT 구조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언더라이팅 결과는 DB에 무조건 저장한다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960120" cy="9601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557784" cy="5577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783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심사 결과와 판단 근거를 남기지 않으면, 나중에 그 판단을 설명할 수 없다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898648"/>
            <a:ext cx="594360" cy="59436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099816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26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 판단의 근거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" y="331927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 시 붙인 조건(부담보·할증·감액)은 사고 발생 시 보험금 지급 여부 판단에 직접 영향을 준다.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269748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19088" y="2898648"/>
            <a:ext cx="594360" cy="59436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099816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78040" y="2926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 추적 (Append-only)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331927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적용된 룰/버전, 판단 근거, 심사자 정보를 수정하지 않고 이력으로만 누적한다.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70248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471416"/>
            <a:ext cx="594360" cy="59436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672584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4988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분쟁·재정산 대응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‘당시 왜 이 조건으로 인수됐는가’를 설명해야 할 의무에 대응한다.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17920" y="4270248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19088" y="4471416"/>
            <a:ext cx="594360" cy="59436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467258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44988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감사·내부통제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46520" y="48920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변경자·승인자·사유·적용일자까지 관리되어야 규제 대응이 가능하다.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</p:sp>
      <p:sp>
        <p:nvSpPr>
          <p:cNvPr id="30" name="Text 23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언더라이팅은 계약 전에 끝나는 </a:t>
            </a:r>
            <a:r>
              <a:rPr lang="en-US" sz="115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일이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ko-KR" alt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아니고</a:t>
            </a:r>
            <a:r>
              <a:rPr lang="en-US" altLang="ko-KR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인수조건은 사고 발생 후 보상 단계에도 그대로 영향을 준다.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계약 체결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언더라이팅 승낙 이후 — 계약 체결과 증권 발행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다룬 두 축(보험료 산출·언더라이팅)이 실제로 이어지는 전체 흐름: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303020" cy="1051560"/>
          </a:xfrm>
          <a:prstGeom prst="roundRect">
            <a:avLst>
              <a:gd name="adj" fmla="val 6087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828800"/>
            <a:ext cx="12481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상품선택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51660" y="1828800"/>
            <a:ext cx="9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43100" y="1828800"/>
            <a:ext cx="1303020" cy="1051560"/>
          </a:xfrm>
          <a:prstGeom prst="roundRect">
            <a:avLst>
              <a:gd name="adj" fmla="val 6087"/>
            </a:avLst>
          </a:prstGeom>
          <a:solidFill>
            <a:srgbClr val="DDE6FA"/>
          </a:solidFill>
          <a:ln/>
        </p:spPr>
      </p:sp>
      <p:sp>
        <p:nvSpPr>
          <p:cNvPr id="11" name="Text 9"/>
          <p:cNvSpPr/>
          <p:nvPr/>
        </p:nvSpPr>
        <p:spPr>
          <a:xfrm>
            <a:off x="1970532" y="1828800"/>
            <a:ext cx="12481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예상보험료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46120" y="1828800"/>
            <a:ext cx="9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1303020" cy="1051560"/>
          </a:xfrm>
          <a:prstGeom prst="roundRect">
            <a:avLst>
              <a:gd name="adj" fmla="val 6087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828800"/>
            <a:ext cx="12481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청약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40580" y="1828800"/>
            <a:ext cx="9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32020" y="1828800"/>
            <a:ext cx="1303020" cy="1051560"/>
          </a:xfrm>
          <a:prstGeom prst="roundRect">
            <a:avLst>
              <a:gd name="adj" fmla="val 6087"/>
            </a:avLst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9452" y="1828800"/>
            <a:ext cx="12481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1회보험료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0" y="1828800"/>
            <a:ext cx="9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1303020" cy="1051560"/>
          </a:xfrm>
          <a:prstGeom prst="roundRect">
            <a:avLst>
              <a:gd name="adj" fmla="val 6087"/>
            </a:avLst>
          </a:prstGeom>
          <a:solidFill>
            <a:srgbClr val="DDE6FA"/>
          </a:solidFill>
          <a:ln/>
        </p:spPr>
      </p:sp>
      <p:sp>
        <p:nvSpPr>
          <p:cNvPr id="20" name="Text 18"/>
          <p:cNvSpPr/>
          <p:nvPr/>
        </p:nvSpPr>
        <p:spPr>
          <a:xfrm>
            <a:off x="6153912" y="1828800"/>
            <a:ext cx="12481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언더라이팅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29500" y="1828800"/>
            <a:ext cx="9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20940" y="1828800"/>
            <a:ext cx="1303020" cy="1051560"/>
          </a:xfrm>
          <a:prstGeom prst="roundRect">
            <a:avLst>
              <a:gd name="adj" fmla="val 6087"/>
            </a:avLst>
          </a:prstGeom>
          <a:solidFill>
            <a:srgbClr val="F4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7548372" y="1828800"/>
            <a:ext cx="12481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승낙·최종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보험료확정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1828800"/>
            <a:ext cx="9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15400" y="1828800"/>
            <a:ext cx="1303020" cy="1051560"/>
          </a:xfrm>
          <a:prstGeom prst="roundRect">
            <a:avLst>
              <a:gd name="adj" fmla="val 6087"/>
            </a:avLst>
          </a:prstGeom>
          <a:solidFill>
            <a:srgbClr val="F4F7FC"/>
          </a:solidFill>
          <a:ln/>
        </p:spPr>
      </p:sp>
      <p:sp>
        <p:nvSpPr>
          <p:cNvPr id="26" name="Text 24"/>
          <p:cNvSpPr/>
          <p:nvPr/>
        </p:nvSpPr>
        <p:spPr>
          <a:xfrm>
            <a:off x="8942832" y="1828800"/>
            <a:ext cx="12481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보험계약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성립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218420" y="1828800"/>
            <a:ext cx="9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309860" y="1828800"/>
            <a:ext cx="130302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10337292" y="1828800"/>
            <a:ext cx="12481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보험증권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2999232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EEF3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312724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246120"/>
            <a:ext cx="292608" cy="29260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417320" y="2999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언더라이팅 전에 보험료부터 낼까? — 승낙 전 보호(상법 제638조의2 제3항): 청약과 함께 보험료 상당액을 낸 경우, 특별한 거절 사유가 없는 한 승낙 전 사고에도 보장 책임을 진다 (인보험 신체검사 미시행 시 예외). 심사 중 공백 없이 가입자를 보호하기 위한 장치다.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54864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보험증권 발행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548640" y="4279392"/>
            <a:ext cx="11064240" cy="1463040"/>
          </a:xfrm>
          <a:prstGeom prst="roundRect">
            <a:avLst>
              <a:gd name="adj" fmla="val 4375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49808" y="4434840"/>
            <a:ext cx="548640" cy="54864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636008"/>
            <a:ext cx="146304" cy="146304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417320" y="4370832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상법상 보험사는 계약 성립 후 지체 없이 보험증권을 작성해 계약자에게 교부해야 한다 (최초 보험료 미납 시 예외).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증권은 계약의 성립·내용을 증명하는 증거 서류로, 계약자·피보험자·수익자, 보험목적·기간·금액·보험료 등을 기재한다.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관점: 증권 발행은 계약 상태를 ‘승인 → 증권발행 → 계약유효’로 전이시키는 확정 시점이며, 다음 주 ‘납입·유지’로 이어진다.</a:t>
            </a:r>
            <a:endParaRPr lang="en-US" sz="1080" dirty="0"/>
          </a:p>
        </p:txBody>
      </p:sp>
      <p:sp>
        <p:nvSpPr>
          <p:cNvPr id="39" name="Shape 35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/>
        </p:spPr>
      </p:sp>
      <p:sp>
        <p:nvSpPr>
          <p:cNvPr id="40" name="Text 36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주는 이 계약이 ‘살아있는 동안’의 </a:t>
            </a:r>
            <a:r>
              <a:rPr lang="en-US" sz="11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이야기로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</a:t>
            </a:r>
            <a:r>
              <a:rPr lang="ko-KR" alt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집니다</a:t>
            </a:r>
            <a:r>
              <a:rPr lang="en-US" altLang="ko-KR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3주차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계약 생명주기 — 유지부터 지급까지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다음주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!!!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다룬 ‘계약 체결·증권 발행’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계약이 살아있는 동안과 사고 이후의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흐름을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다룹니다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35680" cy="1234440"/>
          </a:xfrm>
          <a:prstGeom prst="roundRect">
            <a:avLst>
              <a:gd name="adj" fmla="val 5185"/>
            </a:avLst>
          </a:prstGeom>
          <a:solidFill>
            <a:srgbClr val="2A357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679192"/>
            <a:ext cx="257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납입 · 유지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정기 납입과 계약 유지 관리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2920" y="2514600"/>
            <a:ext cx="3535680" cy="1234440"/>
          </a:xfrm>
          <a:prstGeom prst="roundRect">
            <a:avLst>
              <a:gd name="adj" fmla="val 5185"/>
            </a:avLst>
          </a:prstGeom>
          <a:solidFill>
            <a:srgbClr val="2A357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5800" y="269748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958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90160" y="2679192"/>
            <a:ext cx="257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미납 · 실효 · 부활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41520" y="315468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미납 시 실효 처리, 3년 내 부활 절차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77200" y="2514600"/>
            <a:ext cx="3535680" cy="1234440"/>
          </a:xfrm>
          <a:prstGeom prst="roundRect">
            <a:avLst>
              <a:gd name="adj" fmla="val 5185"/>
            </a:avLst>
          </a:prstGeom>
          <a:solidFill>
            <a:srgbClr val="2A3574"/>
          </a:solidFill>
          <a:ln/>
        </p:spPr>
      </p:sp>
      <p:sp>
        <p:nvSpPr>
          <p:cNvPr id="17" name="Shape 15"/>
          <p:cNvSpPr/>
          <p:nvPr/>
        </p:nvSpPr>
        <p:spPr>
          <a:xfrm>
            <a:off x="8260080" y="269748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6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54440" y="2679192"/>
            <a:ext cx="257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접수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05800" y="315468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보험사고 발생 신고 및 접수 프로세스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535680" cy="1234440"/>
          </a:xfrm>
          <a:prstGeom prst="roundRect">
            <a:avLst>
              <a:gd name="adj" fmla="val 5185"/>
            </a:avLst>
          </a:prstGeom>
          <a:solidFill>
            <a:srgbClr val="2A3574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142232"/>
            <a:ext cx="257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손해사정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61772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손해액·사고 경위 조사 및 산정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12920" y="3977640"/>
            <a:ext cx="3535680" cy="1234440"/>
          </a:xfrm>
          <a:prstGeom prst="roundRect">
            <a:avLst>
              <a:gd name="adj" fmla="val 5185"/>
            </a:avLst>
          </a:prstGeom>
          <a:solidFill>
            <a:srgbClr val="2A3574"/>
          </a:solidFill>
          <a:ln/>
        </p:spPr>
      </p:sp>
      <p:sp>
        <p:nvSpPr>
          <p:cNvPr id="27" name="Shape 25"/>
          <p:cNvSpPr/>
          <p:nvPr/>
        </p:nvSpPr>
        <p:spPr>
          <a:xfrm>
            <a:off x="4495800" y="416052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8" name="Text 26"/>
          <p:cNvSpPr/>
          <p:nvPr/>
        </p:nvSpPr>
        <p:spPr>
          <a:xfrm>
            <a:off x="449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90160" y="4142232"/>
            <a:ext cx="257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 심사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41520" y="461772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면책·부책 여부와 지급액 심사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77200" y="3977640"/>
            <a:ext cx="3535680" cy="1234440"/>
          </a:xfrm>
          <a:prstGeom prst="roundRect">
            <a:avLst>
              <a:gd name="adj" fmla="val 5185"/>
            </a:avLst>
          </a:prstGeom>
          <a:solidFill>
            <a:srgbClr val="2A3574"/>
          </a:solidFill>
          <a:ln/>
        </p:spPr>
      </p:sp>
      <p:sp>
        <p:nvSpPr>
          <p:cNvPr id="32" name="Shape 30"/>
          <p:cNvSpPr/>
          <p:nvPr/>
        </p:nvSpPr>
        <p:spPr>
          <a:xfrm>
            <a:off x="8260080" y="416052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33" name="Text 31"/>
          <p:cNvSpPr/>
          <p:nvPr/>
        </p:nvSpPr>
        <p:spPr>
          <a:xfrm>
            <a:off x="826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54440" y="4142232"/>
            <a:ext cx="257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보험금 지급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05800" y="461772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 완료 후 최종 보험금 지급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발표: 은정 · InsureFlow 6팀 보험 시스템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2382</Words>
  <Application>Microsoft Office PowerPoint</Application>
  <PresentationFormat>와이드스크린</PresentationFormat>
  <Paragraphs>442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보험료 구조·산출과 언더라이팅</dc:title>
  <dc:subject>PptxGenJS Presentation</dc:subject>
  <dc:creator>은정</dc:creator>
  <cp:lastModifiedBy>은정 이</cp:lastModifiedBy>
  <cp:revision>18</cp:revision>
  <dcterms:created xsi:type="dcterms:W3CDTF">2026-07-06T04:56:57Z</dcterms:created>
  <dcterms:modified xsi:type="dcterms:W3CDTF">2026-07-09T08:42:57Z</dcterms:modified>
</cp:coreProperties>
</file>