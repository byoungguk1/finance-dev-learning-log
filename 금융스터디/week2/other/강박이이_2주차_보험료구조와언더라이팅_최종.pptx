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78" y="127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presProps" Target="presProps.xml"  /><Relationship Id="rId24" Type="http://schemas.openxmlformats.org/officeDocument/2006/relationships/viewProps" Target="viewProps.xml"  /><Relationship Id="rId25" Type="http://schemas.openxmlformats.org/officeDocument/2006/relationships/theme" Target="theme/theme1.xml"  /><Relationship Id="rId26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2338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6 보험 시스템 스터디 2주차 발표 시작 인사 및 주제 소개. 오늘 다룰 세 가지 큰 축(산출, 언더라이팅, 체결) 소개.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실효는 미납으로 효력 상실, 부활은 3년 내 밀린 보험료 납입 후 회복하는 절차임.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업무 순서 로드맵: 상품설계(요율표)→예상보험료 산출→청약→언더라이팅→승낙·확정→계약성립·증권발행. 오늘은 이 흐름을 세 파트로 나누어 진행. 파트별 시작 시 현재 위치를 짚어줄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영업보험료 = 순보험료 + 부가보험료. 보장성 상품은 저축보험료 비중이 낮으며, IT 관점에서는 각 재원을 별도 준비금 계정으로 관리함.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'넉넉하게 잡아두자'는 보수적 접근이 핵심. 이차익 발생 원리는 낮은 예정이자율 설정에 있음.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최적가정(Best Estimate)은 안전할증 없는 현실적 추정값. 목표이익 미달 시 시산보험료를 조정하며 반복함.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2013년 도입은 IFRS17(시가평가) 대응을 위한 기술적 토대 마련 목적임.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위험을 무조건 피하는 게 아니라, 조건을 붙여 '감당할 수 있는 위험'인지 구분하는 것임.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역선택 방지는 보험 생태계 붕괴(보험료 폭등)를 막는 필수 장치임.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도덕적/재정적 요소는 주관적 판단이 중요해 언더라이터의 전문성이 핵심임.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표준미달체는 거절이 아니라 할증이나 특정 부위 제외(부담보) 조건으로 인수함.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룰 엔진은 판단(Logic)을, 상태머신은 단계(Process)를 관리함.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금융소비자보호법에 따라 할증/거절 사유를 명확히 설명해야 하므로 사람이 최종 개입함.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작년 가입자의 요율을 확인해야 하므로 적용시작/종료일을 포함한 버전 관리가 필수임.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손해율 급변 시 트리거 기반 수시 검토와 연 1회 정기 검토를 병행함.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Append-only는 데이터 신뢰성 증명의 핵심이며, 보상 단계와 직결됨.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관점에서 증권 발행은 상태가 '계약유효'로 확정되는 최종 전이 시점임.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주에는 계약이 '살아있는 동안' 벌어지는 IT 프로세스를 다룸.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Relationship Id="rId6" Type="http://schemas.openxmlformats.org/officeDocument/2006/relationships/image" Target="../media/image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7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1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1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1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13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1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15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16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17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18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shiel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554480"/>
            <a:ext cx="1234440" cy="1234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063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강박이이  ·  보험 시스템 스터디  ·  2주차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3474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367528" y="4343400"/>
            <a:ext cx="146304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InsureFlow 보험 시스템 스터디  ·  발표자: </a:t>
            </a:r>
            <a:r>
              <a:rPr lang="ko-KR" alt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</a:t>
            </a:r>
            <a:r>
              <a:rPr 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은정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07. 10 (금)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bookope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복습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복습 — 1주차(06/26) 킥오프: 도메인 개념과 용어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731742"/>
            <a:ext cx="53949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6890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보험의 본질 (Risk Pooling)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23466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분산 — 대수의 법칙 &amp; 수지상등의 원칙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72200" y="1731742"/>
            <a:ext cx="53949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86890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구조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0" y="223466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보험료(계약자 납입) vs 보험금(사고 시 지급)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3240502"/>
            <a:ext cx="53949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37766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3자 관계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77240" y="374342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계약자 - 피보험자 - 수익자 (1:N 모델링 가능)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172200" y="3240502"/>
            <a:ext cx="53949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337766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실효 · 부활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00800" y="374342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미납으로 효력 상실 → 3년 내 부활 절차 (3주차 상세)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484070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용어 6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48640" y="5206462"/>
            <a:ext cx="1615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5206462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보장개시일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2438400" y="5206462"/>
            <a:ext cx="1615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38400" y="5206462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면책기간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328160" y="5206462"/>
            <a:ext cx="1615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28160" y="5206462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고지의무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0" y="5206462"/>
            <a:ext cx="1615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5206462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해지환급금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8107680" y="5206462"/>
            <a:ext cx="1615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07680" y="5206462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실효/부활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997440" y="5206462"/>
            <a:ext cx="1615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997440" y="5206462"/>
            <a:ext cx="161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공시이율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tren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오늘의 흐름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흐름 — 실제 업무 순서 그대로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요율표(Rate Table)  </a:t>
            </a: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조건별(나이·성별 등) 보험료 가격 기준표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1615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03504" y="2500255"/>
            <a:ext cx="150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상품설계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(요율표)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164080" y="22860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2438400" y="2286000"/>
            <a:ext cx="1615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93264" y="2491866"/>
            <a:ext cx="150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예상보험료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53840" y="22860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4328160" y="2286000"/>
            <a:ext cx="1615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3024" y="2500255"/>
            <a:ext cx="150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943600" y="22860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6217920" y="2286000"/>
            <a:ext cx="1615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72784" y="2500255"/>
            <a:ext cx="150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언더라이팅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833360" y="22860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8107680" y="2286000"/>
            <a:ext cx="1615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62544" y="2500255"/>
            <a:ext cx="150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승낙·보험료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723120" y="22860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9997440" y="2286000"/>
            <a:ext cx="1615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2304" y="2500255"/>
            <a:ext cx="150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계약성립·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증권발행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48640" y="3566160"/>
            <a:ext cx="344424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28" name="Image 1" descr="/home/claude/deck_build2/icons/barchart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49040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078480" y="3703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777240" y="434340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구조와 산출</a:t>
            </a:r>
            <a:endParaRPr lang="en-US" sz="1650" dirty="0"/>
          </a:p>
        </p:txBody>
      </p:sp>
      <p:sp>
        <p:nvSpPr>
          <p:cNvPr id="31" name="Text 27"/>
          <p:cNvSpPr/>
          <p:nvPr/>
        </p:nvSpPr>
        <p:spPr>
          <a:xfrm>
            <a:off x="777240" y="4892040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3이원 방식 vs CFP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4358640" y="3566160"/>
            <a:ext cx="344424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33" name="Image 2" descr="/home/claude/deck_build2/icons/shield_sk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7240" y="3749040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888480" y="3703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200" dirty="0"/>
          </a:p>
        </p:txBody>
      </p:sp>
      <p:sp>
        <p:nvSpPr>
          <p:cNvPr id="35" name="Text 30"/>
          <p:cNvSpPr/>
          <p:nvPr/>
        </p:nvSpPr>
        <p:spPr>
          <a:xfrm>
            <a:off x="4587240" y="434340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언더라이팅</a:t>
            </a:r>
            <a:endParaRPr lang="en-US" sz="1650" dirty="0"/>
          </a:p>
        </p:txBody>
      </p:sp>
      <p:sp>
        <p:nvSpPr>
          <p:cNvPr id="36" name="Text 31"/>
          <p:cNvSpPr/>
          <p:nvPr/>
        </p:nvSpPr>
        <p:spPr>
          <a:xfrm>
            <a:off x="4587240" y="4892040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 · AI 자동화 · IT 구조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8168640" y="3566160"/>
            <a:ext cx="344424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38" name="Image 3" descr="/home/claude/deck_build2/icons/filetext_sk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240" y="3749040"/>
            <a:ext cx="457200" cy="4572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0698480" y="3703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200" dirty="0"/>
          </a:p>
        </p:txBody>
      </p:sp>
      <p:sp>
        <p:nvSpPr>
          <p:cNvPr id="40" name="Text 34"/>
          <p:cNvSpPr/>
          <p:nvPr/>
        </p:nvSpPr>
        <p:spPr>
          <a:xfrm>
            <a:off x="8397240" y="434340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체결 및 증권 발행</a:t>
            </a:r>
            <a:endParaRPr lang="en-US" sz="1650" dirty="0"/>
          </a:p>
        </p:txBody>
      </p:sp>
      <p:sp>
        <p:nvSpPr>
          <p:cNvPr id="41" name="Text 35"/>
          <p:cNvSpPr/>
          <p:nvPr/>
        </p:nvSpPr>
        <p:spPr>
          <a:xfrm>
            <a:off x="8397240" y="4892040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승낙 이후 계약 성립 과정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보험료 구조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영업보험료 구성 — 우리가 내는 돈의 정체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1106424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수지상등의 원칙  </a:t>
            </a: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수입 총액 = 지출 총액 (보험금 + 사업비)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023360" y="2103120"/>
            <a:ext cx="411480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3360" y="21031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영업보험료</a:t>
            </a: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고객의 </a:t>
            </a:r>
            <a:r>
              <a:rPr 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</a:t>
            </a: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납입액)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937760" y="2697480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23760" y="2697480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2971800"/>
            <a:ext cx="22860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88920" y="2971800"/>
            <a:ext cx="329184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88920" y="2971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순보험료 — 보험금 지급 재원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72200" y="2971800"/>
            <a:ext cx="329184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2971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부가보험료 — 사업 운영 비용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259461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3840480"/>
            <a:ext cx="2228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위험보험료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31520" y="4206240"/>
            <a:ext cx="22288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사망·질병 사고 대비 지급 재원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371850" y="3703320"/>
            <a:ext cx="259461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54730" y="3840480"/>
            <a:ext cx="2228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저축보험료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3554730" y="4206240"/>
            <a:ext cx="22288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만기환급금·중도급부금 재원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95060" y="3703320"/>
            <a:ext cx="259461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77940" y="3840480"/>
            <a:ext cx="2228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신계약비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377940" y="4206240"/>
            <a:ext cx="22288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설계사 수당, 청약서 발행 등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018270" y="3703320"/>
            <a:ext cx="259461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201150" y="3840480"/>
            <a:ext cx="2228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유지비·수금비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9201150" y="4206240"/>
            <a:ext cx="22288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유지관리 및 수납 비용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5349240"/>
            <a:ext cx="1106424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53492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균형을 실제로 계산해내는 두 가지 방법이 </a:t>
            </a:r>
            <a:r>
              <a:rPr lang="en-US" altLang="ko-KR" sz="13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r>
              <a:rPr lang="ko-KR" altLang="en-US" sz="13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이원 방식과 </a:t>
            </a:r>
            <a:r>
              <a:rPr lang="en-US" altLang="ko-KR" sz="13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CFP</a:t>
            </a:r>
            <a:r>
              <a:rPr lang="ko-KR" altLang="en-US" sz="13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이다</a:t>
            </a:r>
            <a:r>
              <a:rPr lang="en-US" altLang="ko-KR" sz="13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bar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보험료 산출 ①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3이원 방식 — “</a:t>
            </a:r>
            <a:r>
              <a:rPr lang="ko-KR" alt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넉넉하게 </a:t>
            </a:r>
            <a:r>
              <a:rPr lang="en-US" sz="22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보수적으로</a:t>
            </a: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잡고 사후 정산”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</a:t>
            </a:r>
            <a:r>
              <a:rPr lang="en-US" sz="1500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예정기초율만</a:t>
            </a: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</a:t>
            </a:r>
            <a:r>
              <a:rPr lang="ko-KR" alt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하여 </a:t>
            </a:r>
            <a:r>
              <a:rPr lang="ko-KR" altLang="en-US" sz="1500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수지상등의</a:t>
            </a:r>
            <a:r>
              <a:rPr lang="ko-KR" alt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원칙이 성립하도록 보험료를 산출하는</a:t>
            </a: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전통적</a:t>
            </a: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방식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3444240" cy="15087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1488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 err="1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예정위험률</a:t>
            </a:r>
            <a:r>
              <a:rPr lang="en-US" sz="16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(q)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77240" y="251460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 확률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2834640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안전할증 — 일부러 넉넉히 잡는 여유분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58640" y="2011680"/>
            <a:ext cx="3444240" cy="15087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87240" y="21488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 err="1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예정이자율</a:t>
            </a:r>
            <a:r>
              <a:rPr lang="en-US" sz="16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en-US" sz="1650" b="1" dirty="0" err="1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</a:t>
            </a:r>
            <a:r>
              <a:rPr lang="en-US" sz="16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4587240" y="251460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수익률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87240" y="2834640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이차익 확보 위해 시중보다 낮게 설정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68640" y="2011680"/>
            <a:ext cx="3444240" cy="15087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97240" y="21488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예정사업비율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8397240" y="251460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비용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397240" y="2834640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실제보다 여유 있게 책정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사후 정산 (3익) — 3이원만의 특징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548640" y="4114800"/>
            <a:ext cx="344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114800"/>
            <a:ext cx="344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" y="4114800"/>
            <a:ext cx="326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위차익</a:t>
            </a: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위험차익</a:t>
            </a:r>
            <a:r>
              <a:rPr lang="en-US" altLang="ko-KR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사고 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 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예정 위험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358640" y="4114800"/>
            <a:ext cx="344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58640" y="4114800"/>
            <a:ext cx="344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450080" y="4114800"/>
            <a:ext cx="326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이차익
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수익 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 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예정 이자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168640" y="4114800"/>
            <a:ext cx="344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68640" y="4114800"/>
            <a:ext cx="344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260080" y="4114800"/>
            <a:ext cx="326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비차익
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비용 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 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예정 사업비 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5074920"/>
            <a:ext cx="11064240" cy="10515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r>
              <a:rPr lang="en-US" altLang="ko-KR" sz="14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ko-KR" altLang="en-US" sz="14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가격요소 반영이 제한적이고</a:t>
            </a:r>
            <a:r>
              <a:rPr lang="en-US" altLang="ko-KR" sz="14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4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전 수익성 분석이 어려움 </a:t>
            </a:r>
            <a:r>
              <a:rPr lang="en-US" altLang="ko-KR" sz="14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ko-KR" altLang="en-US" sz="14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현금흐름방식</a:t>
            </a:r>
            <a:r>
              <a:rPr lang="en-US" altLang="ko-KR" sz="14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(CFP) </a:t>
            </a:r>
            <a:r>
              <a:rPr lang="ko-KR" altLang="en-US" sz="14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bar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보험료 산출 ②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현금흐름방식(CFP : Cash</a:t>
            </a:r>
            <a:r>
              <a:rPr lang="ko-KR" alt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</a:t>
            </a:r>
            <a:r>
              <a:rPr lang="ko-KR" alt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2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Pricing</a:t>
            </a:r>
            <a:r>
              <a:rPr lang="en-US" sz="2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 </a:t>
            </a: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“정밀한 미래 시뮬레이션”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r>
              <a:rPr lang="ko-KR" alt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 </a:t>
            </a:r>
            <a:r>
              <a:rPr lang="ko-KR" altLang="en-US" sz="1500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기초율</a:t>
            </a:r>
            <a:r>
              <a:rPr lang="ko-KR" alt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외에 현금흐름에 영향을 주는 다양한 요소를 종합 반영하여 </a:t>
            </a:r>
            <a:r>
              <a:rPr lang="en-US" sz="1500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</a:t>
            </a: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현금흐름을 현실적으로 시뮬레이션하여 가격 결정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= 최적가정 원가 + 목표 이익(Profit Margin)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697480"/>
            <a:ext cx="1615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" y="2928513"/>
            <a:ext cx="15057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시산보험료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64080" y="269748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2438400" y="2697480"/>
            <a:ext cx="1615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93264" y="2920124"/>
            <a:ext cx="15057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최적가정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수립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053840" y="269748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4328160" y="2697480"/>
            <a:ext cx="1615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83024" y="2920124"/>
            <a:ext cx="15057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현금흐름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시뮬레이션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0" y="269748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6217920" y="2697480"/>
            <a:ext cx="1615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72784" y="2920124"/>
            <a:ext cx="15057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목표이익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833360" y="269748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8107680" y="2697480"/>
            <a:ext cx="1615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62544" y="2928513"/>
            <a:ext cx="15057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반복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(Iteration)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723120" y="269748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9997440" y="2697480"/>
            <a:ext cx="1615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52304" y="2928513"/>
            <a:ext cx="15057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민감도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효과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48640" y="4297680"/>
            <a:ext cx="3444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4297680"/>
            <a:ext cx="344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내역 투명화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358640" y="4297680"/>
            <a:ext cx="3444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58640" y="4297680"/>
            <a:ext cx="344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개발 유연성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8168640" y="4297680"/>
            <a:ext cx="3444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168640" y="4297680"/>
            <a:ext cx="344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전 수익성 선제 관리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548640" y="5074920"/>
            <a:ext cx="11064240" cy="10515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최적가정(Best Estimate)은 안전할증 없는 현실적 추정값 — 목표이익 미달 시 시산보험료를 조정하며 반복함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bar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보험료 산출 ③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3이원 vs CFP 비교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765925"/>
              </p:ext>
            </p:extLst>
          </p:nvPr>
        </p:nvGraphicFramePr>
        <p:xfrm>
          <a:off x="548640" y="1280160"/>
          <a:ext cx="11064240" cy="363931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3이원 방식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현금흐름방식(CFP)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핵심 정의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넉넉하게 보수적으로 잡고 사후 정산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정밀한 미래 시뮬레이션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430948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핵심 기준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50" dirty="0" err="1">
                          <a:latin typeface="Pretendard" charset="0"/>
                          <a:ea typeface="Pretendard" charset="0"/>
                          <a:cs typeface="Pretendard" charset="0"/>
                        </a:rPr>
                        <a:t>예정위험률</a:t>
                      </a: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 </a:t>
                      </a:r>
                      <a:r>
                        <a:rPr lang="en-US" altLang="ko-KR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∙ </a:t>
                      </a: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예정이자율 </a:t>
                      </a:r>
                      <a:r>
                        <a:rPr lang="en-US" altLang="ko-KR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∙ </a:t>
                      </a: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예정사업비율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3</a:t>
                      </a: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이원 포함 </a:t>
                      </a:r>
                      <a:r>
                        <a:rPr lang="en-US" altLang="ko-KR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+ </a:t>
                      </a:r>
                      <a:r>
                        <a:rPr lang="ko-KR" altLang="en-US" sz="1450" dirty="0" err="1">
                          <a:latin typeface="Pretendard" charset="0"/>
                          <a:ea typeface="Pretendard" charset="0"/>
                          <a:cs typeface="Pretendard" charset="0"/>
                        </a:rPr>
                        <a:t>해지율</a:t>
                      </a: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 </a:t>
                      </a:r>
                      <a:r>
                        <a:rPr lang="en-US" altLang="ko-KR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∙ </a:t>
                      </a: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투자수익률 </a:t>
                      </a:r>
                      <a:r>
                        <a:rPr lang="en-US" altLang="ko-KR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∙ </a:t>
                      </a: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판매규모 등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706548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가정 방식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 err="1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</a:t>
                      </a:r>
                      <a:r>
                        <a:rPr lang="ko-KR" alt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 예정기초울</a:t>
                      </a:r>
                      <a:r>
                        <a:rPr 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(</a:t>
                      </a:r>
                      <a:r>
                        <a:rPr lang="en-US" sz="1450" dirty="0" err="1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안전할증</a:t>
                      </a:r>
                      <a:r>
                        <a:rPr 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ko-KR" alt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포함</a:t>
                      </a:r>
                      <a:r>
                        <a:rPr 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최적가정 (Best Estimate)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계산 구조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 err="1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결정론적</a:t>
                      </a:r>
                      <a:r>
                        <a:rPr 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450" dirty="0" err="1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수식</a:t>
                      </a:r>
                      <a:r>
                        <a:rPr 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→ </a:t>
                      </a:r>
                      <a:r>
                        <a:rPr lang="ko-KR" alt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 산출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 err="1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확률론적</a:t>
                      </a:r>
                      <a:r>
                        <a:rPr 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450" dirty="0" err="1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시뮬레이션</a:t>
                      </a:r>
                      <a:r>
                        <a:rPr 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altLang="ko-KR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</a:t>
                      </a:r>
                      <a:r>
                        <a:rPr lang="ko-KR" alt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장점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계산이 쉽고 빠름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현실 반영도 높음, 수익성 선제 분석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한계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새로운 가격요소 반영이 제한적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산출 복잡</a:t>
                      </a:r>
                      <a:r>
                        <a:rPr lang="en-US" altLang="ko-KR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, </a:t>
                      </a:r>
                      <a:r>
                        <a:rPr lang="ko-KR" altLang="en-US" sz="145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전산시스템 의존도 높음</a:t>
                      </a:r>
                      <a:endParaRPr lang="en-US" sz="14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332276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191031"/>
            <a:ext cx="2606040" cy="10515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5191031"/>
            <a:ext cx="2606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2013.04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548640" y="5821967"/>
            <a:ext cx="26060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생보업계 본격 도입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429000" y="5191031"/>
            <a:ext cx="8183880" cy="10515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0" y="5191031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2013년 도입은 IFRS17(시가평가) 대응을 위한 기술적 토대 마련 목적임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언더라이팅 ①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언더라이팅이란 — 정의와 기원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11009376" cy="11887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기원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39" y="1755648"/>
            <a:ext cx="933921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1680년대 런던 로이즈 커피하우스 — 계약서 아래(Under)에 서명(Writing)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05800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" y="4112864"/>
            <a:ext cx="2450592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위험 평가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108960" y="405800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3383280" y="405800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8144" y="4112864"/>
            <a:ext cx="2450592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위험등급 분류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943600" y="405800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6217920" y="405800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4112864"/>
            <a:ext cx="2450592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인수 여부 결정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778240" y="405800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9052560" y="405800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07424" y="4112864"/>
            <a:ext cx="2450592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보험료·조건 결정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48640" y="4997266"/>
            <a:ext cx="11064240" cy="12801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" y="4997266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위험을 무조건 피하는 게 아니라, 조건을 붙여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“감당할 수 있는 </a:t>
            </a:r>
            <a:r>
              <a:rPr lang="en-US" sz="19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</a:t>
            </a: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”</a:t>
            </a:r>
            <a:r>
              <a:rPr lang="ko-KR" alt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 </a:t>
            </a:r>
            <a:r>
              <a:rPr lang="en-US" altLang="ko-KR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</a:t>
            </a:r>
            <a:r>
              <a:rPr lang="ko-KR" alt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감당할 수 없는 위험</a:t>
            </a:r>
            <a:r>
              <a:rPr lang="en-US" altLang="ko-KR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＂</a:t>
            </a:r>
            <a:r>
              <a:rPr lang="ko-KR" alt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</a:t>
            </a: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9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구분하는</a:t>
            </a: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</a:t>
            </a:r>
            <a:endParaRPr lang="en-US" sz="190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D5B05470-15C8-8C0E-5229-02C00B66733F}"/>
              </a:ext>
            </a:extLst>
          </p:cNvPr>
          <p:cNvSpPr/>
          <p:nvPr/>
        </p:nvSpPr>
        <p:spPr>
          <a:xfrm>
            <a:off x="548640" y="2700036"/>
            <a:ext cx="11009376" cy="11887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41003260-5C98-35E8-8216-D5AE364AEB2E}"/>
              </a:ext>
            </a:extLst>
          </p:cNvPr>
          <p:cNvSpPr/>
          <p:nvPr/>
        </p:nvSpPr>
        <p:spPr>
          <a:xfrm>
            <a:off x="777240" y="28371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</a:t>
            </a:r>
            <a:endParaRPr lang="en-US" sz="15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175A690B-5369-A457-FE72-5F3A13444FEF}"/>
              </a:ext>
            </a:extLst>
          </p:cNvPr>
          <p:cNvSpPr/>
          <p:nvPr/>
        </p:nvSpPr>
        <p:spPr>
          <a:xfrm>
            <a:off x="777240" y="3175524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피보험자의 위험을 평가하여 인수 여부와 조건을 결정하는 과정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언더라이팅 ②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언더라이팅이 왜 필요한가 — 5가지 역할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291390"/>
            <a:ext cx="1993392" cy="359021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47427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202291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역선택 방지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85800" y="2610052"/>
            <a:ext cx="17190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위험이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보험금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수령을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목적으로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가입하는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것을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방지</a:t>
            </a:r>
            <a:endParaRPr lang="en-US" alt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2816352" y="1291390"/>
            <a:ext cx="1993392" cy="359021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53512" y="147427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953512" y="202291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보험사기 방지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953512" y="2610052"/>
            <a:ext cx="17190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고액·다수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보장성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집중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등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의심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</a:t>
            </a:r>
            <a:endParaRPr lang="en-US" altLang="ko-KR" sz="1200" dirty="0"/>
          </a:p>
        </p:txBody>
      </p:sp>
      <p:sp>
        <p:nvSpPr>
          <p:cNvPr id="16" name="Shape 13"/>
          <p:cNvSpPr/>
          <p:nvPr/>
        </p:nvSpPr>
        <p:spPr>
          <a:xfrm>
            <a:off x="5084064" y="1291390"/>
            <a:ext cx="1993392" cy="359021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21224" y="147427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221224" y="202291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위험집단 분류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221224" y="2610052"/>
            <a:ext cx="17190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위험도가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사람을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altLang="ko-KR" sz="1200" dirty="0"/>
          </a:p>
        </p:txBody>
      </p:sp>
      <p:sp>
        <p:nvSpPr>
          <p:cNvPr id="20" name="Shape 17"/>
          <p:cNvSpPr/>
          <p:nvPr/>
        </p:nvSpPr>
        <p:spPr>
          <a:xfrm>
            <a:off x="7351776" y="1291390"/>
            <a:ext cx="1993392" cy="359021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88936" y="147427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488936" y="202291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적정 보험료 산출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488936" y="2610052"/>
            <a:ext cx="17190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위험도에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맞는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인수조건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endParaRPr lang="en-US" altLang="ko-KR" sz="1200" dirty="0"/>
          </a:p>
        </p:txBody>
      </p:sp>
      <p:sp>
        <p:nvSpPr>
          <p:cNvPr id="24" name="Shape 21"/>
          <p:cNvSpPr/>
          <p:nvPr/>
        </p:nvSpPr>
        <p:spPr>
          <a:xfrm>
            <a:off x="9619488" y="1291390"/>
            <a:ext cx="1993392" cy="359021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56648" y="147427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756648" y="202291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회사의 안정성</a:t>
            </a: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9756648" y="2610052"/>
            <a:ext cx="17190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손해율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악화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방지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능력</a:t>
            </a:r>
            <a:r>
              <a:rPr lang="en-US" altLang="ko-KR" sz="12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altLang="ko-KR" sz="120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5BF8FF26-3885-4703-2FC1-D9239DA72E28}"/>
              </a:ext>
            </a:extLst>
          </p:cNvPr>
          <p:cNvSpPr/>
          <p:nvPr/>
        </p:nvSpPr>
        <p:spPr>
          <a:xfrm>
            <a:off x="548640" y="5129539"/>
            <a:ext cx="11064240" cy="101561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99B52E19-C1BD-3282-BBAF-85E54359A566}"/>
              </a:ext>
            </a:extLst>
          </p:cNvPr>
          <p:cNvSpPr/>
          <p:nvPr/>
        </p:nvSpPr>
        <p:spPr>
          <a:xfrm>
            <a:off x="822960" y="4997266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보험은 여러 사람이 낸 보험료로 사고 난 사람에게 지급하는 구조라</a:t>
            </a:r>
            <a:r>
              <a:rPr lang="en-US" altLang="ko-KR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</a:p>
          <a:p>
            <a:pPr marL="0" indent="0" algn="ctr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Pretendard" pitchFamily="34" charset="0"/>
              </a:rPr>
              <a:t>위험이 높은 사람만 몰리면 손해가 커진다</a:t>
            </a:r>
            <a:r>
              <a:rPr lang="en-US" altLang="ko-KR" sz="1900" b="1" dirty="0">
                <a:solidFill>
                  <a:srgbClr val="FFFFFF"/>
                </a:solidFill>
                <a:latin typeface="Pretendard" pitchFamily="34" charset="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언더라이팅 ③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언더라이팅 절차와 심사 4대 요소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19933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1460859"/>
            <a:ext cx="1883664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청약·고지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542032" y="128016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2816352" y="1280160"/>
            <a:ext cx="19933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71216" y="1460859"/>
            <a:ext cx="1883664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필요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809744" y="128016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5084064" y="1280160"/>
            <a:ext cx="19933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38928" y="1469248"/>
            <a:ext cx="1883664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자동/수동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077456" y="128016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351776" y="1280160"/>
            <a:ext cx="19933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0" y="1469248"/>
            <a:ext cx="1883664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추가조사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(적부)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345168" y="128016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9619488" y="1280160"/>
            <a:ext cx="199339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74352" y="1477637"/>
            <a:ext cx="1883664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최종결정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4대 요소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548640" y="2651760"/>
            <a:ext cx="256032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신체적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31520" y="3182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연령·성별·체격·건강상태·병력·건강진단</a:t>
            </a:r>
            <a:endParaRPr lang="en-US" altLang="ko-KR" sz="1400" dirty="0">
              <a:solidFill>
                <a:srgbClr val="2A2E4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3152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사망보험 고령자 할증 등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383280" y="2651760"/>
            <a:ext cx="256032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6616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환경적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566160" y="3182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직업·운전여부·흡연음주·취미·거주지역</a:t>
            </a:r>
            <a:endParaRPr lang="en-US" altLang="ko-KR" sz="1400" dirty="0">
              <a:solidFill>
                <a:srgbClr val="2A2E4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56616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건설현장 종사자 상해 할증 등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217920" y="2651760"/>
            <a:ext cx="256032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도덕적 ★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400800" y="3182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가입목적·계약자관계·고액가입·부실고지</a:t>
            </a:r>
            <a:endParaRPr lang="en-US" altLang="ko-KR" sz="1400" dirty="0">
              <a:solidFill>
                <a:srgbClr val="2A2E4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40080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사기 의심 시 심사 강화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052560" y="2651760"/>
            <a:ext cx="2560320" cy="19659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2354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재정적 ★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9235440" y="3182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소득·기존가입금액·보험료</a:t>
            </a:r>
            <a:r>
              <a:rPr lang="en-US" altLang="ko-KR" sz="14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부담·보장</a:t>
            </a:r>
            <a:r>
              <a:rPr lang="en-US" altLang="ko-KR" sz="14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 err="1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적정성</a:t>
            </a:r>
            <a:endParaRPr lang="en-US" altLang="ko-KR" sz="1400" dirty="0">
              <a:solidFill>
                <a:srgbClr val="2A2E4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923544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실효 가능성 판단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48640" y="4892040"/>
            <a:ext cx="1106424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도덕적·재정적 요소는 주관적 판단이 중요해 언더라이터의 전문성이 핵심임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언더라이팅 ④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수치평가법(EM ratio) — 위험의 정량화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534924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2801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개념  </a:t>
            </a:r>
            <a:r>
              <a:rPr lang="en-US" sz="13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위험요인별 가점(+)·감점(−) 합산 (신용점수와 유사)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80760" y="1280160"/>
            <a:ext cx="553212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2801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기준점  </a:t>
            </a:r>
            <a:r>
              <a:rPr lang="en-US" sz="13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표준체 = 100% (모든 심사의 동일한 출발선)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워크드 예시 — 45세 남성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5486400" cy="2761488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위험요인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출발점 (표준체)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2형 당뇨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+50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비만 (BMI 33)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+25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가족력 (심근경색)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+25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비흡연·운동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−25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 (EM ratio)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175%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400800" y="2651760"/>
            <a:ext cx="52120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5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175%</a:t>
            </a:r>
            <a:endParaRPr lang="en-US" sz="5500" dirty="0"/>
          </a:p>
        </p:txBody>
      </p:sp>
      <p:sp>
        <p:nvSpPr>
          <p:cNvPr id="15" name="Text 11"/>
          <p:cNvSpPr/>
          <p:nvPr/>
        </p:nvSpPr>
        <p:spPr>
          <a:xfrm>
            <a:off x="6400800" y="3666744"/>
            <a:ext cx="52120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표준체의 1.75배 위험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0" y="4434840"/>
            <a:ext cx="5212080" cy="640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83680" y="4434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표준미달체(할증) 구간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400800" y="5212080"/>
            <a:ext cx="1615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5212080"/>
            <a:ext cx="161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00800" y="5212080"/>
            <a:ext cx="161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우량체
</a:t>
            </a:r>
            <a:r>
              <a:rPr lang="en-US" sz="11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</a:t>
            </a:r>
            <a:r>
              <a:rPr lang="ko-KR" altLang="en-US" sz="11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요율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8199120" y="5212080"/>
            <a:ext cx="1615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99120" y="5212080"/>
            <a:ext cx="161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199120" y="5212080"/>
            <a:ext cx="161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표준체
</a:t>
            </a:r>
            <a:r>
              <a:rPr lang="en-US" sz="11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</a:t>
            </a:r>
            <a:r>
              <a:rPr lang="ko-KR" altLang="en-US" sz="11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요율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9997440" y="5212080"/>
            <a:ext cx="1615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997440" y="5212080"/>
            <a:ext cx="161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9997440" y="5212080"/>
            <a:ext cx="161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표준미달체
</a:t>
            </a: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할증·부담보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IT/AI 관점 ①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아키텍처 — AI에서 상태머신까지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505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1426464"/>
            <a:ext cx="339547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AI/ML 모델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3504" y="1949958"/>
            <a:ext cx="339547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고객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입력받아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위험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가능성·사고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확률·위험점수를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계산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53840" y="137160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4328160" y="1371600"/>
            <a:ext cx="3505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3024" y="1426464"/>
            <a:ext cx="339547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383024" y="1949958"/>
            <a:ext cx="339547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위험점수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고객정보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조건을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기준으로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업무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규칙을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적용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833360" y="137160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107680" y="1371600"/>
            <a:ext cx="3505200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62544" y="1426464"/>
            <a:ext cx="339547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 / State Machine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162544" y="1949958"/>
            <a:ext cx="339547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규칙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적용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결과에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따라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청약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상태를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변경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4864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업계 3단계 흐름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548640" y="3108960"/>
            <a:ext cx="3444240" cy="18745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3246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77240" y="37490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자동심사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777240" y="4160520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고지 기준 쾌속 판단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358640" y="3108960"/>
            <a:ext cx="3444240" cy="18745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87240" y="3246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4587240" y="37490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위험예측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4587240" y="4160520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손해율 데이터 기반 등급 시뮬레이션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168640" y="3108960"/>
            <a:ext cx="3444240" cy="18745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97240" y="3246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8397240" y="37490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언더라이터 보조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8397240" y="4160520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근거 제시, 최종 판단은 사람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5166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룰 엔진은 판단(Logic)을, 상태머신은 단계(Process)를 관리함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IT/AI 관점 ②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사례와 자동화의 한계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16712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보험사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특징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삼성화재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장기U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장기보험 전 상품 자동심사·조건부 인수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KB손보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ML 인수심사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머신러닝 기반 사고 가능성 예측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신한라이프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원더라이터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2,100개 질병별 위험등급 예측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교보생명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BARO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자연어처리(NLP) 청약서 분석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703320"/>
            <a:ext cx="11064240" cy="2423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자동화가 어려운 이유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822960" y="43434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불완전성 </a:t>
            </a:r>
            <a:r>
              <a:rPr lang="en-US" altLang="ko-KR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설명가능성 부족 </a:t>
            </a:r>
            <a:r>
              <a:rPr lang="en-US" altLang="ko-KR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케이스 과다 </a:t>
            </a:r>
            <a:r>
              <a:rPr lang="en-US" altLang="ko-KR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편향 가능성</a:t>
            </a: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거절</a:t>
            </a:r>
            <a:r>
              <a:rPr lang="en-US" altLang="ko-KR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할증 등 소비자 권리에 직접 영향 → 고위험 판단은 수동심사로 분기</a:t>
            </a:r>
            <a:r>
              <a:rPr lang="en-US" altLang="ko-KR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내부통제 필요</a:t>
            </a: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현실적 방향은 ‘완전 </a:t>
            </a:r>
            <a:r>
              <a:rPr lang="ko-KR" altLang="en-US" sz="1500" dirty="0" err="1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자동화’가</a:t>
            </a:r>
            <a:r>
              <a:rPr lang="ko-KR" alt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아니라 자동화 영역을 넓히고 사람이 봐야 할 케이스를 정확히 선별하는 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IT/AI 관점 ③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구조 — 요율표·룰 테이블 &amp; 상태 관리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280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관리 원칙: 시점별 요율/기준 추적 (덮어쓰기 금지)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1920240"/>
            <a:ext cx="5349240" cy="1280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039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요율표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235915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상품·나이·성별별 보험료 가격 (SCD 패턴 적용)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80760" y="1920240"/>
            <a:ext cx="5532120" cy="1280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2039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룰 테이블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09360" y="235915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인수 조건 로직 (변경 이력: 누가·언제·왜)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관리 9단계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749040"/>
            <a:ext cx="110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749040"/>
            <a:ext cx="110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637792" y="3749040"/>
            <a:ext cx="155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ADE2"/>
                </a:solidFill>
              </a:rPr>
              <a:t>→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793240" y="3749040"/>
            <a:ext cx="110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793240" y="3749040"/>
            <a:ext cx="110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자동심사중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882392" y="3749040"/>
            <a:ext cx="155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ADE2"/>
                </a:solidFill>
              </a:rPr>
              <a:t>→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037840" y="3749040"/>
            <a:ext cx="110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37840" y="3749040"/>
            <a:ext cx="110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보류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126992" y="3749040"/>
            <a:ext cx="155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ADE2"/>
                </a:solidFill>
              </a:rPr>
              <a:t>→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282440" y="3749040"/>
            <a:ext cx="110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82440" y="3749040"/>
            <a:ext cx="110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추가서류요청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371592" y="3749040"/>
            <a:ext cx="155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ADE2"/>
                </a:solidFill>
              </a:rPr>
              <a:t>→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527040" y="3749040"/>
            <a:ext cx="110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27040" y="3749040"/>
            <a:ext cx="110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수동심사중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616192" y="3749040"/>
            <a:ext cx="155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ADE2"/>
                </a:solidFill>
              </a:rPr>
              <a:t>→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771640" y="3749040"/>
            <a:ext cx="110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71640" y="3749040"/>
            <a:ext cx="110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조건부승인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860792" y="3749040"/>
            <a:ext cx="155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ADE2"/>
                </a:solidFill>
              </a:rPr>
              <a:t>→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016240" y="3749040"/>
            <a:ext cx="110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16240" y="3749040"/>
            <a:ext cx="110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고객동의대기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105392" y="3749040"/>
            <a:ext cx="155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ADE2"/>
                </a:solidFill>
              </a:rPr>
              <a:t>→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9260840" y="3749040"/>
            <a:ext cx="110744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260840" y="3749040"/>
            <a:ext cx="110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최종승인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0349992" y="3749040"/>
            <a:ext cx="155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ADE2"/>
                </a:solidFill>
              </a:rPr>
              <a:t>→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10505440" y="3749040"/>
            <a:ext cx="110744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505440" y="3749040"/>
            <a:ext cx="110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계약성립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48640" y="4663440"/>
            <a:ext cx="11064240" cy="1600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2960" y="466344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작년 가입자의 요율을 확인해야 하므로 적용시작/종료일을 포함한 버전 관리가 필수임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refres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IT/AI 관점 ④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재정비 사이클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256032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인수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29077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언더라이팅 결과에 따라 요율·조건 적용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08960" y="192024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DADE2"/>
                </a:solidFill>
              </a:rPr>
              <a:t>→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383280" y="1920240"/>
            <a:ext cx="256032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6616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356616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축적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566160" y="29077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사고·손해율 데이터 축적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192024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DADE2"/>
                </a:solidFill>
              </a:rPr>
              <a:t>→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217920" y="1920240"/>
            <a:ext cx="256032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40080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재평가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00800" y="29077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손해율·규정 변화 반영해 재검토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778240" y="1920240"/>
            <a:ext cx="274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DADE2"/>
                </a:solidFill>
              </a:rPr>
              <a:t>→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9052560" y="1920240"/>
            <a:ext cx="2560320" cy="17373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3544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2354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요율·룰 재정비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235440" y="29077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버전으로 반영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3794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↻  사이클 반복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4434840"/>
            <a:ext cx="1106424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" y="44348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요율과 룰은 한 번 만들고 끝나는 게 아니라 지속적으로 갱신되는 대상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IT/AI 관점 ⑤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저장 — 심사 결과 기록의 중요성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394960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536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 판단 근거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19385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인수 조건(부담보 등)은 사고 시 보상 여부 결정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371600"/>
            <a:ext cx="5394960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536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 추적 (Append-only)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46520" y="19385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없이 누적하여 당시 상황 재현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971800"/>
            <a:ext cx="5394960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136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분쟁·재정산 대응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77240" y="35387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“당시 왜 이 조건인가”에 대한 설명 의무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2971800"/>
            <a:ext cx="5394960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3136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감사·내부통제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46520" y="35387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변경자·사유 관리로 규제 대응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4846320"/>
            <a:ext cx="1106424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846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Append-only는 데이터 신뢰성 증명의 핵심이며, 보상 단계와 직결됨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filetex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· 계약 체결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체결과 증권 발행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1143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1335024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상품선택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91640" y="12801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1965960" y="1280160"/>
            <a:ext cx="1143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20824" y="1335024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08960" y="12801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3383280" y="1280160"/>
            <a:ext cx="1143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38144" y="1335024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12801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4800600" y="1280160"/>
            <a:ext cx="1143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55464" y="1335024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 보험료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납입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0" y="12801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6217920" y="1280160"/>
            <a:ext cx="1143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1335024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언더라이팅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60920" y="12801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7635240" y="1280160"/>
            <a:ext cx="1143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90104" y="1335024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승낙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778240" y="12801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9052560" y="1280160"/>
            <a:ext cx="1143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07424" y="1335024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계약성립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195560" y="12801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50" dirty="0"/>
          </a:p>
        </p:txBody>
      </p:sp>
      <p:sp>
        <p:nvSpPr>
          <p:cNvPr id="29" name="Shape 26"/>
          <p:cNvSpPr/>
          <p:nvPr/>
        </p:nvSpPr>
        <p:spPr>
          <a:xfrm>
            <a:off x="10469880" y="1280160"/>
            <a:ext cx="1143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524744" y="1335024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증권발행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2468880"/>
            <a:ext cx="5349240" cy="155448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승낙 전 보호 (상법 제638조의2)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77240" y="3063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납입 시 심사 중 사고도 보장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080760" y="2468880"/>
            <a:ext cx="5532120" cy="155448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0936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증권 발행 이유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309360" y="30175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계약의 성립과 내용을 증명하는 증거 서류 (성립 요건은 아님)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548640" y="4297680"/>
            <a:ext cx="11064240" cy="1828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2960" y="42976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관점에서 증권 발행은 상태가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“계약유효”로 확정되는 최종 전이 시점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3" name="Image 0" descr="/home/claude/deck_build2/icons/calend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5DAD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· 3주차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예고 — 계약 생명주기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 구조·산출과 언더라이팅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주제: 유지부터 지급까지 (Life Cycle)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25603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7724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납입과 유지 관리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383280" y="1828800"/>
            <a:ext cx="25603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11880" y="2057400"/>
            <a:ext cx="457200" cy="45720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5" name="Text 12"/>
          <p:cNvSpPr/>
          <p:nvPr/>
        </p:nvSpPr>
        <p:spPr>
          <a:xfrm>
            <a:off x="36118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61188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실효 처리 및 3년 내 부활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17920" y="1828800"/>
            <a:ext cx="25603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6520" y="2057400"/>
            <a:ext cx="457200" cy="45720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44652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 접수와 손해사정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9052560" y="1828800"/>
            <a:ext cx="25603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81160" y="2057400"/>
            <a:ext cx="457200" cy="45720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23" name="Text 20"/>
          <p:cNvSpPr/>
          <p:nvPr/>
        </p:nvSpPr>
        <p:spPr>
          <a:xfrm>
            <a:off x="92811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928116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 심사 및 최종 보험금 지급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48640" y="4114800"/>
            <a:ext cx="1106424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" y="4114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F4E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주에는 계약이 '살아있는 동안' 벌어지는 IT 프로세스를 다룸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부록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용어 사전 — 헷갈리기 쉬운 보험 용어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548640" y="1370000"/>
          <a:ext cx="11064240" cy="4620000"/>
        </p:xfrm>
        <a:graphic>
          <a:graphicData uri="http://schemas.openxmlformats.org/drawingml/2006/table">
            <a:tbl>
              <a:tblGrid>
                <a:gridCol w="3026117"/>
                <a:gridCol w="8038123"/>
              </a:tblGrid>
              <a:tr h="330000"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용어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설명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</a:tr>
              <a:tr h="330000"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순보험료 · 부가보험료</a:t>
                      </a:r>
                      <a:endParaRPr lang="en-US" sz="110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2a2e45"/>
                          </a:solidFill>
                          <a:latin typeface="Calibri"/>
                          <a:ea typeface="Calibri"/>
                          <a:cs typeface="Calibri"/>
                        </a:rPr>
                        <a:t>영업보험료(고객이 실제 납입하는 금액)를 구성하는 두 요소. 순보험료는 보험금 지급 재원, 부가보험료는 사업 운영비 재원이다.</a:t>
                      </a:r>
                      <a:endParaRPr lang="en-US" sz="105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30000"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위험보험료 · 저축보험료</a:t>
                      </a:r>
                      <a:endParaRPr lang="en-US" sz="110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2a2e45"/>
                          </a:solidFill>
                          <a:latin typeface="Calibri"/>
                          <a:ea typeface="Calibri"/>
                          <a:cs typeface="Calibri"/>
                        </a:rPr>
                        <a:t>순보험료의 하위 구성. 위험보험료는 사고 발생 시 지급할 보험금의 재원, 저축보험료는 만기환급금 등 나중에 돌려줄 돈의 재원이다.</a:t>
                      </a:r>
                      <a:endParaRPr lang="en-US" sz="105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30000"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만기환급금 · 중도급부금</a:t>
                      </a:r>
                      <a:endParaRPr lang="en-US" sz="110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2a2e45"/>
                          </a:solidFill>
                          <a:latin typeface="Calibri"/>
                          <a:ea typeface="Calibri"/>
                          <a:cs typeface="Calibri"/>
                        </a:rPr>
                        <a:t>만기환급금은 계약이 만기까지 유지됐을 때 돌려주는 돈, 중도급부금은 계약 기간 중 특정 조건 충족 시 지급되는 돈이다.</a:t>
                      </a:r>
                      <a:endParaRPr lang="en-US" sz="105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30000"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예정기초율</a:t>
                      </a:r>
                      <a:endParaRPr lang="en-US" sz="110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2a2e45"/>
                          </a:solidFill>
                          <a:latin typeface="Calibri"/>
                          <a:ea typeface="Calibri"/>
                          <a:cs typeface="Calibri"/>
                        </a:rPr>
                        <a:t>3이원 방식에서 보험료 산출에 쓰는 3가지 예측값. 예정위험률(사고 확률)·예정이자율(운용수익률)·예정사업비율(운영비용)로 구성된다.</a:t>
                      </a:r>
                      <a:endParaRPr lang="en-US" sz="105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30000"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안전할증</a:t>
                      </a:r>
                      <a:endParaRPr lang="en-US" sz="110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2a2e45"/>
                          </a:solidFill>
                          <a:latin typeface="Calibri"/>
                          <a:ea typeface="Calibri"/>
                          <a:cs typeface="Calibri"/>
                        </a:rPr>
                        <a:t>예정기초율에서 회사에 유리한 방향으로 일부러 얹는 여유분. 실제보다 보수적으로 잡아 사후 정산 재원을 만든다.</a:t>
                      </a:r>
                      <a:endParaRPr lang="ko-KR" altLang="en-US" sz="1050">
                        <a:solidFill>
                          <a:srgbClr val="2a2e4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30000"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위험차익 · 이차익 · 비차익</a:t>
                      </a:r>
                      <a:endParaRPr lang="en-US" sz="110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2a2e45"/>
                          </a:solidFill>
                          <a:latin typeface="Calibri"/>
                          <a:ea typeface="Calibri"/>
                          <a:cs typeface="Calibri"/>
                        </a:rPr>
                        <a:t>3이원 방식의 사후 정산 이익. 예정과 실제의 차이(사고·수익률·비용)에서 발생하는 세 가지 잉여를 가리킨다.</a:t>
                      </a:r>
                      <a:endParaRPr lang="en-US" sz="105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30000"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최적가정 (Best Estimate)</a:t>
                      </a:r>
                      <a:endParaRPr lang="en-US" sz="110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2a2e45"/>
                          </a:solidFill>
                          <a:latin typeface="Calibri"/>
                          <a:ea typeface="Calibri"/>
                          <a:cs typeface="Calibri"/>
                        </a:rPr>
                        <a:t>CFP에서 안전할증 없이, 과거 데이터를 통계적으로 분석해 현실에 가깝게 추정한 가정값이다.</a:t>
                      </a:r>
                      <a:endParaRPr lang="en-US" sz="105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30000"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역선택</a:t>
                      </a:r>
                      <a:endParaRPr lang="en-US" sz="110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2a2e45"/>
                          </a:solidFill>
                          <a:latin typeface="Calibri"/>
                          <a:ea typeface="Calibri"/>
                          <a:cs typeface="Calibri"/>
                        </a:rPr>
                        <a:t>위험이 높은 사람일수록 보험 가입에 더 적극적이고, 위험이 낮은 사람은 가입을 꺼리게 되는 현상. 언더라이팅이 방지하는 핵심 문제다.</a:t>
                      </a:r>
                      <a:endParaRPr lang="en-US" sz="105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30000"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계약적부확인</a:t>
                      </a:r>
                      <a:endParaRPr lang="en-US" sz="110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2a2e45"/>
                          </a:solidFill>
                          <a:latin typeface="Calibri"/>
                          <a:ea typeface="Calibri"/>
                          <a:cs typeface="Calibri"/>
                        </a:rPr>
                        <a:t>청약 내용(고지사항, 병력 등)이 사실인지 추가로 확인하는 절차. 병력 해석이 필요하거나 고액인 계약에서 주로 이루어진다.</a:t>
                      </a:r>
                      <a:endParaRPr lang="en-US" sz="105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30000"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EM ratio (수치평가법)</a:t>
                      </a:r>
                      <a:endParaRPr lang="en-US" sz="110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2a2e45"/>
                          </a:solidFill>
                          <a:latin typeface="Calibri"/>
                          <a:ea typeface="Calibri"/>
                          <a:cs typeface="Calibri"/>
                        </a:rPr>
                        <a:t>표준체를 100%로 놓고 위험요인마다 가점·감점을 매겨 합산한 값. 점수가 높을수록 위험도가 높다는 뜻이다.</a:t>
                      </a:r>
                      <a:endParaRPr lang="en-US" sz="105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30000"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우량체 · 표준체 · 표준미달체</a:t>
                      </a:r>
                      <a:endParaRPr lang="en-US" sz="110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2a2e45"/>
                          </a:solidFill>
                          <a:latin typeface="Calibri"/>
                          <a:ea typeface="Calibri"/>
                          <a:cs typeface="Calibri"/>
                        </a:rPr>
                        <a:t>언더라이팅 심사 결과에 따른 위험 등급 3단계. 각각 할인요율·기본요율·할증요율이 적용된다.</a:t>
                      </a:r>
                      <a:endParaRPr lang="en-US" sz="105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30000"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부담보 · 감액</a:t>
                      </a:r>
                      <a:endParaRPr lang="en-US" sz="110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2a2e45"/>
                          </a:solidFill>
                          <a:latin typeface="Calibri"/>
                          <a:ea typeface="Calibri"/>
                          <a:cs typeface="Calibri"/>
                        </a:rPr>
                        <a:t>조건부 인수 방식. 부담보는 특정 부위·질병을 보장에서 제외, 감액은 보험금을 일정 비율 줄여 지급하는 조건이다.</a:t>
                      </a:r>
                      <a:endParaRPr lang="en-US" sz="105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30000"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1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Append-only</a:t>
                      </a:r>
                      <a:endParaRPr lang="en-US" sz="110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36000" rIns="91440" bIns="36000" anchor="ctr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1050">
                          <a:solidFill>
                            <a:srgbClr val="2a2e45"/>
                          </a:solidFill>
                          <a:latin typeface="Calibri"/>
                          <a:ea typeface="Calibri"/>
                          <a:cs typeface="Calibri"/>
                        </a:rPr>
                        <a:t>기존 기록을 수정하지 않고 이력으로만 계속 쌓는 데이터 기록 방식. 심사 판단 근거를 그대로 재현할 수 있게 해준다.</a:t>
                      </a:r>
                      <a:endParaRPr lang="en-US" sz="1050"/>
                    </a:p>
                  </a:txBody>
                  <a:tcPr marL="91440" marR="91440"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부록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참고 자료 · 출처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 구조·산출과 언더라이팅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548640" y="1370000"/>
          <a:ext cx="11064240" cy="3300000"/>
        </p:xfrm>
        <a:graphic>
          <a:graphicData uri="http://schemas.openxmlformats.org/drawingml/2006/table">
            <a:tbl>
              <a:tblPr/>
              <a:tblGrid>
                <a:gridCol w="3026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8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보험료 산출 체계 (3이원 방식)</a:t>
                      </a:r>
                      <a:endParaRPr lang="en-US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보험연구원(KIRI) 조사보고서 2014-10 「보험료 산출체계」 — kiri.or.kr</a:t>
                      </a:r>
                      <a:endParaRPr lang="en-US" sz="105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현금흐름방식(CFP) 산출 체계</a:t>
                      </a:r>
                      <a:endParaRPr lang="en-US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보험연구원(KIRI), KIRI_20120924_17335.pdf</a:t>
                      </a:r>
                      <a:endParaRPr lang="en-US" sz="105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CFP 도입 배경 (IFRS17 대응)</a:t>
                      </a:r>
                      <a:endParaRPr lang="en-US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보험연구원(KIRI), nre2022-20_2.pdf</a:t>
                      </a:r>
                      <a:endParaRPr lang="en-US" sz="105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언더라이팅 정의 및 절차</a:t>
                      </a:r>
                      <a:endParaRPr lang="en-US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보험연구원(KIRI) 조사자료집 2015-7, josa_15_07_02.pdf</a:t>
                      </a:r>
                      <a:endParaRPr lang="en-US" sz="105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언더라이팅의 기원</a:t>
                      </a:r>
                      <a:endParaRPr lang="en-US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Andrew Temte, 「Lloyd's Coffee House」 — andrewtemte.com</a:t>
                      </a:r>
                      <a:endParaRPr lang="en-US" sz="105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국내 보험사 AI 활용 현황</a:t>
                      </a:r>
                      <a:endParaRPr lang="en-US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보험연구원(KIRI), cre24-1.pdf</a:t>
                      </a:r>
                      <a:endParaRPr lang="en-US" sz="105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삼성화재 AI 자동심사(장기U)</a:t>
                      </a:r>
                      <a:endParaRPr lang="en-US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전자신문 (2025.5.20) — etnews.com/20250520000022</a:t>
                      </a:r>
                      <a:endParaRPr lang="en-US" sz="105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법령</a:t>
                      </a:r>
                      <a:endParaRPr lang="en-US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국가법령정보센터(law.go.kr) — 상법 제638조의2 등</a:t>
                      </a:r>
                      <a:endParaRPr lang="en-US" sz="105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용어 정의</a:t>
                      </a:r>
                      <a:endParaRPr lang="en-US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금융감독원 금융용어사전, 손해보험협회·생명보험협회 보험용어</a:t>
                      </a:r>
                      <a:endParaRPr lang="en-US" sz="105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548640" y="4900000"/>
            <a:ext cx="110642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InsureFlow 1주차 킥오프 발표자료(팀 6, 2026.06.26)도 지난주 복습 내용의 근거 자료로 함께 활용함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1127</ep:Words>
  <ep:PresentationFormat>와이드스크린</ep:PresentationFormat>
  <ep:Paragraphs>361</ep:Paragraphs>
  <ep:Slides>20</ep:Slides>
  <ep:Notes>18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ep:HeadingPairs>
  <ep:TitlesOfParts>
    <vt:vector size="2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2026-07-09T22:04:43.000</dcterms:created>
  <dc:creator>은정</dc:creator>
  <cp:lastModifiedBy>admin</cp:lastModifiedBy>
  <dcterms:modified xsi:type="dcterms:W3CDTF">2026-07-10T07:33:43.018</dcterms:modified>
  <cp:revision>20</cp:revision>
  <dc:subject>PptxGenJS Presentation</dc:subject>
  <dc:title>보험료 구조·산출과 언더라이팅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