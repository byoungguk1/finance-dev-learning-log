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2" autoAdjust="0"/>
    <p:restoredTop sz="90052" autoAdjust="0"/>
  </p:normalViewPr>
  <p:slideViewPr>
    <p:cSldViewPr snapToGrid="0" snapToObjects="1">
      <p:cViewPr varScale="1">
        <p:scale>
          <a:sx n="97" d="100"/>
          <a:sy n="97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89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시작. 오늘 다룰 네 개념(API·오픈뱅킹·마이데이터·토큰화)을 먼저 소개하고, 마지막에 하나의 워크플로우로 합친다고 예고. 비전공자도 있으니 용어는 전부 비유로 풀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개를 따로 배운 뒤 하나로 합친다는 큰 그림을 강조. 각 카드 색이 뒤 슬라이드에서 그대로 반복된다고 한마디.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 안심시키기 슬라이드. '이미 다 해봤다'는 메시지. AOP는 공통 관심사 분리 → 인증/토큰 검증을 한 곳에서 처리한다는 실무 개념으로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API를 설명한 뒤, 같은 자리에서 'API 게이트웨이'를 묶어 설명. API가 개별 창구라면, 게이트웨이는 그 창구들 앞에 선 문지기 서버(라우팅·인증·rate limit). 보험처럼 API가 많은 도메인에서 특히 중요. 실제 실행 흐름(슬라이드 12)에서 클라이언트와 앱 사이에 다시 등장한다고 예고. 게이트웨이=앱 앞단(별도 서버), AOP=앱 내부(같은 프로세스)로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01 · 보험의 실제 흐름을 보여주고, 색칠된 구간에서 대표 개념이 왜 핵심인지 짚는다. 오른쪽 카드로 '다른 개념도 있지만 이 도메인을 규정하는 건 이 개념'임을 분명히 해 청중의 '왜 이거? 다른 건?' 의문을 해소. 비유(앞 슬라이드)와 실제 흐름을 연결해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02 · 여신·수신의 실제 흐름을 보여주고, 색칠된 구간에서 대표 개념이 왜 핵심인지 짚는다. 오른쪽 카드로 '다른 개념도 있지만 이 도메인을 규정하는 건 이 개념'임을 분명히 해 청중의 '왜 이거? 다른 건?' 의문을 해소. 비유(앞 슬라이드)와 실제 흐름을 연결해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MFA : </a:t>
            </a:r>
            <a:r>
              <a:rPr lang="ko-KR" altLang="en-US" dirty="0" err="1"/>
              <a:t>다요소</a:t>
            </a:r>
            <a:r>
              <a:rPr lang="ko-KR" altLang="en-US" dirty="0"/>
              <a:t> 인증</a:t>
            </a:r>
            <a:r>
              <a:rPr lang="en-US" altLang="ko-KR" dirty="0"/>
              <a:t>, </a:t>
            </a:r>
            <a:r>
              <a:rPr lang="ko-KR" altLang="ko-KR" dirty="0"/>
              <a:t>비밀번호, PIN 번호, 패턴</a:t>
            </a:r>
            <a:r>
              <a:rPr lang="en-US" altLang="ko-KR" dirty="0"/>
              <a:t>, </a:t>
            </a:r>
            <a:r>
              <a:rPr lang="ko-KR" altLang="en-US" dirty="0"/>
              <a:t>스마트키</a:t>
            </a:r>
            <a:r>
              <a:rPr lang="en-US" altLang="ko-KR" dirty="0"/>
              <a:t>, </a:t>
            </a:r>
            <a:r>
              <a:rPr lang="ko-KR" altLang="en-US" dirty="0"/>
              <a:t>보안키</a:t>
            </a:r>
            <a:r>
              <a:rPr lang="en-US" altLang="ko-KR" dirty="0"/>
              <a:t>, </a:t>
            </a:r>
            <a:r>
              <a:rPr lang="ko-KR" altLang="en-US" dirty="0"/>
              <a:t>지문</a:t>
            </a:r>
            <a:r>
              <a:rPr lang="en-US" altLang="ko-KR" dirty="0"/>
              <a:t>, </a:t>
            </a:r>
            <a:r>
              <a:rPr lang="ko-KR" altLang="en-US" dirty="0"/>
              <a:t>홍채</a:t>
            </a:r>
            <a:r>
              <a:rPr lang="en-US" altLang="ko-KR" dirty="0"/>
              <a:t>, </a:t>
            </a:r>
            <a:r>
              <a:rPr lang="ko-KR" altLang="en-US" dirty="0"/>
              <a:t>안면 이식 등</a:t>
            </a:r>
            <a:endParaRPr lang="en-US" altLang="ko-KR" dirty="0"/>
          </a:p>
          <a:p>
            <a:r>
              <a:rPr lang="en-US" dirty="0"/>
              <a:t>FIDO : </a:t>
            </a:r>
            <a:r>
              <a:rPr lang="ko-KR" altLang="ko-KR" dirty="0"/>
              <a:t>비밀번호 없이 안전하게 인증하기 위한 </a:t>
            </a:r>
            <a:r>
              <a:rPr lang="ko-KR" altLang="ko-KR" b="0" dirty="0"/>
              <a:t>기술 표준 사양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EMV : </a:t>
            </a:r>
            <a:r>
              <a:rPr lang="ko-KR" altLang="en-US" dirty="0"/>
              <a:t>유로페이</a:t>
            </a:r>
            <a:r>
              <a:rPr lang="en-US" altLang="ko-KR" dirty="0"/>
              <a:t>, </a:t>
            </a:r>
            <a:r>
              <a:rPr lang="ko-KR" altLang="en-US" dirty="0"/>
              <a:t>마스터카드</a:t>
            </a:r>
            <a:r>
              <a:rPr lang="en-US" altLang="ko-KR" dirty="0"/>
              <a:t>, </a:t>
            </a:r>
            <a:r>
              <a:rPr lang="ko-KR" altLang="en-US" dirty="0"/>
              <a:t>비자가 만든 국제표준 규격</a:t>
            </a:r>
            <a:r>
              <a:rPr lang="en-US" altLang="ko-KR" dirty="0"/>
              <a:t>, </a:t>
            </a:r>
            <a:r>
              <a:rPr lang="ko-KR" altLang="en-US" dirty="0"/>
              <a:t>마그네틱 선 대신 칩으로 카드를 만듦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정리: API가 바닥, 그 위에 오픈뱅킹(돈)·마이데이터(데이터), 옆에서 토큰화가 전체를 보호. 이 그림이 다음 워크플로우 슬라이드의 밑그림.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하이라이트. 왼→오른쪽으로 스토리텔링하고, 마지막 캡션에서 '결과가 다시 앱으로 돌아온다'며 사이클을 닫는다. 각 색이 앞 개념 슬라이드와 같음을 상기시킬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'개념 → 실무 코드'를 못박는 슬라이드. 공통 행(AOP)에서 인증·로깅이 왜 한 곳에 모이는지 한 번 더 설명. 면접에서 이 매핑을 말하면 강하다고 팁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요약을 크게 읽어주고, 면접 팁 4개로 마무리. 비전공자에겐 '네 동사'만 기억해도 충분하다고 안심시키기.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4~7을 코드 한 파일로 압축한 것. 오른쪽 색 점이 앞 개념 슬라이드 색과 같음을 짚기. 코드는 설명용으로 단순화(public 생략 등)했다고 한마디. 다음 장에서 이 코드가 '실제로 어떻게 도는지' 흐름으로 보여준다고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시청각 자료. 위→아래로 읽기: 앱이 호출 → (1)API 게이트웨이가 앱 '앞단(별도 서버)'에서 라우팅·인증·rate limit을 먼저 처리 → (2)요청이 앱에 들어오면 AOP 관문이 '앱 내부(같은 프로세스)'에서 인증·로깅 공통 처리 → 컨트롤러 진입. 게이트웨이=앞단 문지기, AOP=앱 안 문지기로 대비. 이후 조회는 오픈뱅킹·마이데이터를 거쳐 Dashboard, 결제는 토큰화 후 Oracle에 토큰만 저장. '카드 원본은 DB에 안 남는다'를 강조. 실제 제품 예: Spring Cloud Gateway, Kong, AWS API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질문 유도. 시간 남으면 슬라이드 9(사이클)로 돌아가 실제 앱 예시(토스 등)를 한 번 더 짚어도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line">
            <a:avLst/>
          </a:prstGeom>
          <a:solidFill>
            <a:srgbClr val="1637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881360" y="4023360"/>
            <a:ext cx="3108960" cy="3108960"/>
          </a:xfrm>
          <a:prstGeom prst="lin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100766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9326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보안 · 핀테크 개념 발표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보안,</a:t>
            </a:r>
            <a:endParaRPr lang="en-US" sz="4400" dirty="0"/>
          </a:p>
          <a:p>
            <a:pPr marL="0" indent="0" algn="l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개의 열쇠로 이해하기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· 은행 · 증권 · 카드를 하나의 흐름으로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435608" cy="566928"/>
          </a:xfrm>
          <a:prstGeom prst="roundRect">
            <a:avLst>
              <a:gd name="adj" fmla="val 50000"/>
            </a:avLst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14600" y="4892040"/>
            <a:ext cx="1746504" cy="566928"/>
          </a:xfrm>
          <a:prstGeom prst="roundRect">
            <a:avLst>
              <a:gd name="adj" fmla="val 50000"/>
            </a:avLst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514600" y="4892040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17136" y="4892040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17136" y="48920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30568" y="4892040"/>
            <a:ext cx="1435608" cy="566928"/>
          </a:xfrm>
          <a:prstGeom prst="roundRect">
            <a:avLst>
              <a:gd name="adj" fmla="val 50000"/>
            </a:avLst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830568" y="4892040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신한</a:t>
            </a:r>
            <a:r>
              <a:rPr lang="en-US" altLang="ko-KR" sz="1600" dirty="0">
                <a:solidFill>
                  <a:schemeClr val="bg1"/>
                </a:solidFill>
              </a:rPr>
              <a:t>DS 7</a:t>
            </a:r>
            <a:r>
              <a:rPr lang="ko-KR" altLang="en-US" sz="1600" dirty="0">
                <a:solidFill>
                  <a:schemeClr val="bg1"/>
                </a:solidFill>
              </a:rPr>
              <a:t>기 </a:t>
            </a:r>
            <a:r>
              <a:rPr lang="en-US" altLang="ko-KR" sz="1600" dirty="0">
                <a:solidFill>
                  <a:schemeClr val="bg1"/>
                </a:solidFill>
              </a:rPr>
              <a:t>5</a:t>
            </a:r>
            <a:r>
              <a:rPr lang="ko-KR" altLang="en-US" sz="1600" dirty="0">
                <a:solidFill>
                  <a:schemeClr val="bg1"/>
                </a:solidFill>
              </a:rPr>
              <a:t>팀 </a:t>
            </a:r>
            <a:r>
              <a:rPr lang="ko-KR" altLang="en-US" sz="1600" dirty="0" err="1">
                <a:solidFill>
                  <a:schemeClr val="bg1"/>
                </a:solidFill>
              </a:rPr>
              <a:t>고대동</a:t>
            </a:r>
            <a:r>
              <a:rPr lang="en-US" altLang="ko-KR" sz="1600" dirty="0">
                <a:solidFill>
                  <a:schemeClr val="bg1"/>
                </a:solidFill>
              </a:rPr>
              <a:t>,</a:t>
            </a:r>
            <a:r>
              <a:rPr lang="ko-KR" altLang="en-US" sz="1600" dirty="0" err="1">
                <a:solidFill>
                  <a:schemeClr val="bg1"/>
                </a:solidFill>
              </a:rPr>
              <a:t>여도영</a:t>
            </a:r>
            <a:r>
              <a:rPr lang="en-US" altLang="ko-KR" sz="1600" dirty="0">
                <a:solidFill>
                  <a:schemeClr val="bg1"/>
                </a:solidFill>
              </a:rPr>
              <a:t>,</a:t>
            </a:r>
            <a:r>
              <a:rPr lang="ko-KR" altLang="en-US" sz="1600" dirty="0" err="1">
                <a:solidFill>
                  <a:schemeClr val="bg1"/>
                </a:solidFill>
              </a:rPr>
              <a:t>주연경</a:t>
            </a:r>
            <a:r>
              <a:rPr lang="en-US" altLang="ko-KR" sz="1600" dirty="0">
                <a:solidFill>
                  <a:schemeClr val="bg1"/>
                </a:solidFill>
              </a:rPr>
              <a:t>,</a:t>
            </a:r>
            <a:r>
              <a:rPr lang="ko-KR" altLang="en-US" sz="1600" dirty="0" err="1">
                <a:solidFill>
                  <a:schemeClr val="bg1"/>
                </a:solidFill>
              </a:rPr>
              <a:t>박채빈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흐름: 개념 4개 → 워크플로우 1개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2075688"/>
            <a:ext cx="841248" cy="841248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61" y="2311237"/>
            <a:ext cx="370149" cy="3701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40864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CE4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96112" y="30815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= API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353872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앱끼리</a:t>
            </a:r>
            <a:r>
              <a:rPr 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74720" y="1783080"/>
            <a:ext cx="2615184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730752" y="2075688"/>
            <a:ext cx="841248" cy="841248"/>
          </a:xfrm>
          <a:prstGeom prst="line">
            <a:avLst/>
          </a:prstGeom>
          <a:solidFill>
            <a:srgbClr val="2C5F8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301" y="2311237"/>
            <a:ext cx="370149" cy="3701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CE4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730752" y="30815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= 오픈뱅킹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30752" y="353872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API를 하나로 개방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309360" y="1783080"/>
            <a:ext cx="2615184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565392" y="2075688"/>
            <a:ext cx="841248" cy="841248"/>
          </a:xfrm>
          <a:prstGeom prst="line">
            <a:avLst/>
          </a:prstGeom>
          <a:solidFill>
            <a:srgbClr val="C88418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941" y="2311237"/>
            <a:ext cx="370149" cy="3701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10144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CE4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565392" y="30815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= 마이데이터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65392" y="353872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마이데이터를</a:t>
            </a:r>
            <a:r>
              <a:rPr lang="ko-KR" alt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altLang="ko-KR" sz="1350" dirty="0">
              <a:solidFill>
                <a:srgbClr val="5C6B7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ko-KR" alt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개인정보제공 동의로 통합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9144000" y="1783080"/>
            <a:ext cx="2615184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9400032" y="2075688"/>
            <a:ext cx="841248" cy="841248"/>
          </a:xfrm>
          <a:prstGeom prst="line">
            <a:avLst/>
          </a:prstGeom>
          <a:solidFill>
            <a:srgbClr val="BC4F3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5581" y="2311237"/>
            <a:ext cx="370149" cy="3701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44784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CE4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400032" y="30815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= 토큰화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299447" y="3538728"/>
            <a:ext cx="2359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정보 </a:t>
            </a:r>
            <a:r>
              <a:rPr lang="en-US" sz="13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</a:t>
            </a:r>
            <a:r>
              <a:rPr 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토큰으로 </a:t>
            </a:r>
            <a:r>
              <a:rPr lang="en-US" sz="13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40080" y="461772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E2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960120" y="4956048"/>
            <a:ext cx="731520" cy="731520"/>
          </a:xfrm>
          <a:prstGeom prst="line">
            <a:avLst/>
          </a:prstGeom>
          <a:solidFill>
            <a:srgbClr val="F4B740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946" y="5160874"/>
            <a:ext cx="321869" cy="3218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20240" y="4617720"/>
            <a:ext cx="9418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마지막엔 하나의 사이클로 합칩니다  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핀테크 앱에서 '조회 → 이체 → 통합 → </a:t>
            </a:r>
            <a:r>
              <a:rPr lang="en-US" sz="14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배운 것과 이미 연결돼 있어요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개념은 새로운 게 아니라, Spring Boot로 만든 것에 이름을 붙인 것입니다.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950976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2350008"/>
            <a:ext cx="548640" cy="54864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84380" y="2340864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@RestController / @GetMapping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35040" y="2276856"/>
            <a:ext cx="5349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앱이 부를 수 있게 만든 '창구' = 바로 API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227832"/>
            <a:ext cx="10908792" cy="950976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77824" y="3429000"/>
            <a:ext cx="548640" cy="548640"/>
          </a:xfrm>
          <a:prstGeom prst="line">
            <a:avLst/>
          </a:prstGeom>
          <a:solidFill>
            <a:srgbClr val="2C5F8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984380" y="3419856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jQuery ajax 호출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35040" y="3355848"/>
            <a:ext cx="5349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API를</a:t>
            </a: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'부르는' 쪽. </a:t>
            </a:r>
            <a:r>
              <a:rPr lang="en-US" sz="14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앱↔서버</a:t>
            </a: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대화가</a:t>
            </a:r>
            <a:r>
              <a:rPr lang="ko-KR" alt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진행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306824"/>
            <a:ext cx="10908792" cy="950976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77824" y="4507992"/>
            <a:ext cx="548640" cy="548640"/>
          </a:xfrm>
          <a:prstGeom prst="line">
            <a:avLst/>
          </a:prstGeom>
          <a:solidFill>
            <a:srgbClr val="C88418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984380" y="4498848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 저장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035040" y="4434840"/>
            <a:ext cx="5349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고객·계좌·카드 정보가 쌓이는 곳 → </a:t>
            </a:r>
            <a:r>
              <a:rPr lang="ko-KR" alt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중요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5385816"/>
            <a:ext cx="10908792" cy="950976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77824" y="5586984"/>
            <a:ext cx="548640" cy="548640"/>
          </a:xfrm>
          <a:prstGeom prst="line">
            <a:avLst/>
          </a:prstGeom>
          <a:solidFill>
            <a:srgbClr val="BC4F3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984380" y="5577840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AOP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35040" y="5513832"/>
            <a:ext cx="5349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검사·로깅 같은 공통 </a:t>
            </a:r>
            <a:r>
              <a:rPr lang="en-US" sz="14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=&gt; </a:t>
            </a:r>
            <a:r>
              <a:rPr lang="en-US" sz="14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r>
              <a:rPr 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시 사용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01 · 보험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— 앱끼리 대화하는 창구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= 앱과 앱이 '정해진 방식'으로만 주고받게 해주는 약속된 창구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영역에서 핵심일까?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31012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보험은 견적·청약·심사·지급이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병원·제휴사와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연결됩니다.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연결이 전부 API 호출 → 보험은 사실상 'API 덩어리' 비즈니스.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보험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보안의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핵심이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API·게이트웨이 보안입니다.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98932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" y="5907024"/>
            <a:ext cx="457200" cy="457200"/>
          </a:xfrm>
          <a:prstGeom prst="line">
            <a:avLst/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025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58064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연결  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만든 @GetMapping("/quote") 가 곧 보험 </a:t>
            </a:r>
            <a:r>
              <a:rPr lang="en-US" sz="13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API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5448" y="822960"/>
            <a:ext cx="3776472" cy="5641848"/>
          </a:xfrm>
          <a:prstGeom prst="roundRect">
            <a:avLst>
              <a:gd name="adj" fmla="val 2421"/>
            </a:avLst>
          </a:prstGeom>
          <a:solidFill>
            <a:srgbClr val="0E2A47">
              <a:alpha val="99000"/>
            </a:srgbClr>
          </a:solidFill>
          <a:ln>
            <a:noFill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0"/>
          <p:cNvSpPr/>
          <p:nvPr/>
        </p:nvSpPr>
        <p:spPr>
          <a:xfrm>
            <a:off x="8092440" y="10972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비유하면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607296" y="2514600"/>
            <a:ext cx="1188720" cy="118872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8092440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2000" b="1" dirty="0">
                <a:solidFill>
                  <a:schemeClr val="bg1"/>
                </a:solidFill>
              </a:rPr>
              <a:t>병원 접수 창구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38160" y="356616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ko-KR" altLang="ko-KR" sz="1600" dirty="0" err="1">
                <a:solidFill>
                  <a:srgbClr val="D3E0EC"/>
                </a:solidFill>
              </a:rPr>
              <a:t>진료·검사·수납이</a:t>
            </a:r>
            <a:r>
              <a:rPr lang="ko-KR" altLang="ko-KR" sz="1600" dirty="0">
                <a:solidFill>
                  <a:srgbClr val="D3E0EC"/>
                </a:solidFill>
              </a:rPr>
              <a:t> 각각 다른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 부서지만, 환자는 접수 창구(API)</a:t>
            </a:r>
            <a:r>
              <a:rPr lang="ko-KR" altLang="ko-KR" sz="1600" dirty="0" err="1">
                <a:solidFill>
                  <a:srgbClr val="D3E0EC"/>
                </a:solidFill>
              </a:rPr>
              <a:t>를</a:t>
            </a:r>
            <a:r>
              <a:rPr lang="ko-KR" altLang="ko-KR" sz="1600" dirty="0">
                <a:solidFill>
                  <a:srgbClr val="D3E0EC"/>
                </a:solidFill>
              </a:rPr>
              <a:t> 통해서만 요청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 보험 청구가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 err="1">
                <a:solidFill>
                  <a:srgbClr val="D3E0EC"/>
                </a:solidFill>
              </a:rPr>
              <a:t>병원·심사·지급</a:t>
            </a:r>
            <a:r>
              <a:rPr lang="ko-KR" altLang="ko-KR" sz="1600" dirty="0">
                <a:solidFill>
                  <a:srgbClr val="D3E0EC"/>
                </a:solidFill>
              </a:rPr>
              <a:t> 부서를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오가는 </a:t>
            </a:r>
            <a:r>
              <a:rPr lang="ko-KR" altLang="en-US" sz="1600" dirty="0">
                <a:solidFill>
                  <a:srgbClr val="D3E0EC"/>
                </a:solidFill>
              </a:rPr>
              <a:t>모습</a:t>
            </a:r>
            <a:endParaRPr lang="en-US" sz="1450" dirty="0">
              <a:solidFill>
                <a:srgbClr val="D3E0EC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736592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E7F1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877824" y="4992624"/>
            <a:ext cx="457200" cy="45720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2064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736592"/>
            <a:ext cx="5833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보는 개념 · API 게이트웨이
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API 앞에 선 '문지기 서버'. 라우팅 · 인증 · 트래픽 제한을 한 </a:t>
            </a:r>
            <a:r>
              <a:rPr lang="en-US" sz="12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곳에서</a:t>
            </a:r>
            <a:r>
              <a:rPr lang="en-US" sz="12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1200" dirty="0">
              <a:solidFill>
                <a:srgbClr val="36434F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(뒤 실행 흐름도에 등장)</a:t>
            </a:r>
            <a:endParaRPr lang="en-US" sz="1350" dirty="0"/>
          </a:p>
        </p:txBody>
      </p:sp>
      <p:pic>
        <p:nvPicPr>
          <p:cNvPr id="24" name="그래픽 23" descr="의료 윤곽선">
            <a:extLst>
              <a:ext uri="{FF2B5EF4-FFF2-40B4-BE49-F238E27FC236}">
                <a16:creationId xmlns:a16="http://schemas.microsoft.com/office/drawing/2014/main" id="{46800852-564E-1914-C577-4BD2F6D38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436" y="17373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01 · 보험 · 실제 워크플로우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보험은 한 회사에서 </a:t>
            </a:r>
            <a:r>
              <a:rPr lang="en-US" sz="2400" b="1" dirty="0" err="1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끝나지</a:t>
            </a: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않</a:t>
            </a:r>
            <a:r>
              <a:rPr lang="ko-KR" alt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는다</a:t>
            </a:r>
            <a:r>
              <a:rPr lang="en-US" altLang="ko-KR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그래서 'API'가 대표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앱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견적·청약 요청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954" y="2240280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58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0138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772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보험사 심사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772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시스템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21" y="2240280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31613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0F7D72"/>
          </a:solidFill>
          <a:ln w="12700">
            <a:solidFill>
              <a:srgbClr val="0F7D72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259629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223053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 병원·건강데이터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23053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87" y="224028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77379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0F7D72"/>
          </a:solidFill>
          <a:ln w="12700">
            <a:solidFill>
              <a:srgbClr val="0F7D72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7505395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4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68819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재보험·제휴사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68819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254" y="224028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31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0F7D72"/>
          </a:solidFill>
          <a:ln w="12700">
            <a:solidFill>
              <a:srgbClr val="0F7D72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97511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5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7145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지급·결과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7145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 응답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035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960120" y="29992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칸 = 이 흐름에서 '보험'의 핵심 개념이 실제로 작동하는 구간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3456432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14400" y="3639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보험에선 API가 대표일까?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2688" y="4078224"/>
            <a:ext cx="6144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심사·청구·지급마다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병원·재보험사와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주고받음</a:t>
            </a:r>
            <a:r>
              <a:rPr lang="en-US" altLang="ko-KR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기관 간 연결이 전부 API — 연결이 안 되면 업무 자체가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성립하지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않음</a:t>
            </a:r>
            <a:r>
              <a:rPr lang="en-US" altLang="ko-KR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암호화·FDS·접근통제도 쓰지만, 모두 'API로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연결된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뒤’ </a:t>
            </a:r>
          </a:p>
          <a:p>
            <a:pPr>
              <a:lnSpc>
                <a:spcPts val="1700"/>
              </a:lnSpc>
              <a:spcAft>
                <a:spcPts val="600"/>
              </a:spcAft>
              <a:buSzPct val="100000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그 위에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얹히는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보호막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7360920" y="3456432"/>
            <a:ext cx="4187952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635240" y="36210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개념도 쓰입니다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63524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보험에 함께 쓰이는 것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635240" y="4261104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암호화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전송·저장 보호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FDS</a:t>
            </a:r>
            <a:r>
              <a:rPr lang="en-US" sz="1200" b="1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(Fraud Detection System)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부정청구 탐지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접근통제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내부 권한 관리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7635240" y="52303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전부 API 연결 '위'에서 동작 → 그래서 대표는 API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40080" y="5943600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868680" y="6035040"/>
            <a:ext cx="457200" cy="457200"/>
          </a:xfrm>
          <a:prstGeom prst="line">
            <a:avLst/>
          </a:prstGeom>
          <a:solidFill>
            <a:srgbClr val="0B5E56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61630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81328" y="5943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보험의 본질은 '기관 간 연결' — 그 연결의 기본 단위가 API.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02 · 여신·수신 (은행)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79" y="822960"/>
            <a:ext cx="71323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</a:t>
            </a: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- 은행을 하나로 여는 표준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 = 은행마다 다른 API를 '하나의 표준 창구'로 모아 개방한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영역에서 핵심일까?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31012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'표준화' + '인증' — 내가 허락한 앱만 내 계좌에 접근.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토스·카카오뱅크 한 앱에서 전 은행 거래가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돈의 '이동'을 다루므로 전송 암호화·권한 통제가 특히 중요.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98932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" y="5907024"/>
            <a:ext cx="457200" cy="457200"/>
          </a:xfrm>
          <a:prstGeom prst="line">
            <a:avLst/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025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58064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연결  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API 스펙에 </a:t>
            </a:r>
            <a:r>
              <a:rPr lang="en-US" sz="13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호</a:t>
            </a:r>
            <a:r>
              <a:rPr lang="ko-KR" alt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</a:t>
            </a:r>
            <a:r>
              <a:rPr lang="en-US" altLang="ko-KR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822960"/>
            <a:ext cx="3776472" cy="5641848"/>
          </a:xfrm>
          <a:prstGeom prst="roundRect">
            <a:avLst>
              <a:gd name="adj" fmla="val 2421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8092440" y="10972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비유하면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66276" y="1600200"/>
            <a:ext cx="1188720" cy="1188720"/>
          </a:xfrm>
          <a:prstGeom prst="line">
            <a:avLst/>
          </a:prstGeom>
          <a:solidFill>
            <a:srgbClr val="2C5F8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93304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2000" b="1" dirty="0">
                <a:solidFill>
                  <a:schemeClr val="bg1"/>
                </a:solidFill>
              </a:rPr>
              <a:t>지하철 환승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38160" y="356616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호선마다 회사가 달라도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교통카드 하나로 </a:t>
            </a:r>
            <a:r>
              <a:rPr lang="ko-KR" altLang="en-US" sz="1600" dirty="0">
                <a:solidFill>
                  <a:srgbClr val="D3E0EC"/>
                </a:solidFill>
              </a:rPr>
              <a:t>갈아타듯이</a:t>
            </a:r>
            <a:r>
              <a:rPr lang="en-US" altLang="ko-KR" sz="1600" dirty="0">
                <a:solidFill>
                  <a:srgbClr val="D3E0EC"/>
                </a:solidFill>
              </a:rPr>
              <a:t>,</a:t>
            </a:r>
          </a:p>
          <a:p>
            <a:pPr algn="ctr">
              <a:lnSpc>
                <a:spcPts val="2300"/>
              </a:lnSpc>
            </a:pP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 은행이 달라도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오픈</a:t>
            </a:r>
            <a:r>
              <a:rPr lang="en-US" altLang="ko-KR" sz="1600" dirty="0">
                <a:solidFill>
                  <a:srgbClr val="D3E0EC"/>
                </a:solidFill>
              </a:rPr>
              <a:t> </a:t>
            </a:r>
            <a:r>
              <a:rPr lang="ko-KR" altLang="ko-KR" sz="1600" dirty="0">
                <a:solidFill>
                  <a:srgbClr val="D3E0EC"/>
                </a:solidFill>
              </a:rPr>
              <a:t>뱅킹이라는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공통 규격 위에서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계좌가 자유롭게</a:t>
            </a:r>
            <a:r>
              <a:rPr lang="en-US" altLang="ko-KR" sz="1600" dirty="0">
                <a:solidFill>
                  <a:srgbClr val="D3E0EC"/>
                </a:solidFill>
              </a:rPr>
              <a:t> </a:t>
            </a:r>
            <a:r>
              <a:rPr lang="ko-KR" altLang="en-US" sz="1600" dirty="0">
                <a:solidFill>
                  <a:srgbClr val="D3E0EC"/>
                </a:solidFill>
              </a:rPr>
              <a:t>연결</a:t>
            </a:r>
            <a:r>
              <a:rPr lang="en-US" altLang="ko-KR" sz="1600" dirty="0">
                <a:solidFill>
                  <a:srgbClr val="D3E0EC"/>
                </a:solidFill>
              </a:rPr>
              <a:t>.</a:t>
            </a:r>
            <a:endParaRPr lang="en-US" sz="1450" dirty="0">
              <a:solidFill>
                <a:srgbClr val="D3E0E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02 · 여신·수신 · 실제 워크플로우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업무의 핵심은 '돈의 이동' — 그래서 '오픈뱅킹'이 대표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 계좌 등록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954" y="2240280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58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2C5F8F"/>
          </a:solidFill>
          <a:ln w="12700">
            <a:solidFill>
              <a:srgbClr val="2C5F8F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0138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772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 공동망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772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본인·계좌 인증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21" y="2240280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31613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2C5F8F"/>
          </a:solidFill>
          <a:ln w="12700">
            <a:solidFill>
              <a:srgbClr val="2C5F8F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259629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223053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 조회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23053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API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87" y="224028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77379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2C5F8F"/>
          </a:solidFill>
          <a:ln w="12700">
            <a:solidFill>
              <a:srgbClr val="2C5F8F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7505395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4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68819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타행 이체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68819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API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254" y="224028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31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97511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7145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7145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표시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035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960120" y="29992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칸 = 이 흐름에서 '여신·수신'의 핵심 개념이 실제로 작동하는 구간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3456432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14400" y="3639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은행에선 오픈뱅킹이 대표일까?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2688" y="4078224"/>
            <a:ext cx="6144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endParaRPr lang="en-US" sz="1450" dirty="0">
              <a:solidFill>
                <a:srgbClr val="2B374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은행마다 따로 제휴해야 계좌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조회·이체가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r>
              <a:rPr lang="en-US" altLang="ko-KR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오픈뱅킹은 모든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은행을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＇</a:t>
            </a:r>
            <a:r>
              <a:rPr lang="ko-KR" altLang="ko-KR" sz="1450" dirty="0"/>
              <a:t>금융권 공동 오픈 API'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＇로 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개방</a:t>
            </a:r>
            <a:r>
              <a:rPr lang="en-US" altLang="ko-KR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7360920" y="3456432"/>
            <a:ext cx="4187952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635240" y="36210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개념도 쓰입니다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63524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은행에 함께 쓰이는 것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635240" y="4261104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대칭키 암호화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계좌·거래 데이터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전자서명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약정·승인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암호화(TLS)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7635240" y="52303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도메인을 규정하는 건 '개방·표준' = 오픈뱅킹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40080" y="5943600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868680" y="6035040"/>
            <a:ext cx="457200" cy="457200"/>
          </a:xfrm>
          <a:prstGeom prst="line">
            <a:avLst/>
          </a:prstGeom>
          <a:solidFill>
            <a:srgbClr val="244E77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61630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81328" y="5943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은행을 하나처럼 쓰게 만든 표준 관문 = 오픈뱅킹.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03 · 증권사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04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</a:t>
            </a: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- 내 데이터의 주인은 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= 흩어진 내 </a:t>
            </a:r>
            <a:r>
              <a:rPr lang="en-US" sz="15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금융정보를</a:t>
            </a: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'</a:t>
            </a:r>
            <a:r>
              <a:rPr lang="en-US" sz="15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</a:t>
            </a:r>
            <a:r>
              <a:rPr lang="ko-KR" alt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 </a:t>
            </a:r>
            <a:r>
              <a:rPr lang="ko-KR" altLang="en-US" sz="15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버튼으</a:t>
            </a: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곳에 모아 보는 권리·서비스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영역에서 핵심일까?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31012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endParaRPr lang="en-US" sz="1450" dirty="0">
              <a:solidFill>
                <a:srgbClr val="2B374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증권·자산관리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앱이 대표 주자 — 전 자산을 한 화면에 통합.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키워드: 동의(consent) · 전송요구권 · 최소수집.</a:t>
            </a:r>
            <a:endParaRPr lang="en-US" sz="1450" dirty="0"/>
          </a:p>
          <a:p>
            <a:pPr>
              <a:lnSpc>
                <a:spcPts val="1900"/>
              </a:lnSpc>
              <a:spcAft>
                <a:spcPts val="700"/>
              </a:spcAft>
              <a:buSzPct val="100000"/>
            </a:pP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98932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" y="5907024"/>
            <a:ext cx="457200" cy="457200"/>
          </a:xfrm>
          <a:prstGeom prst="line">
            <a:avLst/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025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58064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연결  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API 응답을 모아 가공 → DB </a:t>
            </a:r>
            <a:r>
              <a:rPr lang="en-US" sz="1300" dirty="0" err="1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822960"/>
            <a:ext cx="3776472" cy="5641848"/>
          </a:xfrm>
          <a:prstGeom prst="roundRect">
            <a:avLst>
              <a:gd name="adj" fmla="val 2421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8092440" y="10972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비유하면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66276" y="1600200"/>
            <a:ext cx="1188720" cy="1188720"/>
          </a:xfrm>
          <a:prstGeom prst="line">
            <a:avLst/>
          </a:prstGeom>
          <a:solidFill>
            <a:srgbClr val="C88418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93304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9718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 스크랩북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138160" y="3566160"/>
            <a:ext cx="32674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은행·카드·증권·보험에 </a:t>
            </a:r>
            <a:r>
              <a:rPr lang="en-US" sz="1450" dirty="0" err="1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</a:t>
            </a: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기록을,</a:t>
            </a:r>
            <a:endParaRPr lang="en-US" sz="1450" dirty="0"/>
          </a:p>
          <a:p>
            <a:pPr marL="0" indent="0" algn="ctr">
              <a:lnSpc>
                <a:spcPts val="2300"/>
              </a:lnSpc>
              <a:buNone/>
            </a:pPr>
            <a:endParaRPr lang="en-US" sz="14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'동의' 버튼을 누르면 한 </a:t>
            </a:r>
            <a:r>
              <a:rPr lang="en-US" sz="1450" dirty="0" err="1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</a:t>
            </a: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</a:t>
            </a:r>
            <a:r>
              <a:rPr lang="ko-KR" alt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줌</a:t>
            </a:r>
            <a:r>
              <a:rPr lang="en-US" altLang="ko-KR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  <a:p>
            <a:pPr marL="0" indent="0" algn="ctr">
              <a:lnSpc>
                <a:spcPts val="2300"/>
              </a:lnSpc>
              <a:buNone/>
            </a:pPr>
            <a:endParaRPr lang="en-US" sz="14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오픈뱅킹이 '돈의 이동'이라면,</a:t>
            </a:r>
            <a:endParaRPr lang="en-US" sz="14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D3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마이데이터는 '데이터의 이동(조회)'.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03 · 증권 · 실제 워크플로우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자산관리의 가치는 '한눈에 통합' — 그래서 '마이데이터'가 대표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C88418"/>
          </a:solidFill>
          <a:ln w="12700">
            <a:solidFill>
              <a:srgbClr val="C88418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'자산 모아보기' 동의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954" y="2240280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58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C88418"/>
          </a:solidFill>
          <a:ln w="12700">
            <a:solidFill>
              <a:srgbClr val="C88418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0138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772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사업자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772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전송요구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21" y="2240280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31613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259629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223053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은행·카드·증권·보험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23053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기관 API 조회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87" y="224028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77379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C88418"/>
          </a:solidFill>
          <a:ln w="12700">
            <a:solidFill>
              <a:srgbClr val="C88418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7505395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4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68819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통합·분석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68819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254" y="224028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31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97511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7145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제안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7145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표시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035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960120" y="29992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칸 = 이 흐름에서 '증권'의 핵심 개념이 실제로 작동하는 구간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3456432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14400" y="3639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증권에선 마이데이터가 대표일까?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2688" y="4078224"/>
            <a:ext cx="6428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증권·자산관리의 핵심은 흩어진 자산을 한 화면에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것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'내 동의(전송요구)로 여러 기관 데이터를 통합'하는 게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API로 가져오지만, 그 흐름을 '동의 기반 통합'으로 만드는 규칙이 마이데이터.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7360920" y="3456432"/>
            <a:ext cx="4187952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635240" y="36210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개념도 쓰입니다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63524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증권에 함께 쓰이는 것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635240" y="4261104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강한 인증(MFA·FIDO)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계정 보호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FDS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이상거래 탐지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식별정보 대체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7635240" y="52303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서비스를 규정하는 건 '데이터 통합' = 마이데이터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40080" y="5943600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868680" y="6035040"/>
            <a:ext cx="457200" cy="457200"/>
          </a:xfrm>
          <a:prstGeom prst="line">
            <a:avLst/>
          </a:prstGeom>
          <a:solidFill>
            <a:srgbClr val="9A651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61630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81328" y="5943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오픈뱅킹이 '돈의 이동'이면, 마이데이터는 '데이터의 이동'.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04 · 카드사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 — 진짜 정보 대신 대체값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 = 진짜 카드번호(PAN) 대신, 의미 없는 대체값(</a:t>
            </a:r>
            <a:r>
              <a:rPr lang="en-US" sz="15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</a:t>
            </a: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r>
              <a:rPr lang="ko-KR" alt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영역에서 핵심일까?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31012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유출돼도 토큰은 특정 가맹점·기기에서만 유효 → 피해 최소화.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애플페이·삼성페이가 바로 이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14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보안의 최우선 = 카드번호를 '노출하지 않는' 것.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98932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" y="5907024"/>
            <a:ext cx="457200" cy="457200"/>
          </a:xfrm>
          <a:prstGeom prst="line">
            <a:avLst/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025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58064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연결  </a:t>
            </a:r>
            <a:r>
              <a:rPr lang="en-US" sz="1300" dirty="0">
                <a:solidFill>
                  <a:srgbClr val="364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카드번호 원본을 Oracle에 그대로 저장 ❌ → 토큰·암호화 저장 ⭕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822960"/>
            <a:ext cx="3776472" cy="5641848"/>
          </a:xfrm>
          <a:prstGeom prst="roundRect">
            <a:avLst>
              <a:gd name="adj" fmla="val 2421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0"/>
          <p:cNvSpPr/>
          <p:nvPr/>
        </p:nvSpPr>
        <p:spPr>
          <a:xfrm>
            <a:off x="8092440" y="10972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비유하면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66276" y="1600200"/>
            <a:ext cx="1188720" cy="1188720"/>
          </a:xfrm>
          <a:prstGeom prst="line">
            <a:avLst/>
          </a:prstGeom>
          <a:solidFill>
            <a:srgbClr val="BC4F3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8092439" y="26746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식당 </a:t>
            </a:r>
            <a:r>
              <a:rPr lang="ko-KR" altLang="en-US" sz="19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알람벨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138160" y="342900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주문할 때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내 </a:t>
            </a:r>
            <a:r>
              <a:rPr lang="ko-KR" altLang="ko-KR" sz="1600" dirty="0" err="1">
                <a:solidFill>
                  <a:srgbClr val="D3E0EC"/>
                </a:solidFill>
              </a:rPr>
              <a:t>이름·연락처</a:t>
            </a:r>
            <a:r>
              <a:rPr lang="ko-KR" altLang="ko-KR" sz="1600" dirty="0">
                <a:solidFill>
                  <a:srgbClr val="D3E0EC"/>
                </a:solidFill>
              </a:rPr>
              <a:t>(원본)</a:t>
            </a:r>
            <a:r>
              <a:rPr lang="ko-KR" altLang="ko-KR" sz="1600" dirty="0" err="1">
                <a:solidFill>
                  <a:srgbClr val="D3E0EC"/>
                </a:solidFill>
              </a:rPr>
              <a:t>를</a:t>
            </a:r>
            <a:r>
              <a:rPr lang="ko-KR" altLang="ko-KR" sz="1600" dirty="0">
                <a:solidFill>
                  <a:srgbClr val="D3E0EC"/>
                </a:solidFill>
              </a:rPr>
              <a:t> 안 넘기고 </a:t>
            </a:r>
            <a:r>
              <a:rPr lang="ko-KR" altLang="ko-KR" sz="1600" dirty="0" err="1">
                <a:solidFill>
                  <a:srgbClr val="D3E0EC"/>
                </a:solidFill>
              </a:rPr>
              <a:t>진동벨</a:t>
            </a:r>
            <a:r>
              <a:rPr lang="ko-KR" altLang="ko-KR" sz="1600" dirty="0">
                <a:solidFill>
                  <a:srgbClr val="D3E0EC"/>
                </a:solidFill>
              </a:rPr>
              <a:t>(토큰)만 받</a:t>
            </a:r>
            <a:r>
              <a:rPr lang="ko-KR" altLang="en-US" sz="1600" dirty="0">
                <a:solidFill>
                  <a:srgbClr val="D3E0EC"/>
                </a:solidFill>
              </a:rPr>
              <a:t>음</a:t>
            </a:r>
            <a:r>
              <a:rPr lang="en-US" altLang="ko-KR" sz="1600" dirty="0">
                <a:solidFill>
                  <a:srgbClr val="D3E0EC"/>
                </a:solidFill>
              </a:rPr>
              <a:t>.</a:t>
            </a:r>
            <a:r>
              <a:rPr lang="ko-KR" altLang="ko-KR" sz="1600" dirty="0">
                <a:solidFill>
                  <a:srgbClr val="D3E0EC"/>
                </a:solidFill>
              </a:rPr>
              <a:t>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 err="1">
                <a:solidFill>
                  <a:srgbClr val="D3E0EC"/>
                </a:solidFill>
              </a:rPr>
              <a:t>벨을</a:t>
            </a:r>
            <a:r>
              <a:rPr lang="ko-KR" altLang="ko-KR" sz="1600" dirty="0">
                <a:solidFill>
                  <a:srgbClr val="D3E0EC"/>
                </a:solidFill>
              </a:rPr>
              <a:t> 잃어버려도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개인정보는 새지 않고, </a:t>
            </a:r>
            <a:endParaRPr lang="en-US" altLang="ko-KR" sz="1600" dirty="0">
              <a:solidFill>
                <a:srgbClr val="D3E0EC"/>
              </a:solidFill>
            </a:endParaRPr>
          </a:p>
          <a:p>
            <a:pPr algn="ctr">
              <a:lnSpc>
                <a:spcPts val="2300"/>
              </a:lnSpc>
            </a:pPr>
            <a:r>
              <a:rPr lang="ko-KR" altLang="ko-KR" sz="1600" dirty="0">
                <a:solidFill>
                  <a:srgbClr val="D3E0EC"/>
                </a:solidFill>
              </a:rPr>
              <a:t>그 식당 안에서 음식 받을 때만 </a:t>
            </a:r>
            <a:r>
              <a:rPr lang="ko-KR" altLang="en-US" sz="1600" dirty="0">
                <a:solidFill>
                  <a:srgbClr val="D3E0EC"/>
                </a:solidFill>
              </a:rPr>
              <a:t>사용</a:t>
            </a:r>
            <a:r>
              <a:rPr lang="en-US" altLang="ko-KR" sz="1600" dirty="0">
                <a:solidFill>
                  <a:srgbClr val="D3E0EC"/>
                </a:solidFill>
              </a:rPr>
              <a:t>.</a:t>
            </a:r>
            <a:endParaRPr lang="en-US" sz="1450" dirty="0">
              <a:solidFill>
                <a:srgbClr val="D3E0EC"/>
              </a:solidFill>
            </a:endParaRPr>
          </a:p>
        </p:txBody>
      </p:sp>
      <p:pic>
        <p:nvPicPr>
          <p:cNvPr id="22" name="그래픽 21" descr="호텔 벨 단색으로 채워진">
            <a:extLst>
              <a:ext uri="{FF2B5EF4-FFF2-40B4-BE49-F238E27FC236}">
                <a16:creationId xmlns:a16="http://schemas.microsoft.com/office/drawing/2014/main" id="{FB0B3EB9-7F0A-C1A2-3BDB-57F718646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65081" y="1821865"/>
            <a:ext cx="791109" cy="7911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04 · 카드 · 실제 워크플로우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카드의 최우선 리스크는 '번호 유출' — 그래서 '토큰화'가 대표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 카드 등록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954" y="2240280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58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BC4F3C"/>
          </a:solidFill>
          <a:ln w="12700">
            <a:solidFill>
              <a:srgbClr val="BC4F3C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0138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772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카드번호 → 토큰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772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21" y="2240280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31613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BC4F3C"/>
          </a:solidFill>
          <a:ln w="12700">
            <a:solidFill>
              <a:srgbClr val="BC4F3C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259629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223053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앱·가맹점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23053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토큰만 저장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87" y="224028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77379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BC4F3C"/>
          </a:solidFill>
          <a:ln w="12700">
            <a:solidFill>
              <a:srgbClr val="BC4F3C"/>
            </a:solidFill>
            <a:prstDash val="solid"/>
          </a:ln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7505395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4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68819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68819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3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토큰으로 승인요청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254" y="224028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3146" y="1847088"/>
            <a:ext cx="1925726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9751162" y="1938528"/>
            <a:ext cx="166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9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714586" y="2157984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카드사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714586" y="2606040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토큰↔원본 매핑 승인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035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960120" y="29992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칸 = 이 흐름에서 '카드'의 핵심 개념이 실제로 작동하는 구간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3456432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14400" y="3639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카드에선 토큰화가 대표일까?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2688" y="4078224"/>
            <a:ext cx="6144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카드의 가장 큰 위험은 카드번호 유출 →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부정사용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토큰화는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진행되는 흐름 중 진행 </a:t>
            </a:r>
            <a:r>
              <a:rPr lang="en-US" altLang="ko-KR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번호 유출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피해를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ts val="1700"/>
              </a:lnSpc>
              <a:spcAft>
                <a:spcPts val="600"/>
              </a:spcAft>
              <a:buSzPct val="100000"/>
            </a:pP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</a:t>
            </a:r>
            <a:endParaRPr lang="en-US" sz="14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애플페이·삼성페이</a:t>
            </a:r>
            <a:r>
              <a:rPr lang="ko-KR" alt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r>
              <a:rPr lang="en-US" sz="14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7360920" y="3456432"/>
            <a:ext cx="4187952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635240" y="36210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개념도 쓰입니다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63524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 함께 쓰이는 것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635240" y="4261104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FDS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이상거래 탐지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Secure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결제 추가 인증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EMV 칩</a:t>
            </a:r>
            <a:r>
              <a:rPr lang="en-US" sz="12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위조 방지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7635240" y="52303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이들은 '탐지·추가확인', 토큰화는 '노출 자체 제거' 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40080" y="5943600"/>
            <a:ext cx="10908792" cy="640080"/>
          </a:xfrm>
          <a:prstGeom prst="roundRect">
            <a:avLst>
              <a:gd name="adj" fmla="val 14286"/>
            </a:avLst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868680" y="6035040"/>
            <a:ext cx="457200" cy="457200"/>
          </a:xfrm>
          <a:prstGeom prst="line">
            <a:avLst/>
          </a:prstGeom>
          <a:solidFill>
            <a:srgbClr val="8E3B2B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61630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81328" y="5943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  </a:t>
            </a: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번호를 노출하지 않는 것이 카드 보안의 근본 — 그게 토큰화.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 THE DOTS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개념은 이렇게 얹혀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5257800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0F7D7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5468112"/>
            <a:ext cx="502920" cy="502920"/>
          </a:xfrm>
          <a:prstGeom prst="line">
            <a:avLst/>
          </a:prstGeom>
          <a:solidFill>
            <a:srgbClr val="0C6960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5608930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52578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— 모든 대화의 토대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앱↔기관이 주고받는 기본 통로. 아래 모든 것이 API 위에서 돕니다.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2C5F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97280" y="4370832"/>
            <a:ext cx="502920" cy="502920"/>
          </a:xfrm>
          <a:prstGeom prst="line">
            <a:avLst/>
          </a:prstGeom>
          <a:solidFill>
            <a:srgbClr val="234E77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98" y="4511650"/>
            <a:ext cx="221285" cy="221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41605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 — 은행 API를 표준화</a:t>
            </a:r>
            <a:endParaRPr lang="en-US" sz="15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3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'돈의 이동'을 여러 은행에 걸쳐 개방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097280" y="306324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C8841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325880" y="3273552"/>
            <a:ext cx="502920" cy="502920"/>
          </a:xfrm>
          <a:prstGeom prst="line">
            <a:avLst/>
          </a:prstGeom>
          <a:solidFill>
            <a:srgbClr val="A66C1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698" y="3414370"/>
            <a:ext cx="221285" cy="2212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063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— 동의로 내 데이터 통합</a:t>
            </a:r>
            <a:endParaRPr lang="en-US" sz="15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6E7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위에서 '데이터의 이동(조회)'을 담당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9728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위로 갈수록 'API를 응용'한 것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098280" y="3063240"/>
            <a:ext cx="2450592" cy="3108960"/>
          </a:xfrm>
          <a:prstGeom prst="roundRect">
            <a:avLst>
              <a:gd name="adj" fmla="val 3731"/>
            </a:avLst>
          </a:prstGeom>
          <a:solidFill>
            <a:srgbClr val="BC4F3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9966960" y="3383280"/>
            <a:ext cx="713232" cy="713232"/>
          </a:xfrm>
          <a:prstGeom prst="line">
            <a:avLst/>
          </a:prstGeom>
          <a:solidFill>
            <a:srgbClr val="9E4030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665" y="3582985"/>
            <a:ext cx="313822" cy="31382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8280" y="42245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9281160" y="46634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F6DD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흐름에 실려 가는 민감정보를 가로질러 보호하는 '보호막'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사이클: 핀테크 앱에서의 '김취준 님 하루'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16375B"/>
          </a:solidFill>
          <a:ln/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72184" y="2240280"/>
            <a:ext cx="914400" cy="91440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130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2918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7824" y="37764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켜면 각 기관에 </a:t>
            </a: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API로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25983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84448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16375B"/>
          </a:solidFill>
          <a:ln/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398264" y="2240280"/>
            <a:ext cx="914400" cy="914400"/>
          </a:xfrm>
          <a:prstGeom prst="line">
            <a:avLst/>
          </a:prstGeom>
          <a:solidFill>
            <a:srgbClr val="2C5F8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24963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2130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67328" y="32918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이체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803904" y="37764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오픈뱅킹으로 </a:t>
            </a: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>
              <a:solidFill>
                <a:srgbClr val="C7D6E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송금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25983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10528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16375B"/>
          </a:solidFill>
          <a:ln/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7324344" y="2240280"/>
            <a:ext cx="914400" cy="914400"/>
          </a:xfrm>
          <a:prstGeom prst="line">
            <a:avLst/>
          </a:prstGeom>
          <a:solidFill>
            <a:srgbClr val="C88418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249631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93408" y="2130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693408" y="32918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통합조회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729984" y="37764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마이데이터로 </a:t>
            </a: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카드·증권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보험까지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자산 모아보기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259836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436608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16375B"/>
          </a:solidFill>
          <a:ln/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10250424" y="2240280"/>
            <a:ext cx="914400" cy="914400"/>
          </a:xfrm>
          <a:prstGeom prst="line">
            <a:avLst/>
          </a:prstGeom>
          <a:solidFill>
            <a:srgbClr val="BC4F3C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456" y="2496312"/>
            <a:ext cx="402336" cy="40233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619488" y="2130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F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9619488" y="32918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656064" y="37764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결제 시 </a:t>
            </a: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카드번호는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토큰으로</a:t>
            </a:r>
            <a:r>
              <a:rPr lang="en-US" sz="13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바뀌어 전송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58368" y="5212080"/>
            <a:ext cx="10881360" cy="914400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868680" y="5394960"/>
            <a:ext cx="548640" cy="548640"/>
          </a:xfrm>
          <a:prstGeom prst="line">
            <a:avLst/>
          </a:prstGeom>
          <a:solidFill>
            <a:srgbClr val="F4B740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299" y="5548579"/>
            <a:ext cx="241402" cy="24140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600200" y="5212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다시 처음으로  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앱은 결과를 다시 API 응답으로 </a:t>
            </a:r>
            <a:r>
              <a:rPr lang="en-US" sz="14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보여준다</a:t>
            </a: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이 4단계가 매 순간 돌고 도는 하나의 사이클입니다.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C5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→ CONCEPT → OUR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 단계 × 우리가 배운 것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3794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사용자가 하는 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 개념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우리가 배운 것과 연결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연결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앱이 서버에 요청을 보냄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@RestController · @GetMapping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이체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은행 잔고 확인 · 송금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오픈뱅킹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REST 스펙에 맞춘 ajax 호출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통합조회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자산을 한 화면에 모아보기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마이데이터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API 응답 조합 → DB 저장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결제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카드로 지불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토큰화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4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대신 토큰·암호화로 DB 저장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C6B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· 로깅 · 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공통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74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Spring AOP로 공통 관심사 분리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줄로: API로 연결하고 · 오픈뱅킹으로 열고 · 마이데이터로 모으고 · 토큰화로 지킨다.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8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&amp; 취준 포인트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084832"/>
            <a:ext cx="731520" cy="731520"/>
          </a:xfrm>
          <a:prstGeom prst="line">
            <a:avLst/>
          </a:prstGeom>
          <a:solidFill>
            <a:srgbClr val="F4B740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6" y="2289658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737360"/>
            <a:ext cx="9418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연결(API) · 개방(오픈뱅킹) · 통합(마이데이터) · 보호(토큰화)
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보안은 결국 이 네 동사를 안전하게 이어 붙이는 일입니다.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면접에서 이렇게 말하면 좋아요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970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9319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설계 — 자원 단위로 창구를 나눠 만든 경험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99632" y="393192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1970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12864" y="39319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· 인가 — '내가 허락한 앱만' 접근하도록 통제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9377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0293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3312" y="4937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보호 — 원본 대신 암호화·토큰화로 저장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199632" y="493776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520293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12864" y="4937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2B37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AOP — 인증·로깅 같은 공통 관심사를 한 곳에서 처리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FILE · FOUR CONCEPTS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2064" y="1463040"/>
            <a:ext cx="8229600" cy="5074920"/>
          </a:xfrm>
          <a:prstGeom prst="roundRect">
            <a:avLst>
              <a:gd name="adj" fmla="val 1441"/>
            </a:avLst>
          </a:prstGeom>
          <a:solidFill>
            <a:srgbClr val="0F2233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146304" cy="146304"/>
          </a:xfrm>
          <a:prstGeom prst="line">
            <a:avLst/>
          </a:prstGeom>
          <a:solidFill>
            <a:srgbClr val="E86B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78992" y="1664208"/>
            <a:ext cx="146304" cy="146304"/>
          </a:xfrm>
          <a:prstGeom prst="line">
            <a:avLst/>
          </a:prstGeom>
          <a:solidFill>
            <a:srgbClr val="E7B2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5024" y="1664208"/>
            <a:ext cx="146304" cy="146304"/>
          </a:xfrm>
          <a:prstGeom prst="line">
            <a:avLst/>
          </a:prstGeom>
          <a:solidFill>
            <a:srgbClr val="5FB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91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FinanceController.java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956816"/>
            <a:ext cx="7818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C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핀테크 앱: 조회 + 결제를 한 흐름으로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FinanceController 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@GetMapping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("/dashboard")</a:t>
            </a:r>
            <a:r>
              <a:rPr lang="en-US" sz="1100" dirty="0">
                <a:solidFill>
                  <a:srgbClr val="4FD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① API 창구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D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Dashboard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load(String uid) 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    = bank.balance(uid);</a:t>
            </a:r>
            <a:r>
              <a:rPr lang="en-US" sz="1100" dirty="0">
                <a:solidFill>
                  <a:srgbClr val="6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② 오픈뱅킹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 = myData.get(uid);</a:t>
            </a:r>
            <a:r>
              <a:rPr lang="en-US" sz="1100" dirty="0">
                <a:solidFill>
                  <a:srgbClr val="E7B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③ 마이데이터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Dashboard(bal, assets);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@PostMapping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("/pay")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DE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Receipt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pay(String cardNo, int amt) 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tokenizer.encrypt(cardNo);</a:t>
            </a:r>
            <a:r>
              <a:rPr lang="en-US" sz="1100" dirty="0">
                <a:solidFill>
                  <a:srgbClr val="E8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④ 토큰화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repo.save(tok, amt);</a:t>
            </a:r>
            <a:r>
              <a:rPr lang="en-US" sz="1100" dirty="0">
                <a:solidFill>
                  <a:srgbClr val="7C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Oracle엔 토큰만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Receipt("OK");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@Aspect        // 공통(AOP): 요청 앞단에서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SecurityAspect 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("execution(* Finance…))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check() { </a:t>
            </a:r>
            <a:r>
              <a:rPr lang="en-US" sz="1100" dirty="0">
                <a:solidFill>
                  <a:srgbClr val="7C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인증 · 로깅 */</a:t>
            </a: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42832" y="146304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217152" y="1691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= 한 개념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17152" y="2331720"/>
            <a:ext cx="237744" cy="237744"/>
          </a:xfrm>
          <a:prstGeom prst="line">
            <a:avLst/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564624" y="2240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64624" y="25511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창구 = @GetMapping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17152" y="3108960"/>
            <a:ext cx="237744" cy="237744"/>
          </a:xfrm>
          <a:prstGeom prst="line">
            <a:avLst/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64624" y="3017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오픈뱅킹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64624" y="3328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bank.balance()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17152" y="3886200"/>
            <a:ext cx="237744" cy="237744"/>
          </a:xfrm>
          <a:prstGeom prst="line">
            <a:avLst/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564624" y="3794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마이데이터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64624" y="41056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myData.get()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17152" y="4663440"/>
            <a:ext cx="237744" cy="237744"/>
          </a:xfrm>
          <a:prstGeom prst="line">
            <a:avLst/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64624" y="45720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토큰화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64624" y="48828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tokenizer.encrypt()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17152" y="5440680"/>
            <a:ext cx="237744" cy="237744"/>
          </a:xfrm>
          <a:prstGeom prst="line">
            <a:avLst/>
          </a:prstGeom>
          <a:solidFill>
            <a:srgbClr val="5C6B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564624" y="53492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· AOP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64624" y="5660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 인증·로깅</a:t>
            </a:r>
            <a:endParaRPr lang="en-US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8D0C01-A87A-3DA3-8874-BAECBB2D1A05}"/>
              </a:ext>
            </a:extLst>
          </p:cNvPr>
          <p:cNvSpPr txBox="1"/>
          <p:nvPr/>
        </p:nvSpPr>
        <p:spPr>
          <a:xfrm>
            <a:off x="548640" y="768096"/>
            <a:ext cx="85434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다음주 계획 </a:t>
            </a:r>
            <a:r>
              <a:rPr lang="en-US" altLang="ko-KR" sz="3000" b="1" dirty="0"/>
              <a:t>: IT </a:t>
            </a:r>
            <a:r>
              <a:rPr lang="ko-KR" altLang="en-US" sz="3000" b="1" dirty="0"/>
              <a:t>구현</a:t>
            </a:r>
            <a:r>
              <a:rPr lang="en-US" altLang="ko-KR" sz="3000" b="1" dirty="0"/>
              <a:t>(</a:t>
            </a:r>
            <a:r>
              <a:rPr lang="ko-KR" altLang="en-US" sz="3000" b="1" dirty="0"/>
              <a:t>코드와 </a:t>
            </a:r>
            <a:r>
              <a:rPr lang="en-US" altLang="ko-KR" sz="3000" b="1" dirty="0"/>
              <a:t>DB </a:t>
            </a:r>
            <a:r>
              <a:rPr lang="ko-KR" altLang="en-US" sz="3000" b="1" dirty="0"/>
              <a:t>관련</a:t>
            </a:r>
            <a:r>
              <a:rPr lang="en-US" altLang="ko-KR" sz="3000" b="1" dirty="0"/>
              <a:t>)</a:t>
            </a:r>
            <a:endParaRPr lang="ko-KR" altLang="en-US" sz="3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VISUALIZER · 실제 실행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실제로 도는 순서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18304" y="102412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34506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809744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앱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호출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43600" y="1517904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10512"/>
            <a:ext cx="10908792" cy="548640"/>
          </a:xfrm>
          <a:prstGeom prst="roundRect">
            <a:avLst>
              <a:gd name="adj" fmla="val 16667"/>
            </a:avLst>
          </a:prstGeom>
          <a:solidFill>
            <a:srgbClr val="1E3E5C"/>
          </a:solidFill>
          <a:ln w="19050">
            <a:solidFill>
              <a:srgbClr val="6FA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68680" y="1883664"/>
            <a:ext cx="402336" cy="402336"/>
          </a:xfrm>
          <a:prstGeom prst="line">
            <a:avLst/>
          </a:prstGeom>
          <a:solidFill>
            <a:srgbClr val="2C5F8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34" y="1996318"/>
            <a:ext cx="177028" cy="1770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1051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게이트웨이  </a:t>
            </a:r>
            <a:r>
              <a:rPr lang="en-US" sz="1300" dirty="0">
                <a:solidFill>
                  <a:srgbClr val="D6E3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라우팅 · 인증 · rate limit · TLS 종료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73252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FC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앞단 · 별도 서버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43600" y="237744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2651760"/>
            <a:ext cx="10908792" cy="548640"/>
          </a:xfrm>
          <a:prstGeom prst="roundRect">
            <a:avLst>
              <a:gd name="adj" fmla="val 16667"/>
            </a:avLst>
          </a:prstGeom>
          <a:solidFill>
            <a:srgbClr val="3A3320"/>
          </a:solidFill>
          <a:ln w="1905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868680" y="2724912"/>
            <a:ext cx="402336" cy="402336"/>
          </a:xfrm>
          <a:prstGeom prst="line">
            <a:avLst/>
          </a:prstGeom>
          <a:solidFill>
            <a:srgbClr val="8A6D1E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34" y="2837566"/>
            <a:ext cx="177028" cy="1770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651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@Before · AOP 관문  </a:t>
            </a:r>
            <a:r>
              <a:rPr lang="en-US" sz="1300" dirty="0">
                <a:solidFill>
                  <a:srgbClr val="E6D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인증 · 로깅 (앱 코드 공통 처리)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73252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CDBB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 · 같은 프로세스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43600" y="3218688"/>
            <a:ext cx="27432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0080" y="3511296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637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640080" y="35112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조회 · GET /dashboard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" y="38953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34506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731520" y="38953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Controller.load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3474720" y="38953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2C5F8F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3566160" y="38953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bank.balance()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6309360" y="38953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C88418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/>
          <p:nvPr/>
        </p:nvSpPr>
        <p:spPr>
          <a:xfrm>
            <a:off x="6400800" y="38953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myData.get()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9144000" y="38953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7D72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/>
          <p:nvPr/>
        </p:nvSpPr>
        <p:spPr>
          <a:xfrm>
            <a:off x="9235440" y="38953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 응답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4169664"/>
            <a:ext cx="274320" cy="27432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4169664"/>
            <a:ext cx="274320" cy="27432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4169664"/>
            <a:ext cx="27432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640080" y="4901184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637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3"/>
          <p:cNvSpPr/>
          <p:nvPr/>
        </p:nvSpPr>
        <p:spPr>
          <a:xfrm>
            <a:off x="640080" y="4901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결제 · POST /pay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640080" y="528523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34506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/>
          <p:nvPr/>
        </p:nvSpPr>
        <p:spPr>
          <a:xfrm>
            <a:off x="73152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Controller.pay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3474720" y="528523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BC4F3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7"/>
          <p:cNvSpPr/>
          <p:nvPr/>
        </p:nvSpPr>
        <p:spPr>
          <a:xfrm>
            <a:off x="356616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tokenizer.encrypt()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6309360" y="528523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1D3A5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/>
          <p:nvPr/>
        </p:nvSpPr>
        <p:spPr>
          <a:xfrm>
            <a:off x="640080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저장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repo.save(tok)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9144000" y="528523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7D72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/>
          <p:nvPr/>
        </p:nvSpPr>
        <p:spPr>
          <a:xfrm>
            <a:off x="923544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Receipt 응답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5559552"/>
            <a:ext cx="274320" cy="274320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5559552"/>
            <a:ext cx="274320" cy="274320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555955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line">
            <a:avLst/>
          </a:prstGeom>
          <a:solidFill>
            <a:srgbClr val="1637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lin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line">
            <a:avLst/>
          </a:prstGeom>
          <a:solidFill>
            <a:srgbClr val="0F7D7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563" y="2247595"/>
            <a:ext cx="442570" cy="442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· 오픈뱅킹 · 마이데이터 · 토</a:t>
            </a:r>
            <a:r>
              <a:rPr lang="ko-KR" altLang="en-US" sz="1600" dirty="0" err="1">
                <a:solidFill>
                  <a:srgbClr val="C7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큰화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74240" y="4937760"/>
            <a:ext cx="1435608" cy="548640"/>
          </a:xfrm>
          <a:prstGeom prst="roundRect">
            <a:avLst>
              <a:gd name="adj" fmla="val 50000"/>
            </a:avLst>
          </a:prstGeom>
          <a:solidFill>
            <a:srgbClr val="0F7D7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374240" y="4937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5880" y="4937760"/>
            <a:ext cx="1746504" cy="548640"/>
          </a:xfrm>
          <a:prstGeom prst="roundRect">
            <a:avLst>
              <a:gd name="adj" fmla="val 50000"/>
            </a:avLst>
          </a:prstGeom>
          <a:solidFill>
            <a:srgbClr val="2C5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065880" y="493776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오픈뱅킹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68416" y="493776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C88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068416" y="4937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81848" y="4937760"/>
            <a:ext cx="1435608" cy="548640"/>
          </a:xfrm>
          <a:prstGeom prst="roundRect">
            <a:avLst>
              <a:gd name="adj" fmla="val 50000"/>
            </a:avLst>
          </a:prstGeom>
          <a:solidFill>
            <a:srgbClr val="BC4F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381848" y="493776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2587</Words>
  <Application>Microsoft Office PowerPoint</Application>
  <PresentationFormat>와이드스크린</PresentationFormat>
  <Paragraphs>394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핀테크 보안, 네 개의 열쇠</dc:title>
  <dc:subject>PptxGenJS Presentation</dc:subject>
  <dc:creator>발표자</dc:creator>
  <cp:lastModifiedBy>Chaebin Park</cp:lastModifiedBy>
  <cp:revision>15</cp:revision>
  <dcterms:created xsi:type="dcterms:W3CDTF">2026-07-06T12:12:40Z</dcterms:created>
  <dcterms:modified xsi:type="dcterms:W3CDTF">2026-07-08T10:04:44Z</dcterms:modified>
</cp:coreProperties>
</file>