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210 국민체조" charset="1" panose="02020603020101020101"/>
      <p:regular r:id="rId21"/>
    </p:embeddedFont>
    <p:embeddedFont>
      <p:font typeface="210 네버랜드" charset="1" panose="02020503020101020101"/>
      <p:regular r:id="rId22"/>
    </p:embeddedFont>
    <p:embeddedFont>
      <p:font typeface="Noto Sans Kr Bold" charset="1" panose="020B02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5390" y="0"/>
            <a:ext cx="0" cy="7329735"/>
          </a:xfrm>
          <a:prstGeom prst="line">
            <a:avLst/>
          </a:prstGeom>
          <a:ln cap="flat" w="114300">
            <a:solidFill>
              <a:srgbClr val="006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745390" y="7932726"/>
            <a:ext cx="0" cy="2354274"/>
          </a:xfrm>
          <a:prstGeom prst="line">
            <a:avLst/>
          </a:prstGeom>
          <a:ln cap="flat" w="571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452885" y="4157501"/>
            <a:ext cx="4806415" cy="3172234"/>
          </a:xfrm>
          <a:custGeom>
            <a:avLst/>
            <a:gdLst/>
            <a:ahLst/>
            <a:cxnLst/>
            <a:rect r="r" b="b" t="t" l="l"/>
            <a:pathLst>
              <a:path h="3172234" w="4806415">
                <a:moveTo>
                  <a:pt x="0" y="0"/>
                </a:moveTo>
                <a:lnTo>
                  <a:pt x="4806415" y="0"/>
                </a:lnTo>
                <a:lnTo>
                  <a:pt x="4806415" y="3172234"/>
                </a:lnTo>
                <a:lnTo>
                  <a:pt x="0" y="3172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18481" y="8646208"/>
            <a:ext cx="1037991" cy="929380"/>
            <a:chOff x="0" y="0"/>
            <a:chExt cx="273380" cy="2447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3380" cy="244775"/>
            </a:xfrm>
            <a:custGeom>
              <a:avLst/>
              <a:gdLst/>
              <a:ahLst/>
              <a:cxnLst/>
              <a:rect r="r" b="b" t="t" l="l"/>
              <a:pathLst>
                <a:path h="244775" w="273380">
                  <a:moveTo>
                    <a:pt x="122387" y="0"/>
                  </a:moveTo>
                  <a:lnTo>
                    <a:pt x="150993" y="0"/>
                  </a:lnTo>
                  <a:cubicBezTo>
                    <a:pt x="183452" y="0"/>
                    <a:pt x="214582" y="12894"/>
                    <a:pt x="237534" y="35846"/>
                  </a:cubicBezTo>
                  <a:cubicBezTo>
                    <a:pt x="260486" y="58799"/>
                    <a:pt x="273380" y="89928"/>
                    <a:pt x="273380" y="122387"/>
                  </a:cubicBezTo>
                  <a:lnTo>
                    <a:pt x="273380" y="122387"/>
                  </a:lnTo>
                  <a:cubicBezTo>
                    <a:pt x="273380" y="154847"/>
                    <a:pt x="260486" y="185976"/>
                    <a:pt x="237534" y="208928"/>
                  </a:cubicBezTo>
                  <a:cubicBezTo>
                    <a:pt x="214582" y="231881"/>
                    <a:pt x="183452" y="244775"/>
                    <a:pt x="150993" y="244775"/>
                  </a:cubicBezTo>
                  <a:lnTo>
                    <a:pt x="122387" y="244775"/>
                  </a:lnTo>
                  <a:cubicBezTo>
                    <a:pt x="89928" y="244775"/>
                    <a:pt x="58799" y="231881"/>
                    <a:pt x="35846" y="208928"/>
                  </a:cubicBezTo>
                  <a:cubicBezTo>
                    <a:pt x="12894" y="185976"/>
                    <a:pt x="0" y="154847"/>
                    <a:pt x="0" y="122387"/>
                  </a:cubicBezTo>
                  <a:lnTo>
                    <a:pt x="0" y="122387"/>
                  </a:lnTo>
                  <a:cubicBezTo>
                    <a:pt x="0" y="89928"/>
                    <a:pt x="12894" y="58799"/>
                    <a:pt x="35846" y="35846"/>
                  </a:cubicBezTo>
                  <a:cubicBezTo>
                    <a:pt x="58799" y="12894"/>
                    <a:pt x="89928" y="0"/>
                    <a:pt x="122387" y="0"/>
                  </a:cubicBezTo>
                  <a:close/>
                </a:path>
              </a:pathLst>
            </a:custGeom>
            <a:solidFill>
              <a:srgbClr val="0066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73380" cy="25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3499">
                  <a:solidFill>
                    <a:srgbClr val="FFFFFF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1팀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18481" y="1868248"/>
            <a:ext cx="12426372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spc="-299">
                <a:solidFill>
                  <a:srgbClr val="0066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여신·수신 시스템 흐름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57877" y="8910873"/>
            <a:ext cx="4284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이국희·김민석·박민준·정수필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5390" y="3681251"/>
            <a:ext cx="865754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은행 여신·수신 시스템 · 3주차 업무 흐름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5390" y="0"/>
            <a:ext cx="0" cy="7329735"/>
          </a:xfrm>
          <a:prstGeom prst="line">
            <a:avLst/>
          </a:prstGeom>
          <a:ln cap="flat" w="76200">
            <a:solidFill>
              <a:srgbClr val="006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745390" y="7932726"/>
            <a:ext cx="0" cy="2354274"/>
          </a:xfrm>
          <a:prstGeom prst="line">
            <a:avLst/>
          </a:prstGeom>
          <a:ln cap="flat" w="2857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514600" y="1085850"/>
            <a:ext cx="1639342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sz="6999" spc="-349" strike="noStrike" u="none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목</a:t>
            </a:r>
            <a:r>
              <a:rPr lang="en-US" sz="6999" spc="-349" strike="noStrike" u="none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차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72692" y="3407465"/>
            <a:ext cx="4762500" cy="5317435"/>
          </a:xfrm>
          <a:custGeom>
            <a:avLst/>
            <a:gdLst/>
            <a:ahLst/>
            <a:cxnLst/>
            <a:rect r="r" b="b" t="t" l="l"/>
            <a:pathLst>
              <a:path h="5317435" w="4762500">
                <a:moveTo>
                  <a:pt x="0" y="0"/>
                </a:moveTo>
                <a:lnTo>
                  <a:pt x="4762500" y="0"/>
                </a:lnTo>
                <a:lnTo>
                  <a:pt x="4762500" y="5317435"/>
                </a:lnTo>
                <a:lnTo>
                  <a:pt x="0" y="5317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28" t="0" r="-1202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3000" y="8096250"/>
            <a:ext cx="1905000" cy="1257300"/>
          </a:xfrm>
          <a:custGeom>
            <a:avLst/>
            <a:gdLst/>
            <a:ahLst/>
            <a:cxnLst/>
            <a:rect r="r" b="b" t="t" l="l"/>
            <a:pathLst>
              <a:path h="1257300" w="1905000">
                <a:moveTo>
                  <a:pt x="0" y="0"/>
                </a:moveTo>
                <a:lnTo>
                  <a:pt x="1905000" y="0"/>
                </a:lnTo>
                <a:lnTo>
                  <a:pt x="19050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068050" y="2616890"/>
            <a:ext cx="372421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72"/>
              </a:lnSpc>
              <a:spcBef>
                <a:spcPct val="0"/>
              </a:spcBef>
            </a:pPr>
            <a:r>
              <a:rPr lang="en-US" sz="5060" strike="noStrike" u="none">
                <a:solidFill>
                  <a:srgbClr val="0066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전체적인 흐름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71946" y="4129088"/>
            <a:ext cx="46862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72"/>
              </a:lnSpc>
              <a:spcBef>
                <a:spcPct val="0"/>
              </a:spcBef>
            </a:pPr>
            <a:r>
              <a:rPr lang="en-US" sz="5060" strike="noStrike" u="none">
                <a:solidFill>
                  <a:srgbClr val="0066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수신 종류 및 흐름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27106" y="5514975"/>
            <a:ext cx="460862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72"/>
              </a:lnSpc>
              <a:spcBef>
                <a:spcPct val="0"/>
              </a:spcBef>
            </a:pPr>
            <a:r>
              <a:rPr lang="en-US" sz="5060" strike="noStrike" u="none">
                <a:solidFill>
                  <a:srgbClr val="0066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여신 종류 및 흐름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7106" y="6948735"/>
            <a:ext cx="460862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72"/>
              </a:lnSpc>
              <a:spcBef>
                <a:spcPct val="0"/>
              </a:spcBef>
            </a:pPr>
            <a:r>
              <a:rPr lang="en-US" sz="5060" strike="noStrike" u="none">
                <a:solidFill>
                  <a:srgbClr val="0066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상환 방식 및 흐름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547658" y="2707585"/>
            <a:ext cx="464683" cy="673790"/>
          </a:xfrm>
          <a:custGeom>
            <a:avLst/>
            <a:gdLst/>
            <a:ahLst/>
            <a:cxnLst/>
            <a:rect r="r" b="b" t="t" l="l"/>
            <a:pathLst>
              <a:path h="673790" w="464683">
                <a:moveTo>
                  <a:pt x="0" y="0"/>
                </a:moveTo>
                <a:lnTo>
                  <a:pt x="464683" y="0"/>
                </a:lnTo>
                <a:lnTo>
                  <a:pt x="464683" y="673790"/>
                </a:lnTo>
                <a:lnTo>
                  <a:pt x="0" y="6737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389236" y="3913532"/>
            <a:ext cx="6667500" cy="1088335"/>
            <a:chOff x="0" y="0"/>
            <a:chExt cx="8890000" cy="14511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90000" cy="1451113"/>
            </a:xfrm>
            <a:custGeom>
              <a:avLst/>
              <a:gdLst/>
              <a:ahLst/>
              <a:cxnLst/>
              <a:rect r="r" b="b" t="t" l="l"/>
              <a:pathLst>
                <a:path h="1451113" w="8890000">
                  <a:moveTo>
                    <a:pt x="592667" y="0"/>
                  </a:moveTo>
                  <a:lnTo>
                    <a:pt x="8297333" y="0"/>
                  </a:lnTo>
                  <a:cubicBezTo>
                    <a:pt x="8624654" y="0"/>
                    <a:pt x="8890000" y="64969"/>
                    <a:pt x="8890000" y="145111"/>
                  </a:cubicBezTo>
                  <a:lnTo>
                    <a:pt x="8890000" y="1306002"/>
                  </a:lnTo>
                  <a:cubicBezTo>
                    <a:pt x="8890000" y="1386145"/>
                    <a:pt x="8624654" y="1451113"/>
                    <a:pt x="8297333" y="1451113"/>
                  </a:cubicBezTo>
                  <a:lnTo>
                    <a:pt x="592667" y="1451113"/>
                  </a:lnTo>
                  <a:cubicBezTo>
                    <a:pt x="265346" y="1451113"/>
                    <a:pt x="0" y="1386145"/>
                    <a:pt x="0" y="1306002"/>
                  </a:cubicBezTo>
                  <a:lnTo>
                    <a:pt x="0" y="145111"/>
                  </a:lnTo>
                  <a:cubicBezTo>
                    <a:pt x="0" y="64969"/>
                    <a:pt x="265346" y="0"/>
                    <a:pt x="592667" y="0"/>
                  </a:cubicBezTo>
                  <a:close/>
                </a:path>
              </a:pathLst>
            </a:custGeom>
            <a:solidFill>
              <a:srgbClr val="0066FF">
                <a:alpha val="7843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8890000" cy="1479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547658" y="4120805"/>
            <a:ext cx="464683" cy="673790"/>
          </a:xfrm>
          <a:custGeom>
            <a:avLst/>
            <a:gdLst/>
            <a:ahLst/>
            <a:cxnLst/>
            <a:rect r="r" b="b" t="t" l="l"/>
            <a:pathLst>
              <a:path h="673790" w="464683">
                <a:moveTo>
                  <a:pt x="0" y="0"/>
                </a:moveTo>
                <a:lnTo>
                  <a:pt x="464683" y="0"/>
                </a:lnTo>
                <a:lnTo>
                  <a:pt x="464683" y="673790"/>
                </a:lnTo>
                <a:lnTo>
                  <a:pt x="0" y="6737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547658" y="5603185"/>
            <a:ext cx="464683" cy="673790"/>
          </a:xfrm>
          <a:custGeom>
            <a:avLst/>
            <a:gdLst/>
            <a:ahLst/>
            <a:cxnLst/>
            <a:rect r="r" b="b" t="t" l="l"/>
            <a:pathLst>
              <a:path h="673790" w="464683">
                <a:moveTo>
                  <a:pt x="0" y="0"/>
                </a:moveTo>
                <a:lnTo>
                  <a:pt x="464683" y="0"/>
                </a:lnTo>
                <a:lnTo>
                  <a:pt x="464683" y="673790"/>
                </a:lnTo>
                <a:lnTo>
                  <a:pt x="0" y="6737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547658" y="7019925"/>
            <a:ext cx="464683" cy="673790"/>
          </a:xfrm>
          <a:custGeom>
            <a:avLst/>
            <a:gdLst/>
            <a:ahLst/>
            <a:cxnLst/>
            <a:rect r="r" b="b" t="t" l="l"/>
            <a:pathLst>
              <a:path h="673790" w="464683">
                <a:moveTo>
                  <a:pt x="0" y="0"/>
                </a:moveTo>
                <a:lnTo>
                  <a:pt x="464683" y="0"/>
                </a:lnTo>
                <a:lnTo>
                  <a:pt x="464683" y="673790"/>
                </a:lnTo>
                <a:lnTo>
                  <a:pt x="0" y="6737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389236" y="2500312"/>
            <a:ext cx="6667500" cy="1088335"/>
            <a:chOff x="0" y="0"/>
            <a:chExt cx="8890000" cy="14511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90000" cy="1451113"/>
            </a:xfrm>
            <a:custGeom>
              <a:avLst/>
              <a:gdLst/>
              <a:ahLst/>
              <a:cxnLst/>
              <a:rect r="r" b="b" t="t" l="l"/>
              <a:pathLst>
                <a:path h="1451113" w="8890000">
                  <a:moveTo>
                    <a:pt x="592667" y="0"/>
                  </a:moveTo>
                  <a:lnTo>
                    <a:pt x="8297333" y="0"/>
                  </a:lnTo>
                  <a:cubicBezTo>
                    <a:pt x="8624654" y="0"/>
                    <a:pt x="8890000" y="64969"/>
                    <a:pt x="8890000" y="145111"/>
                  </a:cubicBezTo>
                  <a:lnTo>
                    <a:pt x="8890000" y="1306002"/>
                  </a:lnTo>
                  <a:cubicBezTo>
                    <a:pt x="8890000" y="1386145"/>
                    <a:pt x="8624654" y="1451113"/>
                    <a:pt x="8297333" y="1451113"/>
                  </a:cubicBezTo>
                  <a:lnTo>
                    <a:pt x="592667" y="1451113"/>
                  </a:lnTo>
                  <a:cubicBezTo>
                    <a:pt x="265346" y="1451113"/>
                    <a:pt x="0" y="1386145"/>
                    <a:pt x="0" y="1306002"/>
                  </a:cubicBezTo>
                  <a:lnTo>
                    <a:pt x="0" y="145111"/>
                  </a:lnTo>
                  <a:cubicBezTo>
                    <a:pt x="0" y="64969"/>
                    <a:pt x="265346" y="0"/>
                    <a:pt x="592667" y="0"/>
                  </a:cubicBezTo>
                  <a:close/>
                </a:path>
              </a:pathLst>
            </a:custGeom>
            <a:solidFill>
              <a:srgbClr val="0066FF">
                <a:alpha val="7843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8890000" cy="1479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89236" y="5395912"/>
            <a:ext cx="6667500" cy="1088335"/>
            <a:chOff x="0" y="0"/>
            <a:chExt cx="8890000" cy="14511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90000" cy="1451113"/>
            </a:xfrm>
            <a:custGeom>
              <a:avLst/>
              <a:gdLst/>
              <a:ahLst/>
              <a:cxnLst/>
              <a:rect r="r" b="b" t="t" l="l"/>
              <a:pathLst>
                <a:path h="1451113" w="8890000">
                  <a:moveTo>
                    <a:pt x="592667" y="0"/>
                  </a:moveTo>
                  <a:lnTo>
                    <a:pt x="8297333" y="0"/>
                  </a:lnTo>
                  <a:cubicBezTo>
                    <a:pt x="8624654" y="0"/>
                    <a:pt x="8890000" y="64969"/>
                    <a:pt x="8890000" y="145111"/>
                  </a:cubicBezTo>
                  <a:lnTo>
                    <a:pt x="8890000" y="1306002"/>
                  </a:lnTo>
                  <a:cubicBezTo>
                    <a:pt x="8890000" y="1386145"/>
                    <a:pt x="8624654" y="1451113"/>
                    <a:pt x="8297333" y="1451113"/>
                  </a:cubicBezTo>
                  <a:lnTo>
                    <a:pt x="592667" y="1451113"/>
                  </a:lnTo>
                  <a:cubicBezTo>
                    <a:pt x="265346" y="1451113"/>
                    <a:pt x="0" y="1386145"/>
                    <a:pt x="0" y="1306002"/>
                  </a:cubicBezTo>
                  <a:lnTo>
                    <a:pt x="0" y="145111"/>
                  </a:lnTo>
                  <a:cubicBezTo>
                    <a:pt x="0" y="64969"/>
                    <a:pt x="265346" y="0"/>
                    <a:pt x="592667" y="0"/>
                  </a:cubicBezTo>
                  <a:close/>
                </a:path>
              </a:pathLst>
            </a:custGeom>
            <a:solidFill>
              <a:srgbClr val="0066FF">
                <a:alpha val="7843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890000" cy="1479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89236" y="6785567"/>
            <a:ext cx="6667500" cy="1088335"/>
            <a:chOff x="0" y="0"/>
            <a:chExt cx="8890000" cy="145111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90000" cy="1451113"/>
            </a:xfrm>
            <a:custGeom>
              <a:avLst/>
              <a:gdLst/>
              <a:ahLst/>
              <a:cxnLst/>
              <a:rect r="r" b="b" t="t" l="l"/>
              <a:pathLst>
                <a:path h="1451113" w="8890000">
                  <a:moveTo>
                    <a:pt x="592667" y="0"/>
                  </a:moveTo>
                  <a:lnTo>
                    <a:pt x="8297333" y="0"/>
                  </a:lnTo>
                  <a:cubicBezTo>
                    <a:pt x="8624654" y="0"/>
                    <a:pt x="8890000" y="64969"/>
                    <a:pt x="8890000" y="145111"/>
                  </a:cubicBezTo>
                  <a:lnTo>
                    <a:pt x="8890000" y="1306002"/>
                  </a:lnTo>
                  <a:cubicBezTo>
                    <a:pt x="8890000" y="1386145"/>
                    <a:pt x="8624654" y="1451113"/>
                    <a:pt x="8297333" y="1451113"/>
                  </a:cubicBezTo>
                  <a:lnTo>
                    <a:pt x="592667" y="1451113"/>
                  </a:lnTo>
                  <a:cubicBezTo>
                    <a:pt x="265346" y="1451113"/>
                    <a:pt x="0" y="1386145"/>
                    <a:pt x="0" y="1306002"/>
                  </a:cubicBezTo>
                  <a:lnTo>
                    <a:pt x="0" y="145111"/>
                  </a:lnTo>
                  <a:cubicBezTo>
                    <a:pt x="0" y="64969"/>
                    <a:pt x="265346" y="0"/>
                    <a:pt x="592667" y="0"/>
                  </a:cubicBezTo>
                  <a:close/>
                </a:path>
              </a:pathLst>
            </a:custGeom>
            <a:solidFill>
              <a:srgbClr val="0066FF">
                <a:alpha val="7843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8890000" cy="1479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5390" y="0"/>
            <a:ext cx="0" cy="7329735"/>
          </a:xfrm>
          <a:prstGeom prst="line">
            <a:avLst/>
          </a:prstGeom>
          <a:ln cap="flat" w="76200">
            <a:solidFill>
              <a:srgbClr val="006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745390" y="7932726"/>
            <a:ext cx="0" cy="2354274"/>
          </a:xfrm>
          <a:prstGeom prst="line">
            <a:avLst/>
          </a:prstGeom>
          <a:ln cap="flat" w="2857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514600" y="1085850"/>
            <a:ext cx="1693170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34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핵심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7629" y="2933700"/>
            <a:ext cx="15711671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5000" spc="-15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은행은 </a:t>
            </a:r>
            <a:r>
              <a:rPr lang="en-US" sz="5000" spc="-150">
                <a:solidFill>
                  <a:srgbClr val="0066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수신</a:t>
            </a:r>
            <a:r>
              <a:rPr lang="en-US" sz="5000" spc="-15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으로 모은 돈을</a:t>
            </a:r>
            <a:r>
              <a:rPr lang="en-US" sz="5000" spc="-150">
                <a:solidFill>
                  <a:srgbClr val="0066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 여신</a:t>
            </a:r>
            <a:r>
              <a:rPr lang="en-US" sz="5000" spc="-15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으로 굴려, </a:t>
            </a:r>
          </a:p>
          <a:p>
            <a:pPr algn="r">
              <a:lnSpc>
                <a:spcPts val="9000"/>
              </a:lnSpc>
              <a:spcBef>
                <a:spcPct val="0"/>
              </a:spcBef>
            </a:pPr>
            <a:r>
              <a:rPr lang="en-US" sz="5000" spc="-15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그 </a:t>
            </a:r>
            <a:r>
              <a:rPr lang="en-US" sz="5000" spc="-150">
                <a:solidFill>
                  <a:srgbClr val="0066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금리차(예대마진)로 수익</a:t>
            </a:r>
            <a:r>
              <a:rPr lang="en-US" sz="5000" spc="-15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을 낸다.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7629" y="5722927"/>
            <a:ext cx="16023394" cy="220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5000" spc="-15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그리고 </a:t>
            </a:r>
            <a:r>
              <a:rPr lang="en-US" sz="5000" spc="-150">
                <a:solidFill>
                  <a:srgbClr val="0066FF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단리·복리 이자 계산</a:t>
            </a:r>
            <a:r>
              <a:rPr lang="en-US" sz="5000" spc="-15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은 </a:t>
            </a:r>
          </a:p>
          <a:p>
            <a:pPr algn="r">
              <a:lnSpc>
                <a:spcPts val="9000"/>
              </a:lnSpc>
              <a:spcBef>
                <a:spcPct val="0"/>
              </a:spcBef>
            </a:pPr>
            <a:r>
              <a:rPr lang="en-US" sz="5000" spc="-150">
                <a:solidFill>
                  <a:srgbClr val="000000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이 순환의 모든 단계에 개입한다.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5390" y="0"/>
            <a:ext cx="0" cy="7329735"/>
          </a:xfrm>
          <a:prstGeom prst="line">
            <a:avLst/>
          </a:prstGeom>
          <a:ln cap="flat" w="76200">
            <a:solidFill>
              <a:srgbClr val="006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745390" y="7932726"/>
            <a:ext cx="0" cy="2354274"/>
          </a:xfrm>
          <a:prstGeom prst="line">
            <a:avLst/>
          </a:prstGeom>
          <a:ln cap="flat" w="2857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76956" y="2907109"/>
            <a:ext cx="2445465" cy="3759048"/>
            <a:chOff x="0" y="0"/>
            <a:chExt cx="644073" cy="9900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4073" cy="990037"/>
            </a:xfrm>
            <a:custGeom>
              <a:avLst/>
              <a:gdLst/>
              <a:ahLst/>
              <a:cxnLst/>
              <a:rect r="r" b="b" t="t" l="l"/>
              <a:pathLst>
                <a:path h="990037" w="644073">
                  <a:moveTo>
                    <a:pt x="161457" y="0"/>
                  </a:moveTo>
                  <a:lnTo>
                    <a:pt x="482616" y="0"/>
                  </a:lnTo>
                  <a:cubicBezTo>
                    <a:pt x="571786" y="0"/>
                    <a:pt x="644073" y="72287"/>
                    <a:pt x="644073" y="161457"/>
                  </a:cubicBezTo>
                  <a:lnTo>
                    <a:pt x="644073" y="828580"/>
                  </a:lnTo>
                  <a:cubicBezTo>
                    <a:pt x="644073" y="871401"/>
                    <a:pt x="627063" y="912469"/>
                    <a:pt x="596783" y="942748"/>
                  </a:cubicBezTo>
                  <a:cubicBezTo>
                    <a:pt x="566504" y="973027"/>
                    <a:pt x="525437" y="990037"/>
                    <a:pt x="482616" y="990037"/>
                  </a:cubicBezTo>
                  <a:lnTo>
                    <a:pt x="161457" y="990037"/>
                  </a:lnTo>
                  <a:cubicBezTo>
                    <a:pt x="118636" y="990037"/>
                    <a:pt x="77569" y="973027"/>
                    <a:pt x="47290" y="942748"/>
                  </a:cubicBezTo>
                  <a:cubicBezTo>
                    <a:pt x="17011" y="912469"/>
                    <a:pt x="0" y="871401"/>
                    <a:pt x="0" y="828580"/>
                  </a:cubicBezTo>
                  <a:lnTo>
                    <a:pt x="0" y="161457"/>
                  </a:lnTo>
                  <a:cubicBezTo>
                    <a:pt x="0" y="118636"/>
                    <a:pt x="17011" y="77569"/>
                    <a:pt x="47290" y="47290"/>
                  </a:cubicBezTo>
                  <a:cubicBezTo>
                    <a:pt x="77569" y="17011"/>
                    <a:pt x="118636" y="0"/>
                    <a:pt x="161457" y="0"/>
                  </a:cubicBezTo>
                  <a:close/>
                </a:path>
              </a:pathLst>
            </a:custGeom>
            <a:solidFill>
              <a:srgbClr val="F0F8FE"/>
            </a:solidFill>
            <a:ln w="38100" cap="rnd">
              <a:solidFill>
                <a:srgbClr val="0066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44073" cy="1018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538279" y="2907109"/>
            <a:ext cx="2445465" cy="3759048"/>
            <a:chOff x="0" y="0"/>
            <a:chExt cx="644073" cy="9900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4073" cy="990037"/>
            </a:xfrm>
            <a:custGeom>
              <a:avLst/>
              <a:gdLst/>
              <a:ahLst/>
              <a:cxnLst/>
              <a:rect r="r" b="b" t="t" l="l"/>
              <a:pathLst>
                <a:path h="990037" w="644073">
                  <a:moveTo>
                    <a:pt x="161457" y="0"/>
                  </a:moveTo>
                  <a:lnTo>
                    <a:pt x="482616" y="0"/>
                  </a:lnTo>
                  <a:cubicBezTo>
                    <a:pt x="571786" y="0"/>
                    <a:pt x="644073" y="72287"/>
                    <a:pt x="644073" y="161457"/>
                  </a:cubicBezTo>
                  <a:lnTo>
                    <a:pt x="644073" y="828580"/>
                  </a:lnTo>
                  <a:cubicBezTo>
                    <a:pt x="644073" y="871401"/>
                    <a:pt x="627063" y="912469"/>
                    <a:pt x="596783" y="942748"/>
                  </a:cubicBezTo>
                  <a:cubicBezTo>
                    <a:pt x="566504" y="973027"/>
                    <a:pt x="525437" y="990037"/>
                    <a:pt x="482616" y="990037"/>
                  </a:cubicBezTo>
                  <a:lnTo>
                    <a:pt x="161457" y="990037"/>
                  </a:lnTo>
                  <a:cubicBezTo>
                    <a:pt x="118636" y="990037"/>
                    <a:pt x="77569" y="973027"/>
                    <a:pt x="47290" y="942748"/>
                  </a:cubicBezTo>
                  <a:cubicBezTo>
                    <a:pt x="17011" y="912469"/>
                    <a:pt x="0" y="871401"/>
                    <a:pt x="0" y="828580"/>
                  </a:cubicBezTo>
                  <a:lnTo>
                    <a:pt x="0" y="161457"/>
                  </a:lnTo>
                  <a:cubicBezTo>
                    <a:pt x="0" y="118636"/>
                    <a:pt x="17011" y="77569"/>
                    <a:pt x="47290" y="47290"/>
                  </a:cubicBezTo>
                  <a:cubicBezTo>
                    <a:pt x="77569" y="17011"/>
                    <a:pt x="118636" y="0"/>
                    <a:pt x="161457" y="0"/>
                  </a:cubicBezTo>
                  <a:close/>
                </a:path>
              </a:pathLst>
            </a:custGeom>
            <a:solidFill>
              <a:srgbClr val="F0F8FE"/>
            </a:solidFill>
            <a:ln w="38100" cap="rnd">
              <a:solidFill>
                <a:srgbClr val="0066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644073" cy="1018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17838" y="2907109"/>
            <a:ext cx="2445465" cy="3759048"/>
            <a:chOff x="0" y="0"/>
            <a:chExt cx="644073" cy="9900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4073" cy="990037"/>
            </a:xfrm>
            <a:custGeom>
              <a:avLst/>
              <a:gdLst/>
              <a:ahLst/>
              <a:cxnLst/>
              <a:rect r="r" b="b" t="t" l="l"/>
              <a:pathLst>
                <a:path h="990037" w="644073">
                  <a:moveTo>
                    <a:pt x="161457" y="0"/>
                  </a:moveTo>
                  <a:lnTo>
                    <a:pt x="482616" y="0"/>
                  </a:lnTo>
                  <a:cubicBezTo>
                    <a:pt x="571786" y="0"/>
                    <a:pt x="644073" y="72287"/>
                    <a:pt x="644073" y="161457"/>
                  </a:cubicBezTo>
                  <a:lnTo>
                    <a:pt x="644073" y="828580"/>
                  </a:lnTo>
                  <a:cubicBezTo>
                    <a:pt x="644073" y="871401"/>
                    <a:pt x="627063" y="912469"/>
                    <a:pt x="596783" y="942748"/>
                  </a:cubicBezTo>
                  <a:cubicBezTo>
                    <a:pt x="566504" y="973027"/>
                    <a:pt x="525437" y="990037"/>
                    <a:pt x="482616" y="990037"/>
                  </a:cubicBezTo>
                  <a:lnTo>
                    <a:pt x="161457" y="990037"/>
                  </a:lnTo>
                  <a:cubicBezTo>
                    <a:pt x="118636" y="990037"/>
                    <a:pt x="77569" y="973027"/>
                    <a:pt x="47290" y="942748"/>
                  </a:cubicBezTo>
                  <a:cubicBezTo>
                    <a:pt x="17011" y="912469"/>
                    <a:pt x="0" y="871401"/>
                    <a:pt x="0" y="828580"/>
                  </a:cubicBezTo>
                  <a:lnTo>
                    <a:pt x="0" y="161457"/>
                  </a:lnTo>
                  <a:cubicBezTo>
                    <a:pt x="0" y="118636"/>
                    <a:pt x="17011" y="77569"/>
                    <a:pt x="47290" y="47290"/>
                  </a:cubicBezTo>
                  <a:cubicBezTo>
                    <a:pt x="77569" y="17011"/>
                    <a:pt x="118636" y="0"/>
                    <a:pt x="161457" y="0"/>
                  </a:cubicBezTo>
                  <a:close/>
                </a:path>
              </a:pathLst>
            </a:custGeom>
            <a:solidFill>
              <a:srgbClr val="F0F8FE"/>
            </a:solidFill>
            <a:ln w="38100" cap="rnd">
              <a:solidFill>
                <a:srgbClr val="0066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44073" cy="1018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697397" y="2907109"/>
            <a:ext cx="2445465" cy="3759048"/>
            <a:chOff x="0" y="0"/>
            <a:chExt cx="644073" cy="9900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4073" cy="990037"/>
            </a:xfrm>
            <a:custGeom>
              <a:avLst/>
              <a:gdLst/>
              <a:ahLst/>
              <a:cxnLst/>
              <a:rect r="r" b="b" t="t" l="l"/>
              <a:pathLst>
                <a:path h="990037" w="644073">
                  <a:moveTo>
                    <a:pt x="161457" y="0"/>
                  </a:moveTo>
                  <a:lnTo>
                    <a:pt x="482616" y="0"/>
                  </a:lnTo>
                  <a:cubicBezTo>
                    <a:pt x="571786" y="0"/>
                    <a:pt x="644073" y="72287"/>
                    <a:pt x="644073" y="161457"/>
                  </a:cubicBezTo>
                  <a:lnTo>
                    <a:pt x="644073" y="828580"/>
                  </a:lnTo>
                  <a:cubicBezTo>
                    <a:pt x="644073" y="871401"/>
                    <a:pt x="627063" y="912469"/>
                    <a:pt x="596783" y="942748"/>
                  </a:cubicBezTo>
                  <a:cubicBezTo>
                    <a:pt x="566504" y="973027"/>
                    <a:pt x="525437" y="990037"/>
                    <a:pt x="482616" y="990037"/>
                  </a:cubicBezTo>
                  <a:lnTo>
                    <a:pt x="161457" y="990037"/>
                  </a:lnTo>
                  <a:cubicBezTo>
                    <a:pt x="118636" y="990037"/>
                    <a:pt x="77569" y="973027"/>
                    <a:pt x="47290" y="942748"/>
                  </a:cubicBezTo>
                  <a:cubicBezTo>
                    <a:pt x="17011" y="912469"/>
                    <a:pt x="0" y="871401"/>
                    <a:pt x="0" y="828580"/>
                  </a:cubicBezTo>
                  <a:lnTo>
                    <a:pt x="0" y="161457"/>
                  </a:lnTo>
                  <a:cubicBezTo>
                    <a:pt x="0" y="118636"/>
                    <a:pt x="17011" y="77569"/>
                    <a:pt x="47290" y="47290"/>
                  </a:cubicBezTo>
                  <a:cubicBezTo>
                    <a:pt x="77569" y="17011"/>
                    <a:pt x="118636" y="0"/>
                    <a:pt x="161457" y="0"/>
                  </a:cubicBezTo>
                  <a:close/>
                </a:path>
              </a:pathLst>
            </a:custGeom>
            <a:solidFill>
              <a:srgbClr val="F0F8FE"/>
            </a:solidFill>
            <a:ln w="38100" cap="rnd">
              <a:solidFill>
                <a:srgbClr val="0066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644073" cy="1018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958720" y="2907109"/>
            <a:ext cx="2445465" cy="3759048"/>
            <a:chOff x="0" y="0"/>
            <a:chExt cx="644073" cy="9900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4073" cy="990037"/>
            </a:xfrm>
            <a:custGeom>
              <a:avLst/>
              <a:gdLst/>
              <a:ahLst/>
              <a:cxnLst/>
              <a:rect r="r" b="b" t="t" l="l"/>
              <a:pathLst>
                <a:path h="990037" w="644073">
                  <a:moveTo>
                    <a:pt x="161457" y="0"/>
                  </a:moveTo>
                  <a:lnTo>
                    <a:pt x="482616" y="0"/>
                  </a:lnTo>
                  <a:cubicBezTo>
                    <a:pt x="571786" y="0"/>
                    <a:pt x="644073" y="72287"/>
                    <a:pt x="644073" y="161457"/>
                  </a:cubicBezTo>
                  <a:lnTo>
                    <a:pt x="644073" y="828580"/>
                  </a:lnTo>
                  <a:cubicBezTo>
                    <a:pt x="644073" y="871401"/>
                    <a:pt x="627063" y="912469"/>
                    <a:pt x="596783" y="942748"/>
                  </a:cubicBezTo>
                  <a:cubicBezTo>
                    <a:pt x="566504" y="973027"/>
                    <a:pt x="525437" y="990037"/>
                    <a:pt x="482616" y="990037"/>
                  </a:cubicBezTo>
                  <a:lnTo>
                    <a:pt x="161457" y="990037"/>
                  </a:lnTo>
                  <a:cubicBezTo>
                    <a:pt x="118636" y="990037"/>
                    <a:pt x="77569" y="973027"/>
                    <a:pt x="47290" y="942748"/>
                  </a:cubicBezTo>
                  <a:cubicBezTo>
                    <a:pt x="17011" y="912469"/>
                    <a:pt x="0" y="871401"/>
                    <a:pt x="0" y="828580"/>
                  </a:cubicBezTo>
                  <a:lnTo>
                    <a:pt x="0" y="161457"/>
                  </a:lnTo>
                  <a:cubicBezTo>
                    <a:pt x="0" y="118636"/>
                    <a:pt x="17011" y="77569"/>
                    <a:pt x="47290" y="47290"/>
                  </a:cubicBezTo>
                  <a:cubicBezTo>
                    <a:pt x="77569" y="17011"/>
                    <a:pt x="118636" y="0"/>
                    <a:pt x="161457" y="0"/>
                  </a:cubicBezTo>
                  <a:close/>
                </a:path>
              </a:pathLst>
            </a:custGeom>
            <a:solidFill>
              <a:srgbClr val="F0F8FE"/>
            </a:solidFill>
            <a:ln w="38100" cap="rnd">
              <a:solidFill>
                <a:srgbClr val="0066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644073" cy="1018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96917" y="3478016"/>
            <a:ext cx="805542" cy="766589"/>
            <a:chOff x="0" y="0"/>
            <a:chExt cx="537389" cy="5114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7389" cy="511403"/>
            </a:xfrm>
            <a:custGeom>
              <a:avLst/>
              <a:gdLst/>
              <a:ahLst/>
              <a:cxnLst/>
              <a:rect r="r" b="b" t="t" l="l"/>
              <a:pathLst>
                <a:path h="511403" w="537389">
                  <a:moveTo>
                    <a:pt x="268694" y="0"/>
                  </a:moveTo>
                  <a:cubicBezTo>
                    <a:pt x="120299" y="0"/>
                    <a:pt x="0" y="114481"/>
                    <a:pt x="0" y="255701"/>
                  </a:cubicBezTo>
                  <a:cubicBezTo>
                    <a:pt x="0" y="396921"/>
                    <a:pt x="120299" y="511403"/>
                    <a:pt x="268694" y="511403"/>
                  </a:cubicBezTo>
                  <a:cubicBezTo>
                    <a:pt x="417090" y="511403"/>
                    <a:pt x="537389" y="396921"/>
                    <a:pt x="537389" y="255701"/>
                  </a:cubicBezTo>
                  <a:cubicBezTo>
                    <a:pt x="537389" y="114481"/>
                    <a:pt x="417090" y="0"/>
                    <a:pt x="268694" y="0"/>
                  </a:cubicBezTo>
                  <a:close/>
                </a:path>
              </a:pathLst>
            </a:custGeom>
            <a:solidFill>
              <a:srgbClr val="0359D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50380" y="-85406"/>
              <a:ext cx="436628" cy="548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5"/>
                </a:lnSpc>
              </a:pPr>
              <a:r>
                <a:rPr lang="en-US" sz="2264" spc="-67">
                  <a:solidFill>
                    <a:srgbClr val="FFFFFF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937800" y="3378009"/>
            <a:ext cx="805542" cy="766589"/>
            <a:chOff x="0" y="0"/>
            <a:chExt cx="537389" cy="5114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7389" cy="511403"/>
            </a:xfrm>
            <a:custGeom>
              <a:avLst/>
              <a:gdLst/>
              <a:ahLst/>
              <a:cxnLst/>
              <a:rect r="r" b="b" t="t" l="l"/>
              <a:pathLst>
                <a:path h="511403" w="537389">
                  <a:moveTo>
                    <a:pt x="268694" y="0"/>
                  </a:moveTo>
                  <a:cubicBezTo>
                    <a:pt x="120299" y="0"/>
                    <a:pt x="0" y="114481"/>
                    <a:pt x="0" y="255701"/>
                  </a:cubicBezTo>
                  <a:cubicBezTo>
                    <a:pt x="0" y="396921"/>
                    <a:pt x="120299" y="511403"/>
                    <a:pt x="268694" y="511403"/>
                  </a:cubicBezTo>
                  <a:cubicBezTo>
                    <a:pt x="417090" y="511403"/>
                    <a:pt x="537389" y="396921"/>
                    <a:pt x="537389" y="255701"/>
                  </a:cubicBezTo>
                  <a:cubicBezTo>
                    <a:pt x="537389" y="114481"/>
                    <a:pt x="417090" y="0"/>
                    <a:pt x="268694" y="0"/>
                  </a:cubicBezTo>
                  <a:close/>
                </a:path>
              </a:pathLst>
            </a:custGeom>
            <a:solidFill>
              <a:srgbClr val="0359D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50380" y="-75881"/>
              <a:ext cx="436628" cy="539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5"/>
                </a:lnSpc>
              </a:pPr>
              <a:r>
                <a:rPr lang="en-US" sz="2164" spc="-64">
                  <a:solidFill>
                    <a:srgbClr val="FFFFFF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517359" y="3478021"/>
            <a:ext cx="805542" cy="766589"/>
            <a:chOff x="0" y="0"/>
            <a:chExt cx="537389" cy="5114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7389" cy="511403"/>
            </a:xfrm>
            <a:custGeom>
              <a:avLst/>
              <a:gdLst/>
              <a:ahLst/>
              <a:cxnLst/>
              <a:rect r="r" b="b" t="t" l="l"/>
              <a:pathLst>
                <a:path h="511403" w="537389">
                  <a:moveTo>
                    <a:pt x="268694" y="0"/>
                  </a:moveTo>
                  <a:cubicBezTo>
                    <a:pt x="120299" y="0"/>
                    <a:pt x="0" y="114481"/>
                    <a:pt x="0" y="255701"/>
                  </a:cubicBezTo>
                  <a:cubicBezTo>
                    <a:pt x="0" y="396921"/>
                    <a:pt x="120299" y="511403"/>
                    <a:pt x="268694" y="511403"/>
                  </a:cubicBezTo>
                  <a:cubicBezTo>
                    <a:pt x="417090" y="511403"/>
                    <a:pt x="537389" y="396921"/>
                    <a:pt x="537389" y="255701"/>
                  </a:cubicBezTo>
                  <a:cubicBezTo>
                    <a:pt x="537389" y="114481"/>
                    <a:pt x="417090" y="0"/>
                    <a:pt x="268694" y="0"/>
                  </a:cubicBezTo>
                  <a:close/>
                </a:path>
              </a:pathLst>
            </a:custGeom>
            <a:solidFill>
              <a:srgbClr val="0359D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50380" y="-75881"/>
              <a:ext cx="436628" cy="539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5"/>
                </a:lnSpc>
              </a:pPr>
              <a:r>
                <a:rPr lang="en-US" sz="2164" spc="-64">
                  <a:solidFill>
                    <a:srgbClr val="FFFFFF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58241" y="3478021"/>
            <a:ext cx="805542" cy="766589"/>
            <a:chOff x="0" y="0"/>
            <a:chExt cx="537389" cy="5114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7389" cy="511403"/>
            </a:xfrm>
            <a:custGeom>
              <a:avLst/>
              <a:gdLst/>
              <a:ahLst/>
              <a:cxnLst/>
              <a:rect r="r" b="b" t="t" l="l"/>
              <a:pathLst>
                <a:path h="511403" w="537389">
                  <a:moveTo>
                    <a:pt x="268694" y="0"/>
                  </a:moveTo>
                  <a:cubicBezTo>
                    <a:pt x="120299" y="0"/>
                    <a:pt x="0" y="114481"/>
                    <a:pt x="0" y="255701"/>
                  </a:cubicBezTo>
                  <a:cubicBezTo>
                    <a:pt x="0" y="396921"/>
                    <a:pt x="120299" y="511403"/>
                    <a:pt x="268694" y="511403"/>
                  </a:cubicBezTo>
                  <a:cubicBezTo>
                    <a:pt x="417090" y="511403"/>
                    <a:pt x="537389" y="396921"/>
                    <a:pt x="537389" y="255701"/>
                  </a:cubicBezTo>
                  <a:cubicBezTo>
                    <a:pt x="537389" y="114481"/>
                    <a:pt x="417090" y="0"/>
                    <a:pt x="268694" y="0"/>
                  </a:cubicBezTo>
                  <a:close/>
                </a:path>
              </a:pathLst>
            </a:custGeom>
            <a:solidFill>
              <a:srgbClr val="0359D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50380" y="-75881"/>
              <a:ext cx="436628" cy="539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5"/>
                </a:lnSpc>
              </a:pPr>
              <a:r>
                <a:rPr lang="en-US" sz="2164" spc="-64">
                  <a:solidFill>
                    <a:srgbClr val="FFFFFF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778682" y="3494531"/>
            <a:ext cx="805542" cy="766589"/>
            <a:chOff x="0" y="0"/>
            <a:chExt cx="537389" cy="5114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7389" cy="511403"/>
            </a:xfrm>
            <a:custGeom>
              <a:avLst/>
              <a:gdLst/>
              <a:ahLst/>
              <a:cxnLst/>
              <a:rect r="r" b="b" t="t" l="l"/>
              <a:pathLst>
                <a:path h="511403" w="537389">
                  <a:moveTo>
                    <a:pt x="268694" y="0"/>
                  </a:moveTo>
                  <a:cubicBezTo>
                    <a:pt x="120299" y="0"/>
                    <a:pt x="0" y="114481"/>
                    <a:pt x="0" y="255701"/>
                  </a:cubicBezTo>
                  <a:cubicBezTo>
                    <a:pt x="0" y="396921"/>
                    <a:pt x="120299" y="511403"/>
                    <a:pt x="268694" y="511403"/>
                  </a:cubicBezTo>
                  <a:cubicBezTo>
                    <a:pt x="417090" y="511403"/>
                    <a:pt x="537389" y="396921"/>
                    <a:pt x="537389" y="255701"/>
                  </a:cubicBezTo>
                  <a:cubicBezTo>
                    <a:pt x="537389" y="114481"/>
                    <a:pt x="417090" y="0"/>
                    <a:pt x="268694" y="0"/>
                  </a:cubicBezTo>
                  <a:close/>
                </a:path>
              </a:pathLst>
            </a:custGeom>
            <a:solidFill>
              <a:srgbClr val="0359D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50380" y="-75881"/>
              <a:ext cx="436628" cy="539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5"/>
                </a:lnSpc>
              </a:pPr>
              <a:r>
                <a:rPr lang="en-US" sz="2164" spc="-64">
                  <a:solidFill>
                    <a:srgbClr val="FFFFFF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5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832975" y="7656757"/>
            <a:ext cx="11575708" cy="1007179"/>
            <a:chOff x="0" y="0"/>
            <a:chExt cx="3048746" cy="26526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48746" cy="265265"/>
            </a:xfrm>
            <a:custGeom>
              <a:avLst/>
              <a:gdLst/>
              <a:ahLst/>
              <a:cxnLst/>
              <a:rect r="r" b="b" t="t" l="l"/>
              <a:pathLst>
                <a:path h="265265" w="3048746">
                  <a:moveTo>
                    <a:pt x="2845546" y="0"/>
                  </a:moveTo>
                  <a:cubicBezTo>
                    <a:pt x="2957770" y="0"/>
                    <a:pt x="3048746" y="59382"/>
                    <a:pt x="3048746" y="132633"/>
                  </a:cubicBezTo>
                  <a:cubicBezTo>
                    <a:pt x="3048746" y="205884"/>
                    <a:pt x="2957770" y="265265"/>
                    <a:pt x="2845546" y="265265"/>
                  </a:cubicBezTo>
                  <a:lnTo>
                    <a:pt x="203200" y="265265"/>
                  </a:lnTo>
                  <a:cubicBezTo>
                    <a:pt x="90976" y="265265"/>
                    <a:pt x="0" y="205884"/>
                    <a:pt x="0" y="132633"/>
                  </a:cubicBezTo>
                  <a:cubicBezTo>
                    <a:pt x="0" y="5938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66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3048746" cy="331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2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812759" y="7515866"/>
            <a:ext cx="1486323" cy="1389245"/>
          </a:xfrm>
          <a:custGeom>
            <a:avLst/>
            <a:gdLst/>
            <a:ahLst/>
            <a:cxnLst/>
            <a:rect r="r" b="b" t="t" l="l"/>
            <a:pathLst>
              <a:path h="1389245" w="1486323">
                <a:moveTo>
                  <a:pt x="0" y="0"/>
                </a:moveTo>
                <a:lnTo>
                  <a:pt x="1486323" y="0"/>
                </a:lnTo>
                <a:lnTo>
                  <a:pt x="1486323" y="1389245"/>
                </a:lnTo>
                <a:lnTo>
                  <a:pt x="0" y="13892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323" t="-21068" r="-22234" b="-3252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3899310" y="4438361"/>
            <a:ext cx="621197" cy="377152"/>
            <a:chOff x="0" y="0"/>
            <a:chExt cx="812800" cy="49348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493482"/>
            </a:xfrm>
            <a:custGeom>
              <a:avLst/>
              <a:gdLst/>
              <a:ahLst/>
              <a:cxnLst/>
              <a:rect r="r" b="b" t="t" l="l"/>
              <a:pathLst>
                <a:path h="493482" w="812800">
                  <a:moveTo>
                    <a:pt x="812800" y="246741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90282"/>
                  </a:lnTo>
                  <a:lnTo>
                    <a:pt x="406400" y="290282"/>
                  </a:lnTo>
                  <a:lnTo>
                    <a:pt x="406400" y="493482"/>
                  </a:lnTo>
                  <a:lnTo>
                    <a:pt x="812800" y="246741"/>
                  </a:lnTo>
                  <a:close/>
                </a:path>
              </a:pathLst>
            </a:custGeom>
            <a:solidFill>
              <a:srgbClr val="0066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136525"/>
              <a:ext cx="711200" cy="153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2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514600" y="885825"/>
            <a:ext cx="4464657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전체 흐</a:t>
            </a:r>
            <a:r>
              <a:rPr lang="en-US" sz="699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름도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76956" y="4748838"/>
            <a:ext cx="2445465" cy="43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  <a:spcBef>
                <a:spcPct val="0"/>
              </a:spcBef>
            </a:pPr>
            <a:r>
              <a:rPr lang="en-US" sz="245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수신 - 자금 조달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697397" y="4748848"/>
            <a:ext cx="2445465" cy="43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  <a:spcBef>
                <a:spcPct val="0"/>
              </a:spcBef>
            </a:pPr>
            <a:r>
              <a:rPr lang="en-US" sz="245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여신 - 자금 운용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117838" y="4548823"/>
            <a:ext cx="2445465" cy="43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  <a:spcBef>
                <a:spcPct val="0"/>
              </a:spcBef>
            </a:pPr>
            <a:r>
              <a:rPr lang="en-US" sz="245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이자 계산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538279" y="4748848"/>
            <a:ext cx="2445465" cy="43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  <a:spcBef>
                <a:spcPct val="0"/>
              </a:spcBef>
            </a:pPr>
            <a:r>
              <a:rPr lang="en-US" sz="245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상환 · 회수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958720" y="4781868"/>
            <a:ext cx="2445465" cy="43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  <a:spcBef>
                <a:spcPct val="0"/>
              </a:spcBef>
            </a:pPr>
            <a:r>
              <a:rPr lang="en-US" sz="245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예대마진 실현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32442" y="5704957"/>
            <a:ext cx="2134493" cy="390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2"/>
              </a:lnSpc>
              <a:spcBef>
                <a:spcPct val="0"/>
              </a:spcBef>
            </a:pPr>
            <a:r>
              <a:rPr lang="en-US" sz="225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고객 예· 적금 유입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697397" y="5704973"/>
            <a:ext cx="2445465" cy="39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심사 후 대출 실행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117838" y="5404935"/>
            <a:ext cx="2445465" cy="79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</a:pPr>
            <a:r>
              <a:rPr lang="en-US" sz="225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단리 · 복리</a:t>
            </a:r>
          </a:p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(지급 · 수취)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538279" y="5704973"/>
            <a:ext cx="2445465" cy="39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원리금 회수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958720" y="5744978"/>
            <a:ext cx="2445465" cy="33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4"/>
              </a:lnSpc>
              <a:spcBef>
                <a:spcPct val="0"/>
              </a:spcBef>
            </a:pPr>
            <a:r>
              <a:rPr lang="en-US" sz="1860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여신금리 - 수신금리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596613" y="7952974"/>
            <a:ext cx="9807220" cy="43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  <a:spcBef>
                <a:spcPct val="0"/>
              </a:spcBef>
            </a:pPr>
            <a:r>
              <a:rPr lang="en-US" sz="2459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순환 </a:t>
            </a:r>
            <a:r>
              <a:rPr lang="en-US" sz="2459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⑤ 예대마진이 다시 ① 수신 재원이 되어 순환이 반복된다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7319752" y="4438361"/>
            <a:ext cx="621197" cy="377152"/>
            <a:chOff x="0" y="0"/>
            <a:chExt cx="812800" cy="49348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493482"/>
            </a:xfrm>
            <a:custGeom>
              <a:avLst/>
              <a:gdLst/>
              <a:ahLst/>
              <a:cxnLst/>
              <a:rect r="r" b="b" t="t" l="l"/>
              <a:pathLst>
                <a:path h="493482" w="812800">
                  <a:moveTo>
                    <a:pt x="812800" y="246741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90282"/>
                  </a:lnTo>
                  <a:lnTo>
                    <a:pt x="406400" y="290282"/>
                  </a:lnTo>
                  <a:lnTo>
                    <a:pt x="406400" y="493482"/>
                  </a:lnTo>
                  <a:lnTo>
                    <a:pt x="812800" y="246741"/>
                  </a:lnTo>
                  <a:close/>
                </a:path>
              </a:pathLst>
            </a:custGeom>
            <a:solidFill>
              <a:srgbClr val="0066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136525"/>
              <a:ext cx="711200" cy="153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2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740193" y="4438361"/>
            <a:ext cx="621197" cy="377152"/>
            <a:chOff x="0" y="0"/>
            <a:chExt cx="812800" cy="49348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493482"/>
            </a:xfrm>
            <a:custGeom>
              <a:avLst/>
              <a:gdLst/>
              <a:ahLst/>
              <a:cxnLst/>
              <a:rect r="r" b="b" t="t" l="l"/>
              <a:pathLst>
                <a:path h="493482" w="812800">
                  <a:moveTo>
                    <a:pt x="812800" y="246741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90282"/>
                  </a:lnTo>
                  <a:lnTo>
                    <a:pt x="406400" y="290282"/>
                  </a:lnTo>
                  <a:lnTo>
                    <a:pt x="406400" y="493482"/>
                  </a:lnTo>
                  <a:lnTo>
                    <a:pt x="812800" y="246741"/>
                  </a:lnTo>
                  <a:close/>
                </a:path>
              </a:pathLst>
            </a:custGeom>
            <a:solidFill>
              <a:srgbClr val="0066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136525"/>
              <a:ext cx="711200" cy="153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2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160634" y="4438361"/>
            <a:ext cx="621197" cy="377152"/>
            <a:chOff x="0" y="0"/>
            <a:chExt cx="812800" cy="49348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493482"/>
            </a:xfrm>
            <a:custGeom>
              <a:avLst/>
              <a:gdLst/>
              <a:ahLst/>
              <a:cxnLst/>
              <a:rect r="r" b="b" t="t" l="l"/>
              <a:pathLst>
                <a:path h="493482" w="812800">
                  <a:moveTo>
                    <a:pt x="812800" y="246741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90282"/>
                  </a:lnTo>
                  <a:lnTo>
                    <a:pt x="406400" y="290282"/>
                  </a:lnTo>
                  <a:lnTo>
                    <a:pt x="406400" y="493482"/>
                  </a:lnTo>
                  <a:lnTo>
                    <a:pt x="812800" y="246741"/>
                  </a:lnTo>
                  <a:close/>
                </a:path>
              </a:pathLst>
            </a:custGeom>
            <a:solidFill>
              <a:srgbClr val="0066FF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136525"/>
              <a:ext cx="711200" cy="153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2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5390" y="0"/>
            <a:ext cx="0" cy="7329735"/>
          </a:xfrm>
          <a:prstGeom prst="line">
            <a:avLst/>
          </a:prstGeom>
          <a:ln cap="flat" w="76200">
            <a:solidFill>
              <a:srgbClr val="006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745390" y="7932726"/>
            <a:ext cx="0" cy="2354274"/>
          </a:xfrm>
          <a:prstGeom prst="line">
            <a:avLst/>
          </a:prstGeom>
          <a:ln cap="flat" w="2857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783317" y="3354938"/>
            <a:ext cx="4415994" cy="6117476"/>
            <a:chOff x="0" y="0"/>
            <a:chExt cx="1163060" cy="16111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3060" cy="1611187"/>
            </a:xfrm>
            <a:custGeom>
              <a:avLst/>
              <a:gdLst/>
              <a:ahLst/>
              <a:cxnLst/>
              <a:rect r="r" b="b" t="t" l="l"/>
              <a:pathLst>
                <a:path h="1611187" w="1163060">
                  <a:moveTo>
                    <a:pt x="89411" y="0"/>
                  </a:moveTo>
                  <a:lnTo>
                    <a:pt x="1073649" y="0"/>
                  </a:lnTo>
                  <a:cubicBezTo>
                    <a:pt x="1097363" y="0"/>
                    <a:pt x="1120105" y="9420"/>
                    <a:pt x="1136872" y="26188"/>
                  </a:cubicBezTo>
                  <a:cubicBezTo>
                    <a:pt x="1153640" y="42956"/>
                    <a:pt x="1163060" y="65698"/>
                    <a:pt x="1163060" y="89411"/>
                  </a:cubicBezTo>
                  <a:lnTo>
                    <a:pt x="1163060" y="1521776"/>
                  </a:lnTo>
                  <a:cubicBezTo>
                    <a:pt x="1163060" y="1545489"/>
                    <a:pt x="1153640" y="1568232"/>
                    <a:pt x="1136872" y="1584999"/>
                  </a:cubicBezTo>
                  <a:cubicBezTo>
                    <a:pt x="1120105" y="1601767"/>
                    <a:pt x="1097363" y="1611187"/>
                    <a:pt x="1073649" y="1611187"/>
                  </a:cubicBezTo>
                  <a:lnTo>
                    <a:pt x="89411" y="1611187"/>
                  </a:lnTo>
                  <a:cubicBezTo>
                    <a:pt x="65698" y="1611187"/>
                    <a:pt x="42956" y="1601767"/>
                    <a:pt x="26188" y="1584999"/>
                  </a:cubicBezTo>
                  <a:cubicBezTo>
                    <a:pt x="9420" y="1568232"/>
                    <a:pt x="0" y="1545489"/>
                    <a:pt x="0" y="1521776"/>
                  </a:cubicBezTo>
                  <a:lnTo>
                    <a:pt x="0" y="89411"/>
                  </a:lnTo>
                  <a:cubicBezTo>
                    <a:pt x="0" y="65698"/>
                    <a:pt x="9420" y="42956"/>
                    <a:pt x="26188" y="26188"/>
                  </a:cubicBezTo>
                  <a:cubicBezTo>
                    <a:pt x="42956" y="9420"/>
                    <a:pt x="65698" y="0"/>
                    <a:pt x="89411" y="0"/>
                  </a:cubicBezTo>
                  <a:close/>
                </a:path>
              </a:pathLst>
            </a:custGeom>
            <a:solidFill>
              <a:srgbClr val="EDF3F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63060" cy="164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565422" y="3048718"/>
            <a:ext cx="2851786" cy="549337"/>
            <a:chOff x="0" y="0"/>
            <a:chExt cx="728815" cy="1403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8815" cy="140391"/>
            </a:xfrm>
            <a:custGeom>
              <a:avLst/>
              <a:gdLst/>
              <a:ahLst/>
              <a:cxnLst/>
              <a:rect r="r" b="b" t="t" l="l"/>
              <a:pathLst>
                <a:path h="140391" w="728815">
                  <a:moveTo>
                    <a:pt x="70195" y="0"/>
                  </a:moveTo>
                  <a:lnTo>
                    <a:pt x="658619" y="0"/>
                  </a:lnTo>
                  <a:cubicBezTo>
                    <a:pt x="677236" y="0"/>
                    <a:pt x="695091" y="7396"/>
                    <a:pt x="708255" y="20560"/>
                  </a:cubicBezTo>
                  <a:cubicBezTo>
                    <a:pt x="721419" y="33724"/>
                    <a:pt x="728815" y="51578"/>
                    <a:pt x="728815" y="70195"/>
                  </a:cubicBezTo>
                  <a:lnTo>
                    <a:pt x="728815" y="70195"/>
                  </a:lnTo>
                  <a:cubicBezTo>
                    <a:pt x="728815" y="88812"/>
                    <a:pt x="721419" y="106667"/>
                    <a:pt x="708255" y="119831"/>
                  </a:cubicBezTo>
                  <a:cubicBezTo>
                    <a:pt x="695091" y="132995"/>
                    <a:pt x="677236" y="140391"/>
                    <a:pt x="658619" y="140391"/>
                  </a:cubicBezTo>
                  <a:lnTo>
                    <a:pt x="70195" y="140391"/>
                  </a:lnTo>
                  <a:cubicBezTo>
                    <a:pt x="51578" y="140391"/>
                    <a:pt x="33724" y="132995"/>
                    <a:pt x="20560" y="119831"/>
                  </a:cubicBezTo>
                  <a:cubicBezTo>
                    <a:pt x="7396" y="106667"/>
                    <a:pt x="0" y="88812"/>
                    <a:pt x="0" y="70195"/>
                  </a:cubicBezTo>
                  <a:lnTo>
                    <a:pt x="0" y="70195"/>
                  </a:lnTo>
                  <a:cubicBezTo>
                    <a:pt x="0" y="51578"/>
                    <a:pt x="7396" y="33724"/>
                    <a:pt x="20560" y="20560"/>
                  </a:cubicBezTo>
                  <a:cubicBezTo>
                    <a:pt x="33724" y="7396"/>
                    <a:pt x="51578" y="0"/>
                    <a:pt x="70195" y="0"/>
                  </a:cubicBezTo>
                  <a:close/>
                </a:path>
              </a:pathLst>
            </a:custGeom>
            <a:solidFill>
              <a:srgbClr val="0066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728815" cy="207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보통 예금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18486" y="3354938"/>
            <a:ext cx="4415994" cy="6117476"/>
            <a:chOff x="0" y="0"/>
            <a:chExt cx="1163060" cy="16111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3060" cy="1611187"/>
            </a:xfrm>
            <a:custGeom>
              <a:avLst/>
              <a:gdLst/>
              <a:ahLst/>
              <a:cxnLst/>
              <a:rect r="r" b="b" t="t" l="l"/>
              <a:pathLst>
                <a:path h="1611187" w="1163060">
                  <a:moveTo>
                    <a:pt x="89411" y="0"/>
                  </a:moveTo>
                  <a:lnTo>
                    <a:pt x="1073649" y="0"/>
                  </a:lnTo>
                  <a:cubicBezTo>
                    <a:pt x="1097363" y="0"/>
                    <a:pt x="1120105" y="9420"/>
                    <a:pt x="1136872" y="26188"/>
                  </a:cubicBezTo>
                  <a:cubicBezTo>
                    <a:pt x="1153640" y="42956"/>
                    <a:pt x="1163060" y="65698"/>
                    <a:pt x="1163060" y="89411"/>
                  </a:cubicBezTo>
                  <a:lnTo>
                    <a:pt x="1163060" y="1521776"/>
                  </a:lnTo>
                  <a:cubicBezTo>
                    <a:pt x="1163060" y="1545489"/>
                    <a:pt x="1153640" y="1568232"/>
                    <a:pt x="1136872" y="1584999"/>
                  </a:cubicBezTo>
                  <a:cubicBezTo>
                    <a:pt x="1120105" y="1601767"/>
                    <a:pt x="1097363" y="1611187"/>
                    <a:pt x="1073649" y="1611187"/>
                  </a:cubicBezTo>
                  <a:lnTo>
                    <a:pt x="89411" y="1611187"/>
                  </a:lnTo>
                  <a:cubicBezTo>
                    <a:pt x="65698" y="1611187"/>
                    <a:pt x="42956" y="1601767"/>
                    <a:pt x="26188" y="1584999"/>
                  </a:cubicBezTo>
                  <a:cubicBezTo>
                    <a:pt x="9420" y="1568232"/>
                    <a:pt x="0" y="1545489"/>
                    <a:pt x="0" y="1521776"/>
                  </a:cubicBezTo>
                  <a:lnTo>
                    <a:pt x="0" y="89411"/>
                  </a:lnTo>
                  <a:cubicBezTo>
                    <a:pt x="0" y="65698"/>
                    <a:pt x="9420" y="42956"/>
                    <a:pt x="26188" y="26188"/>
                  </a:cubicBezTo>
                  <a:cubicBezTo>
                    <a:pt x="42956" y="9420"/>
                    <a:pt x="65698" y="0"/>
                    <a:pt x="89411" y="0"/>
                  </a:cubicBezTo>
                  <a:close/>
                </a:path>
              </a:pathLst>
            </a:custGeom>
            <a:solidFill>
              <a:srgbClr val="EDF3F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63060" cy="164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53656" y="3210176"/>
            <a:ext cx="4415994" cy="6117476"/>
            <a:chOff x="0" y="0"/>
            <a:chExt cx="1163060" cy="16111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3060" cy="1611187"/>
            </a:xfrm>
            <a:custGeom>
              <a:avLst/>
              <a:gdLst/>
              <a:ahLst/>
              <a:cxnLst/>
              <a:rect r="r" b="b" t="t" l="l"/>
              <a:pathLst>
                <a:path h="1611187" w="1163060">
                  <a:moveTo>
                    <a:pt x="89411" y="0"/>
                  </a:moveTo>
                  <a:lnTo>
                    <a:pt x="1073649" y="0"/>
                  </a:lnTo>
                  <a:cubicBezTo>
                    <a:pt x="1097363" y="0"/>
                    <a:pt x="1120105" y="9420"/>
                    <a:pt x="1136872" y="26188"/>
                  </a:cubicBezTo>
                  <a:cubicBezTo>
                    <a:pt x="1153640" y="42956"/>
                    <a:pt x="1163060" y="65698"/>
                    <a:pt x="1163060" y="89411"/>
                  </a:cubicBezTo>
                  <a:lnTo>
                    <a:pt x="1163060" y="1521776"/>
                  </a:lnTo>
                  <a:cubicBezTo>
                    <a:pt x="1163060" y="1545489"/>
                    <a:pt x="1153640" y="1568232"/>
                    <a:pt x="1136872" y="1584999"/>
                  </a:cubicBezTo>
                  <a:cubicBezTo>
                    <a:pt x="1120105" y="1601767"/>
                    <a:pt x="1097363" y="1611187"/>
                    <a:pt x="1073649" y="1611187"/>
                  </a:cubicBezTo>
                  <a:lnTo>
                    <a:pt x="89411" y="1611187"/>
                  </a:lnTo>
                  <a:cubicBezTo>
                    <a:pt x="65698" y="1611187"/>
                    <a:pt x="42956" y="1601767"/>
                    <a:pt x="26188" y="1584999"/>
                  </a:cubicBezTo>
                  <a:cubicBezTo>
                    <a:pt x="9420" y="1568232"/>
                    <a:pt x="0" y="1545489"/>
                    <a:pt x="0" y="1521776"/>
                  </a:cubicBezTo>
                  <a:lnTo>
                    <a:pt x="0" y="89411"/>
                  </a:lnTo>
                  <a:cubicBezTo>
                    <a:pt x="0" y="65698"/>
                    <a:pt x="9420" y="42956"/>
                    <a:pt x="26188" y="26188"/>
                  </a:cubicBezTo>
                  <a:cubicBezTo>
                    <a:pt x="42956" y="9420"/>
                    <a:pt x="65698" y="0"/>
                    <a:pt x="89411" y="0"/>
                  </a:cubicBezTo>
                  <a:close/>
                </a:path>
              </a:pathLst>
            </a:custGeom>
            <a:solidFill>
              <a:srgbClr val="EDF3F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63060" cy="164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2076332" y="5266911"/>
            <a:ext cx="3829966" cy="0"/>
          </a:xfrm>
          <a:prstGeom prst="line">
            <a:avLst/>
          </a:prstGeom>
          <a:ln cap="flat" w="28575">
            <a:solidFill>
              <a:srgbClr val="0066FF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7473908" y="5266911"/>
            <a:ext cx="3829966" cy="0"/>
          </a:xfrm>
          <a:prstGeom prst="line">
            <a:avLst/>
          </a:prstGeom>
          <a:ln cap="flat" w="28575">
            <a:solidFill>
              <a:srgbClr val="0066FF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871484" y="5266911"/>
            <a:ext cx="3829966" cy="0"/>
          </a:xfrm>
          <a:prstGeom prst="line">
            <a:avLst/>
          </a:prstGeom>
          <a:ln cap="flat" w="28575">
            <a:solidFill>
              <a:srgbClr val="0066FF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8000064" y="3048718"/>
            <a:ext cx="2851786" cy="549337"/>
            <a:chOff x="0" y="0"/>
            <a:chExt cx="728815" cy="140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8815" cy="140391"/>
            </a:xfrm>
            <a:custGeom>
              <a:avLst/>
              <a:gdLst/>
              <a:ahLst/>
              <a:cxnLst/>
              <a:rect r="r" b="b" t="t" l="l"/>
              <a:pathLst>
                <a:path h="140391" w="728815">
                  <a:moveTo>
                    <a:pt x="70195" y="0"/>
                  </a:moveTo>
                  <a:lnTo>
                    <a:pt x="658619" y="0"/>
                  </a:lnTo>
                  <a:cubicBezTo>
                    <a:pt x="677236" y="0"/>
                    <a:pt x="695091" y="7396"/>
                    <a:pt x="708255" y="20560"/>
                  </a:cubicBezTo>
                  <a:cubicBezTo>
                    <a:pt x="721419" y="33724"/>
                    <a:pt x="728815" y="51578"/>
                    <a:pt x="728815" y="70195"/>
                  </a:cubicBezTo>
                  <a:lnTo>
                    <a:pt x="728815" y="70195"/>
                  </a:lnTo>
                  <a:cubicBezTo>
                    <a:pt x="728815" y="88812"/>
                    <a:pt x="721419" y="106667"/>
                    <a:pt x="708255" y="119831"/>
                  </a:cubicBezTo>
                  <a:cubicBezTo>
                    <a:pt x="695091" y="132995"/>
                    <a:pt x="677236" y="140391"/>
                    <a:pt x="658619" y="140391"/>
                  </a:cubicBezTo>
                  <a:lnTo>
                    <a:pt x="70195" y="140391"/>
                  </a:lnTo>
                  <a:cubicBezTo>
                    <a:pt x="51578" y="140391"/>
                    <a:pt x="33724" y="132995"/>
                    <a:pt x="20560" y="119831"/>
                  </a:cubicBezTo>
                  <a:cubicBezTo>
                    <a:pt x="7396" y="106667"/>
                    <a:pt x="0" y="88812"/>
                    <a:pt x="0" y="70195"/>
                  </a:cubicBezTo>
                  <a:lnTo>
                    <a:pt x="0" y="70195"/>
                  </a:lnTo>
                  <a:cubicBezTo>
                    <a:pt x="0" y="51578"/>
                    <a:pt x="7396" y="33724"/>
                    <a:pt x="20560" y="20560"/>
                  </a:cubicBezTo>
                  <a:cubicBezTo>
                    <a:pt x="33724" y="7396"/>
                    <a:pt x="51578" y="0"/>
                    <a:pt x="70195" y="0"/>
                  </a:cubicBezTo>
                  <a:close/>
                </a:path>
              </a:pathLst>
            </a:custGeom>
            <a:solidFill>
              <a:srgbClr val="0066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728815" cy="207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정기 예금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434706" y="3048718"/>
            <a:ext cx="2851786" cy="619506"/>
            <a:chOff x="0" y="0"/>
            <a:chExt cx="728815" cy="1583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8815" cy="158324"/>
            </a:xfrm>
            <a:custGeom>
              <a:avLst/>
              <a:gdLst/>
              <a:ahLst/>
              <a:cxnLst/>
              <a:rect r="r" b="b" t="t" l="l"/>
              <a:pathLst>
                <a:path h="158324" w="728815">
                  <a:moveTo>
                    <a:pt x="79162" y="0"/>
                  </a:moveTo>
                  <a:lnTo>
                    <a:pt x="649653" y="0"/>
                  </a:lnTo>
                  <a:cubicBezTo>
                    <a:pt x="693373" y="0"/>
                    <a:pt x="728815" y="35442"/>
                    <a:pt x="728815" y="79162"/>
                  </a:cubicBezTo>
                  <a:lnTo>
                    <a:pt x="728815" y="79162"/>
                  </a:lnTo>
                  <a:cubicBezTo>
                    <a:pt x="728815" y="100157"/>
                    <a:pt x="720475" y="120292"/>
                    <a:pt x="705629" y="135138"/>
                  </a:cubicBezTo>
                  <a:cubicBezTo>
                    <a:pt x="690783" y="149983"/>
                    <a:pt x="670648" y="158324"/>
                    <a:pt x="649653" y="158324"/>
                  </a:cubicBezTo>
                  <a:lnTo>
                    <a:pt x="79162" y="158324"/>
                  </a:lnTo>
                  <a:cubicBezTo>
                    <a:pt x="35442" y="158324"/>
                    <a:pt x="0" y="122882"/>
                    <a:pt x="0" y="79162"/>
                  </a:cubicBezTo>
                  <a:lnTo>
                    <a:pt x="0" y="79162"/>
                  </a:lnTo>
                  <a:cubicBezTo>
                    <a:pt x="0" y="35442"/>
                    <a:pt x="35442" y="0"/>
                    <a:pt x="79162" y="0"/>
                  </a:cubicBezTo>
                  <a:close/>
                </a:path>
              </a:pathLst>
            </a:custGeom>
            <a:solidFill>
              <a:srgbClr val="0066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728815" cy="224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정기 적금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513946" y="4064342"/>
            <a:ext cx="855973" cy="792164"/>
          </a:xfrm>
          <a:custGeom>
            <a:avLst/>
            <a:gdLst/>
            <a:ahLst/>
            <a:cxnLst/>
            <a:rect r="r" b="b" t="t" l="l"/>
            <a:pathLst>
              <a:path h="792164" w="855973">
                <a:moveTo>
                  <a:pt x="0" y="0"/>
                </a:moveTo>
                <a:lnTo>
                  <a:pt x="855973" y="0"/>
                </a:lnTo>
                <a:lnTo>
                  <a:pt x="855973" y="792164"/>
                </a:lnTo>
                <a:lnTo>
                  <a:pt x="0" y="792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9045134" y="3865442"/>
            <a:ext cx="762700" cy="1010807"/>
          </a:xfrm>
          <a:custGeom>
            <a:avLst/>
            <a:gdLst/>
            <a:ahLst/>
            <a:cxnLst/>
            <a:rect r="r" b="b" t="t" l="l"/>
            <a:pathLst>
              <a:path h="1010807" w="762700">
                <a:moveTo>
                  <a:pt x="0" y="0"/>
                </a:moveTo>
                <a:lnTo>
                  <a:pt x="762699" y="0"/>
                </a:lnTo>
                <a:lnTo>
                  <a:pt x="762699" y="1010807"/>
                </a:lnTo>
                <a:lnTo>
                  <a:pt x="0" y="10108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514600" y="1085850"/>
            <a:ext cx="13819856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34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수신 종류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28232" y="5576473"/>
            <a:ext cx="3145512" cy="272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2"/>
              </a:lnSpc>
            </a:pPr>
            <a:r>
              <a:rPr lang="en-US" sz="3459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자유로운 입출금</a:t>
            </a:r>
          </a:p>
          <a:p>
            <a:pPr algn="ctr">
              <a:lnSpc>
                <a:spcPts val="3582"/>
              </a:lnSpc>
            </a:pPr>
          </a:p>
          <a:p>
            <a:pPr algn="ctr">
              <a:lnSpc>
                <a:spcPts val="4842"/>
              </a:lnSpc>
            </a:pPr>
            <a:r>
              <a:rPr lang="en-US" sz="3459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낮은 이자율</a:t>
            </a:r>
          </a:p>
          <a:p>
            <a:pPr algn="ctr">
              <a:lnSpc>
                <a:spcPts val="3582"/>
              </a:lnSpc>
            </a:pPr>
          </a:p>
          <a:p>
            <a:pPr algn="ctr">
              <a:lnSpc>
                <a:spcPts val="4842"/>
              </a:lnSpc>
              <a:spcBef>
                <a:spcPct val="0"/>
              </a:spcBef>
            </a:pPr>
            <a:r>
              <a:rPr lang="en-US" sz="3459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급여, 생활비</a:t>
            </a:r>
            <a:r>
              <a:rPr lang="en-US" sz="3459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통장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76709" y="5585998"/>
            <a:ext cx="3899549" cy="320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2"/>
              </a:lnSpc>
            </a:pPr>
            <a:r>
              <a:rPr lang="en-US" sz="3330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목돈</a:t>
            </a:r>
            <a:r>
              <a:rPr lang="en-US" sz="3330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일시 예치</a:t>
            </a:r>
          </a:p>
          <a:p>
            <a:pPr algn="ctr">
              <a:lnSpc>
                <a:spcPts val="3449"/>
              </a:lnSpc>
            </a:pPr>
          </a:p>
          <a:p>
            <a:pPr algn="ctr">
              <a:lnSpc>
                <a:spcPts val="4662"/>
              </a:lnSpc>
            </a:pPr>
            <a:r>
              <a:rPr lang="en-US" sz="3330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약정 만기 후</a:t>
            </a:r>
            <a:r>
              <a:rPr lang="en-US" sz="3330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이자 수령</a:t>
            </a:r>
          </a:p>
          <a:p>
            <a:pPr algn="ctr">
              <a:lnSpc>
                <a:spcPts val="3449"/>
              </a:lnSpc>
            </a:pPr>
          </a:p>
          <a:p>
            <a:pPr algn="ctr">
              <a:lnSpc>
                <a:spcPts val="4662"/>
              </a:lnSpc>
            </a:pPr>
            <a:r>
              <a:rPr lang="en-US" sz="3330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중도해지 시 이자 손해</a:t>
            </a:r>
          </a:p>
          <a:p>
            <a:pPr algn="ctr">
              <a:lnSpc>
                <a:spcPts val="4662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2823396" y="5595523"/>
            <a:ext cx="4055354" cy="303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</a:pPr>
            <a:r>
              <a:rPr lang="en-US" sz="3161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매월</a:t>
            </a:r>
            <a:r>
              <a:rPr lang="en-US" sz="3161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정액 납입</a:t>
            </a:r>
          </a:p>
          <a:p>
            <a:pPr algn="ctr">
              <a:lnSpc>
                <a:spcPts val="3274"/>
              </a:lnSpc>
            </a:pPr>
          </a:p>
          <a:p>
            <a:pPr algn="ctr">
              <a:lnSpc>
                <a:spcPts val="4426"/>
              </a:lnSpc>
            </a:pPr>
            <a:r>
              <a:rPr lang="en-US" sz="3161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목돈</a:t>
            </a:r>
            <a:r>
              <a:rPr lang="en-US" sz="3161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마련 목적</a:t>
            </a:r>
          </a:p>
          <a:p>
            <a:pPr algn="ctr">
              <a:lnSpc>
                <a:spcPts val="3274"/>
              </a:lnSpc>
            </a:pPr>
          </a:p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만기</a:t>
            </a:r>
            <a:r>
              <a:rPr lang="en-US" sz="3161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시</a:t>
            </a:r>
            <a:r>
              <a:rPr lang="en-US" sz="3161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원금 + 이자 수령</a:t>
            </a:r>
          </a:p>
          <a:p>
            <a:pPr algn="ctr">
              <a:lnSpc>
                <a:spcPts val="4426"/>
              </a:lnSpc>
              <a:spcBef>
                <a:spcPct val="0"/>
              </a:spcBef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14482456" y="3955020"/>
            <a:ext cx="932308" cy="1010807"/>
            <a:chOff x="0" y="0"/>
            <a:chExt cx="1243077" cy="1347742"/>
          </a:xfrm>
        </p:grpSpPr>
        <p:sp>
          <p:nvSpPr>
            <p:cNvPr name="Freeform 32" id="32"/>
            <p:cNvSpPr/>
            <p:nvPr/>
          </p:nvSpPr>
          <p:spPr>
            <a:xfrm flipH="false" flipV="false" rot="584490">
              <a:off x="45906" y="91345"/>
              <a:ext cx="1134179" cy="639265"/>
            </a:xfrm>
            <a:custGeom>
              <a:avLst/>
              <a:gdLst/>
              <a:ahLst/>
              <a:cxnLst/>
              <a:rect r="r" b="b" t="t" l="l"/>
              <a:pathLst>
                <a:path h="639265" w="1134179">
                  <a:moveTo>
                    <a:pt x="0" y="0"/>
                  </a:moveTo>
                  <a:lnTo>
                    <a:pt x="1134179" y="0"/>
                  </a:lnTo>
                  <a:lnTo>
                    <a:pt x="1134179" y="639264"/>
                  </a:lnTo>
                  <a:lnTo>
                    <a:pt x="0" y="639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-10258466">
              <a:off x="65777" y="623473"/>
              <a:ext cx="1134179" cy="639265"/>
            </a:xfrm>
            <a:custGeom>
              <a:avLst/>
              <a:gdLst/>
              <a:ahLst/>
              <a:cxnLst/>
              <a:rect r="r" b="b" t="t" l="l"/>
              <a:pathLst>
                <a:path h="639265" w="1134179">
                  <a:moveTo>
                    <a:pt x="0" y="0"/>
                  </a:moveTo>
                  <a:lnTo>
                    <a:pt x="1134180" y="0"/>
                  </a:lnTo>
                  <a:lnTo>
                    <a:pt x="1134180" y="639265"/>
                  </a:lnTo>
                  <a:lnTo>
                    <a:pt x="0" y="639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5390" y="0"/>
            <a:ext cx="0" cy="7329735"/>
          </a:xfrm>
          <a:prstGeom prst="line">
            <a:avLst/>
          </a:prstGeom>
          <a:ln cap="flat" w="76200">
            <a:solidFill>
              <a:srgbClr val="006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745390" y="7932726"/>
            <a:ext cx="0" cy="2354274"/>
          </a:xfrm>
          <a:prstGeom prst="line">
            <a:avLst/>
          </a:prstGeom>
          <a:ln cap="flat" w="2857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492036"/>
            <a:ext cx="16774273" cy="8384598"/>
          </a:xfrm>
          <a:custGeom>
            <a:avLst/>
            <a:gdLst/>
            <a:ahLst/>
            <a:cxnLst/>
            <a:rect r="r" b="b" t="t" l="l"/>
            <a:pathLst>
              <a:path h="8384598" w="16774273">
                <a:moveTo>
                  <a:pt x="0" y="0"/>
                </a:moveTo>
                <a:lnTo>
                  <a:pt x="16774273" y="0"/>
                </a:lnTo>
                <a:lnTo>
                  <a:pt x="16774273" y="8384598"/>
                </a:lnTo>
                <a:lnTo>
                  <a:pt x="0" y="838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" r="0" b="-1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14600" y="1085850"/>
            <a:ext cx="13819856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34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흐름도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5390" y="0"/>
            <a:ext cx="0" cy="7329735"/>
          </a:xfrm>
          <a:prstGeom prst="line">
            <a:avLst/>
          </a:prstGeom>
          <a:ln cap="flat" w="76200">
            <a:solidFill>
              <a:srgbClr val="006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745390" y="7932726"/>
            <a:ext cx="0" cy="2354274"/>
          </a:xfrm>
          <a:prstGeom prst="line">
            <a:avLst/>
          </a:prstGeom>
          <a:ln cap="flat" w="2857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514475" y="2621633"/>
          <a:ext cx="15240000" cy="5043735"/>
        </p:xfrm>
        <a:graphic>
          <a:graphicData uri="http://schemas.openxmlformats.org/drawingml/2006/table">
            <a:tbl>
              <a:tblPr/>
              <a:tblGrid>
                <a:gridCol w="1979085"/>
                <a:gridCol w="4420305"/>
                <a:gridCol w="4420305"/>
                <a:gridCol w="4420305"/>
              </a:tblGrid>
              <a:tr h="6427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06"/>
                        </a:lnSpc>
                        <a:defRPr/>
                      </a:pPr>
                      <a:r>
                        <a:rPr lang="en-US" sz="2790">
                          <a:solidFill>
                            <a:srgbClr val="FFFFFF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상품명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526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0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06"/>
                        </a:lnSpc>
                        <a:defRPr/>
                      </a:pPr>
                      <a:r>
                        <a:rPr lang="en-US" sz="2790">
                          <a:solidFill>
                            <a:srgbClr val="FFFFFF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설명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526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0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06"/>
                        </a:lnSpc>
                        <a:defRPr/>
                      </a:pPr>
                      <a:r>
                        <a:rPr lang="en-US" sz="2790">
                          <a:solidFill>
                            <a:srgbClr val="FFFFFF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특징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526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0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06"/>
                        </a:lnSpc>
                        <a:defRPr/>
                      </a:pPr>
                      <a:r>
                        <a:rPr lang="en-US" sz="2790">
                          <a:solidFill>
                            <a:srgbClr val="FFFFFF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심사 기준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526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0E7"/>
                    </a:solidFill>
                  </a:tcPr>
                </a:tc>
              </a:tr>
              <a:tr h="1100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7"/>
                        </a:lnSpc>
                        <a:defRPr/>
                      </a:pPr>
                      <a:r>
                        <a:rPr lang="en-US" sz="24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신용대출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7"/>
                        </a:lnSpc>
                        <a:defRPr/>
                      </a:pPr>
                      <a:r>
                        <a:rPr lang="en-US" sz="22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담보없이 고객 신용을 기반으로 받는 대출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7"/>
                        </a:lnSpc>
                        <a:defRPr/>
                      </a:pPr>
                      <a:r>
                        <a:rPr lang="en-US" sz="22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고객 자체의 상환능력이 핵심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7"/>
                        </a:lnSpc>
                        <a:defRPr/>
                      </a:pPr>
                      <a:r>
                        <a:rPr lang="en-US" sz="22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신용점수, 소득, 재직, 기존 부채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</a:tr>
              <a:tr h="1100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7"/>
                        </a:lnSpc>
                        <a:defRPr/>
                      </a:pPr>
                      <a:r>
                        <a:rPr lang="en-US" sz="24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주택담보대출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7"/>
                        </a:lnSpc>
                        <a:defRPr/>
                      </a:pPr>
                      <a:r>
                        <a:rPr lang="en-US" sz="22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주택을 담보로 제공하고 받는 대출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7"/>
                        </a:lnSpc>
                        <a:defRPr/>
                      </a:pPr>
                      <a:r>
                        <a:rPr lang="en-US" sz="22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고객의 상환능력과 담보물 가치가 함께 중요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7"/>
                        </a:lnSpc>
                        <a:defRPr/>
                      </a:pPr>
                      <a:r>
                        <a:rPr lang="en-US" sz="22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담보가치, LTV, DTI, DSR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</a:tr>
              <a:tr h="1100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7"/>
                        </a:lnSpc>
                        <a:defRPr/>
                      </a:pPr>
                      <a:r>
                        <a:rPr lang="en-US" sz="24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전세자금대출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7"/>
                        </a:lnSpc>
                        <a:defRPr/>
                      </a:pPr>
                      <a:r>
                        <a:rPr lang="en-US" sz="22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전세보증금을 마련하기 위한 대출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7"/>
                        </a:lnSpc>
                        <a:defRPr/>
                      </a:pPr>
                      <a:r>
                        <a:rPr lang="en-US" sz="22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은행 심사 외에 보증기관 연계가 필요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7"/>
                        </a:lnSpc>
                        <a:defRPr/>
                      </a:pPr>
                      <a:r>
                        <a:rPr lang="en-US" sz="22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임대차계약, 보증기관 보증 가능 여부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</a:tr>
              <a:tr h="1100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7"/>
                        </a:lnSpc>
                        <a:defRPr/>
                      </a:pPr>
                      <a:r>
                        <a:rPr lang="en-US" sz="24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마이너스통장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7"/>
                        </a:lnSpc>
                        <a:defRPr/>
                      </a:pPr>
                      <a:r>
                        <a:rPr lang="en-US" sz="22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약정한도 안에서 필요한 만큼 사용하는 한도대출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7"/>
                        </a:lnSpc>
                        <a:defRPr/>
                      </a:pPr>
                      <a:r>
                        <a:rPr lang="en-US" sz="22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대출금이 한번에 나가는 것이 아니라 사용금액이 계속 변함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7"/>
                        </a:lnSpc>
                        <a:defRPr/>
                      </a:pPr>
                      <a:r>
                        <a:rPr lang="en-US" sz="2254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신용도, 소득, 약정한도, 사용금액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514600" y="1085850"/>
            <a:ext cx="13335000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sz="6999" spc="-349" strike="noStrike" u="none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여신 종류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14475" y="8372773"/>
            <a:ext cx="15240000" cy="1047750"/>
            <a:chOff x="0" y="0"/>
            <a:chExt cx="3891958" cy="2675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91958" cy="267572"/>
            </a:xfrm>
            <a:custGeom>
              <a:avLst/>
              <a:gdLst/>
              <a:ahLst/>
              <a:cxnLst/>
              <a:rect r="r" b="b" t="t" l="l"/>
              <a:pathLst>
                <a:path h="267572" w="3891958">
                  <a:moveTo>
                    <a:pt x="7620" y="0"/>
                  </a:moveTo>
                  <a:lnTo>
                    <a:pt x="3884338" y="0"/>
                  </a:lnTo>
                  <a:cubicBezTo>
                    <a:pt x="3888546" y="0"/>
                    <a:pt x="3891958" y="3412"/>
                    <a:pt x="3891958" y="7620"/>
                  </a:cubicBezTo>
                  <a:lnTo>
                    <a:pt x="3891958" y="259952"/>
                  </a:lnTo>
                  <a:cubicBezTo>
                    <a:pt x="3891958" y="261973"/>
                    <a:pt x="3891155" y="263911"/>
                    <a:pt x="3889726" y="265340"/>
                  </a:cubicBezTo>
                  <a:cubicBezTo>
                    <a:pt x="3888297" y="266769"/>
                    <a:pt x="3886359" y="267572"/>
                    <a:pt x="3884338" y="267572"/>
                  </a:cubicBezTo>
                  <a:lnTo>
                    <a:pt x="7620" y="267572"/>
                  </a:lnTo>
                  <a:cubicBezTo>
                    <a:pt x="3412" y="267572"/>
                    <a:pt x="0" y="264160"/>
                    <a:pt x="0" y="259952"/>
                  </a:cubicBezTo>
                  <a:lnTo>
                    <a:pt x="0" y="7620"/>
                  </a:lnTo>
                  <a:cubicBezTo>
                    <a:pt x="0" y="3412"/>
                    <a:pt x="3412" y="0"/>
                    <a:pt x="7620" y="0"/>
                  </a:cubicBezTo>
                  <a:close/>
                </a:path>
              </a:pathLst>
            </a:custGeom>
            <a:solidFill>
              <a:srgbClr val="FFF3C2"/>
            </a:solidFill>
            <a:ln w="38100" cap="sq">
              <a:solidFill>
                <a:srgbClr val="FFBD5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3891958" cy="353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4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196800" y="8501591"/>
            <a:ext cx="11875349" cy="669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33"/>
              </a:lnSpc>
              <a:spcBef>
                <a:spcPct val="0"/>
              </a:spcBef>
            </a:pPr>
            <a:r>
              <a:rPr lang="en-US" sz="3688" spc="-110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여신 상품은 종류별로 필요한 데이터와 심사 기준이 서로 다르다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5390" y="0"/>
            <a:ext cx="0" cy="7329735"/>
          </a:xfrm>
          <a:prstGeom prst="line">
            <a:avLst/>
          </a:prstGeom>
          <a:ln cap="flat" w="76200">
            <a:solidFill>
              <a:srgbClr val="006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745390" y="7932726"/>
            <a:ext cx="0" cy="2354274"/>
          </a:xfrm>
          <a:prstGeom prst="line">
            <a:avLst/>
          </a:prstGeom>
          <a:ln cap="flat" w="2857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14475" y="2965285"/>
            <a:ext cx="15744825" cy="3183857"/>
          </a:xfrm>
          <a:custGeom>
            <a:avLst/>
            <a:gdLst/>
            <a:ahLst/>
            <a:cxnLst/>
            <a:rect r="r" b="b" t="t" l="l"/>
            <a:pathLst>
              <a:path h="3183857" w="15744825">
                <a:moveTo>
                  <a:pt x="0" y="0"/>
                </a:moveTo>
                <a:lnTo>
                  <a:pt x="15744825" y="0"/>
                </a:lnTo>
                <a:lnTo>
                  <a:pt x="15744825" y="3183857"/>
                </a:lnTo>
                <a:lnTo>
                  <a:pt x="0" y="3183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4475" y="6978196"/>
            <a:ext cx="15744825" cy="1909060"/>
          </a:xfrm>
          <a:custGeom>
            <a:avLst/>
            <a:gdLst/>
            <a:ahLst/>
            <a:cxnLst/>
            <a:rect r="r" b="b" t="t" l="l"/>
            <a:pathLst>
              <a:path h="1909060" w="15744825">
                <a:moveTo>
                  <a:pt x="0" y="0"/>
                </a:moveTo>
                <a:lnTo>
                  <a:pt x="15744825" y="0"/>
                </a:lnTo>
                <a:lnTo>
                  <a:pt x="15744825" y="1909060"/>
                </a:lnTo>
                <a:lnTo>
                  <a:pt x="0" y="1909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14600" y="1085850"/>
            <a:ext cx="13335000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sz="6999" spc="-349" strike="noStrike" u="none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여신 공통 흐름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5390" y="0"/>
            <a:ext cx="0" cy="7329735"/>
          </a:xfrm>
          <a:prstGeom prst="line">
            <a:avLst/>
          </a:prstGeom>
          <a:ln cap="flat" w="76200">
            <a:solidFill>
              <a:srgbClr val="006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745390" y="7932726"/>
            <a:ext cx="0" cy="2354274"/>
          </a:xfrm>
          <a:prstGeom prst="line">
            <a:avLst/>
          </a:prstGeom>
          <a:ln cap="flat" w="2857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514600" y="1085850"/>
            <a:ext cx="13335000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sz="6999" spc="-34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상품별 분기 흐름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14475" y="2689359"/>
            <a:ext cx="7629525" cy="3059757"/>
            <a:chOff x="0" y="0"/>
            <a:chExt cx="10464072" cy="41965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64072" cy="4196529"/>
            </a:xfrm>
            <a:custGeom>
              <a:avLst/>
              <a:gdLst/>
              <a:ahLst/>
              <a:cxnLst/>
              <a:rect r="r" b="b" t="t" l="l"/>
              <a:pathLst>
                <a:path h="4196529" w="10464072">
                  <a:moveTo>
                    <a:pt x="467146" y="0"/>
                  </a:moveTo>
                  <a:lnTo>
                    <a:pt x="9996926" y="0"/>
                  </a:lnTo>
                  <a:cubicBezTo>
                    <a:pt x="10254924" y="0"/>
                    <a:pt x="10464072" y="187885"/>
                    <a:pt x="10464072" y="419653"/>
                  </a:cubicBezTo>
                  <a:lnTo>
                    <a:pt x="10464072" y="3776876"/>
                  </a:lnTo>
                  <a:cubicBezTo>
                    <a:pt x="10464072" y="4008644"/>
                    <a:pt x="10254924" y="4196529"/>
                    <a:pt x="9996926" y="4196529"/>
                  </a:cubicBezTo>
                  <a:lnTo>
                    <a:pt x="467146" y="4196529"/>
                  </a:lnTo>
                  <a:cubicBezTo>
                    <a:pt x="209148" y="4196529"/>
                    <a:pt x="0" y="4008644"/>
                    <a:pt x="0" y="3776876"/>
                  </a:cubicBezTo>
                  <a:lnTo>
                    <a:pt x="0" y="419653"/>
                  </a:lnTo>
                  <a:cubicBezTo>
                    <a:pt x="0" y="187885"/>
                    <a:pt x="209148" y="0"/>
                    <a:pt x="46714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66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464072" cy="423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3161" y="3980815"/>
            <a:ext cx="745071" cy="1013296"/>
            <a:chOff x="0" y="0"/>
            <a:chExt cx="1021882" cy="1389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E8F2FF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신청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2537706" y="4492611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2795997" y="3980815"/>
            <a:ext cx="745071" cy="1013296"/>
            <a:chOff x="0" y="0"/>
            <a:chExt cx="1021882" cy="1389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E8F2FF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소득/재직 확인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3620542" y="4492611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3878833" y="3980815"/>
            <a:ext cx="745071" cy="1013296"/>
            <a:chOff x="0" y="0"/>
            <a:chExt cx="1021882" cy="1389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E8F2FF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신용점수 확인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4703378" y="4492611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4961669" y="3980815"/>
            <a:ext cx="745071" cy="1013296"/>
            <a:chOff x="0" y="0"/>
            <a:chExt cx="1021882" cy="1389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E8F2FF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기존 부채 확인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5786214" y="4492611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6044505" y="3980815"/>
            <a:ext cx="745071" cy="1013296"/>
            <a:chOff x="0" y="0"/>
            <a:chExt cx="1021882" cy="1389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E8F2FF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DSR 계산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V="true">
            <a:off x="6869050" y="4492611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7127342" y="3980815"/>
            <a:ext cx="745071" cy="1013296"/>
            <a:chOff x="0" y="0"/>
            <a:chExt cx="1021882" cy="1389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E8F2FF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한도/금리 산정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7951887" y="4492611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2" id="32"/>
          <p:cNvGrpSpPr/>
          <p:nvPr/>
        </p:nvGrpSpPr>
        <p:grpSpPr>
          <a:xfrm rot="0">
            <a:off x="8210178" y="3980815"/>
            <a:ext cx="745071" cy="1013296"/>
            <a:chOff x="0" y="0"/>
            <a:chExt cx="1021882" cy="1389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E8F2FF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실행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87947" y="5152473"/>
            <a:ext cx="3282580" cy="328258"/>
            <a:chOff x="0" y="0"/>
            <a:chExt cx="2997521" cy="299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97521" cy="299752"/>
            </a:xfrm>
            <a:custGeom>
              <a:avLst/>
              <a:gdLst/>
              <a:ahLst/>
              <a:cxnLst/>
              <a:rect r="r" b="b" t="t" l="l"/>
              <a:pathLst>
                <a:path h="299752" w="2997521">
                  <a:moveTo>
                    <a:pt x="2840508" y="0"/>
                  </a:moveTo>
                  <a:cubicBezTo>
                    <a:pt x="2927224" y="0"/>
                    <a:pt x="2997521" y="67102"/>
                    <a:pt x="2997521" y="149876"/>
                  </a:cubicBezTo>
                  <a:cubicBezTo>
                    <a:pt x="2997521" y="232650"/>
                    <a:pt x="2927224" y="299752"/>
                    <a:pt x="2840508" y="299752"/>
                  </a:cubicBezTo>
                  <a:lnTo>
                    <a:pt x="157013" y="299752"/>
                  </a:lnTo>
                  <a:cubicBezTo>
                    <a:pt x="70297" y="299752"/>
                    <a:pt x="0" y="232650"/>
                    <a:pt x="0" y="149876"/>
                  </a:cubicBezTo>
                  <a:cubicBezTo>
                    <a:pt x="0" y="67102"/>
                    <a:pt x="70297" y="0"/>
                    <a:pt x="157013" y="0"/>
                  </a:cubicBezTo>
                  <a:close/>
                </a:path>
              </a:pathLst>
            </a:custGeom>
            <a:solidFill>
              <a:srgbClr val="E8F2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997521" cy="337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812503" y="3047996"/>
            <a:ext cx="1808038" cy="429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49" strike="noStrike" u="none">
                <a:solidFill>
                  <a:srgbClr val="1A2E5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신용대출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859956" y="5163426"/>
            <a:ext cx="2929620" cy="25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4"/>
              </a:lnSpc>
              <a:spcBef>
                <a:spcPct val="0"/>
              </a:spcBef>
            </a:pPr>
            <a:r>
              <a:rPr lang="en-US" sz="1438" strike="noStrike" u="none">
                <a:solidFill>
                  <a:srgbClr val="1A2E5A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핵심: 고객의 상환능력 중심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519442" y="6453966"/>
            <a:ext cx="7629525" cy="3059757"/>
            <a:chOff x="0" y="0"/>
            <a:chExt cx="10464072" cy="419652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64072" cy="4196529"/>
            </a:xfrm>
            <a:custGeom>
              <a:avLst/>
              <a:gdLst/>
              <a:ahLst/>
              <a:cxnLst/>
              <a:rect r="r" b="b" t="t" l="l"/>
              <a:pathLst>
                <a:path h="4196529" w="10464072">
                  <a:moveTo>
                    <a:pt x="467146" y="0"/>
                  </a:moveTo>
                  <a:lnTo>
                    <a:pt x="9996926" y="0"/>
                  </a:lnTo>
                  <a:cubicBezTo>
                    <a:pt x="10254924" y="0"/>
                    <a:pt x="10464072" y="187885"/>
                    <a:pt x="10464072" y="419653"/>
                  </a:cubicBezTo>
                  <a:lnTo>
                    <a:pt x="10464072" y="3776876"/>
                  </a:lnTo>
                  <a:cubicBezTo>
                    <a:pt x="10464072" y="4008644"/>
                    <a:pt x="10254924" y="4196529"/>
                    <a:pt x="9996926" y="4196529"/>
                  </a:cubicBezTo>
                  <a:lnTo>
                    <a:pt x="467146" y="4196529"/>
                  </a:lnTo>
                  <a:cubicBezTo>
                    <a:pt x="209148" y="4196529"/>
                    <a:pt x="0" y="4008644"/>
                    <a:pt x="0" y="3776876"/>
                  </a:cubicBezTo>
                  <a:lnTo>
                    <a:pt x="0" y="419653"/>
                  </a:lnTo>
                  <a:cubicBezTo>
                    <a:pt x="0" y="187885"/>
                    <a:pt x="209148" y="0"/>
                    <a:pt x="46714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66FF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464072" cy="423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18128" y="7745422"/>
            <a:ext cx="745071" cy="1013296"/>
            <a:chOff x="0" y="0"/>
            <a:chExt cx="1021882" cy="13897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D8C7FA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임대차계약 체결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>
            <a:off x="2542673" y="8257219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7" id="47"/>
          <p:cNvGrpSpPr/>
          <p:nvPr/>
        </p:nvGrpSpPr>
        <p:grpSpPr>
          <a:xfrm rot="0">
            <a:off x="2800964" y="7745422"/>
            <a:ext cx="745071" cy="1013296"/>
            <a:chOff x="0" y="0"/>
            <a:chExt cx="1021882" cy="1389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D8C7FA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대출 신청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>
            <a:off x="3625509" y="8257219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3883800" y="7745422"/>
            <a:ext cx="745071" cy="1013296"/>
            <a:chOff x="0" y="0"/>
            <a:chExt cx="1021882" cy="13897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D8C7FA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임대차계약서 제출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>
            <a:off x="4708345" y="8257219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5" id="55"/>
          <p:cNvGrpSpPr/>
          <p:nvPr/>
        </p:nvGrpSpPr>
        <p:grpSpPr>
          <a:xfrm rot="0">
            <a:off x="4966636" y="7745422"/>
            <a:ext cx="745071" cy="1013296"/>
            <a:chOff x="0" y="0"/>
            <a:chExt cx="1021882" cy="13897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D8C7FA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보증기관 심사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>
            <a:off x="5791181" y="8257219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9" id="59"/>
          <p:cNvGrpSpPr/>
          <p:nvPr/>
        </p:nvGrpSpPr>
        <p:grpSpPr>
          <a:xfrm rot="0">
            <a:off x="6049473" y="7745422"/>
            <a:ext cx="745071" cy="1013296"/>
            <a:chOff x="0" y="0"/>
            <a:chExt cx="1021882" cy="13897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D8C7FA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보증서 발급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 flipV="true">
            <a:off x="6874018" y="8257219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3" id="63"/>
          <p:cNvGrpSpPr/>
          <p:nvPr/>
        </p:nvGrpSpPr>
        <p:grpSpPr>
          <a:xfrm rot="0">
            <a:off x="7132309" y="7745422"/>
            <a:ext cx="745071" cy="1013296"/>
            <a:chOff x="0" y="0"/>
            <a:chExt cx="1021882" cy="13897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D8C7FA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은행 심사</a:t>
              </a:r>
            </a:p>
          </p:txBody>
        </p:sp>
      </p:grpSp>
      <p:sp>
        <p:nvSpPr>
          <p:cNvPr name="AutoShape 66" id="66"/>
          <p:cNvSpPr/>
          <p:nvPr/>
        </p:nvSpPr>
        <p:spPr>
          <a:xfrm flipV="true">
            <a:off x="7956854" y="8257219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7" id="67"/>
          <p:cNvGrpSpPr/>
          <p:nvPr/>
        </p:nvGrpSpPr>
        <p:grpSpPr>
          <a:xfrm rot="0">
            <a:off x="8215145" y="7745422"/>
            <a:ext cx="745071" cy="1013296"/>
            <a:chOff x="0" y="0"/>
            <a:chExt cx="1021882" cy="13897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D8C7FA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실행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3692914" y="8917081"/>
            <a:ext cx="3282580" cy="328258"/>
            <a:chOff x="0" y="0"/>
            <a:chExt cx="2997521" cy="299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997521" cy="299752"/>
            </a:xfrm>
            <a:custGeom>
              <a:avLst/>
              <a:gdLst/>
              <a:ahLst/>
              <a:cxnLst/>
              <a:rect r="r" b="b" t="t" l="l"/>
              <a:pathLst>
                <a:path h="299752" w="2997521">
                  <a:moveTo>
                    <a:pt x="2840508" y="0"/>
                  </a:moveTo>
                  <a:cubicBezTo>
                    <a:pt x="2927224" y="0"/>
                    <a:pt x="2997521" y="67102"/>
                    <a:pt x="2997521" y="149876"/>
                  </a:cubicBezTo>
                  <a:cubicBezTo>
                    <a:pt x="2997521" y="232650"/>
                    <a:pt x="2927224" y="299752"/>
                    <a:pt x="2840508" y="299752"/>
                  </a:cubicBezTo>
                  <a:lnTo>
                    <a:pt x="157013" y="299752"/>
                  </a:lnTo>
                  <a:cubicBezTo>
                    <a:pt x="70297" y="299752"/>
                    <a:pt x="0" y="232650"/>
                    <a:pt x="0" y="149876"/>
                  </a:cubicBezTo>
                  <a:cubicBezTo>
                    <a:pt x="0" y="67102"/>
                    <a:pt x="70297" y="0"/>
                    <a:pt x="157013" y="0"/>
                  </a:cubicBezTo>
                  <a:close/>
                </a:path>
              </a:pathLst>
            </a:custGeom>
            <a:solidFill>
              <a:srgbClr val="D8C7FA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997521" cy="337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817470" y="6812342"/>
            <a:ext cx="1808038" cy="43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  <a:spcBef>
                <a:spcPct val="0"/>
              </a:spcBef>
            </a:pPr>
            <a:r>
              <a:rPr lang="en-US" b="true" sz="2553">
                <a:solidFill>
                  <a:srgbClr val="1A2E5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전세자금대출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3864924" y="8928033"/>
            <a:ext cx="2929620" cy="25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4"/>
              </a:lnSpc>
              <a:spcBef>
                <a:spcPct val="0"/>
              </a:spcBef>
            </a:pPr>
            <a:r>
              <a:rPr lang="en-US" sz="1438" strike="noStrike" u="none">
                <a:solidFill>
                  <a:srgbClr val="1A2E5A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핵심: 보증기관 연계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9877425" y="2689359"/>
            <a:ext cx="7629525" cy="3059757"/>
            <a:chOff x="0" y="0"/>
            <a:chExt cx="10464072" cy="419652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464072" cy="4196529"/>
            </a:xfrm>
            <a:custGeom>
              <a:avLst/>
              <a:gdLst/>
              <a:ahLst/>
              <a:cxnLst/>
              <a:rect r="r" b="b" t="t" l="l"/>
              <a:pathLst>
                <a:path h="4196529" w="10464072">
                  <a:moveTo>
                    <a:pt x="467146" y="0"/>
                  </a:moveTo>
                  <a:lnTo>
                    <a:pt x="9996926" y="0"/>
                  </a:lnTo>
                  <a:cubicBezTo>
                    <a:pt x="10254924" y="0"/>
                    <a:pt x="10464072" y="187885"/>
                    <a:pt x="10464072" y="419653"/>
                  </a:cubicBezTo>
                  <a:lnTo>
                    <a:pt x="10464072" y="3776876"/>
                  </a:lnTo>
                  <a:cubicBezTo>
                    <a:pt x="10464072" y="4008644"/>
                    <a:pt x="10254924" y="4196529"/>
                    <a:pt x="9996926" y="4196529"/>
                  </a:cubicBezTo>
                  <a:lnTo>
                    <a:pt x="467146" y="4196529"/>
                  </a:lnTo>
                  <a:cubicBezTo>
                    <a:pt x="209148" y="4196529"/>
                    <a:pt x="0" y="4008644"/>
                    <a:pt x="0" y="3776876"/>
                  </a:cubicBezTo>
                  <a:lnTo>
                    <a:pt x="0" y="419653"/>
                  </a:lnTo>
                  <a:cubicBezTo>
                    <a:pt x="0" y="187885"/>
                    <a:pt x="209148" y="0"/>
                    <a:pt x="46714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66FF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0464072" cy="423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076111" y="3980815"/>
            <a:ext cx="745071" cy="1013296"/>
            <a:chOff x="0" y="0"/>
            <a:chExt cx="1021882" cy="13897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CAF5F7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신청</a:t>
              </a:r>
            </a:p>
          </p:txBody>
        </p:sp>
      </p:grpSp>
      <p:sp>
        <p:nvSpPr>
          <p:cNvPr name="AutoShape 81" id="81"/>
          <p:cNvSpPr/>
          <p:nvPr/>
        </p:nvSpPr>
        <p:spPr>
          <a:xfrm>
            <a:off x="10900656" y="4492611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2" id="82"/>
          <p:cNvGrpSpPr/>
          <p:nvPr/>
        </p:nvGrpSpPr>
        <p:grpSpPr>
          <a:xfrm rot="0">
            <a:off x="11158947" y="3980815"/>
            <a:ext cx="745071" cy="1013296"/>
            <a:chOff x="0" y="0"/>
            <a:chExt cx="1021882" cy="13897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CAF5F7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주택 정보 입력</a:t>
              </a:r>
            </a:p>
          </p:txBody>
        </p:sp>
      </p:grpSp>
      <p:sp>
        <p:nvSpPr>
          <p:cNvPr name="AutoShape 85" id="85"/>
          <p:cNvSpPr/>
          <p:nvPr/>
        </p:nvSpPr>
        <p:spPr>
          <a:xfrm>
            <a:off x="11983492" y="4492611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6" id="86"/>
          <p:cNvGrpSpPr/>
          <p:nvPr/>
        </p:nvGrpSpPr>
        <p:grpSpPr>
          <a:xfrm rot="0">
            <a:off x="12241783" y="3980815"/>
            <a:ext cx="745071" cy="1013296"/>
            <a:chOff x="0" y="0"/>
            <a:chExt cx="1021882" cy="13897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CAF5F7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담보가치조회</a:t>
              </a:r>
            </a:p>
          </p:txBody>
        </p:sp>
      </p:grpSp>
      <p:sp>
        <p:nvSpPr>
          <p:cNvPr name="AutoShape 89" id="89"/>
          <p:cNvSpPr/>
          <p:nvPr/>
        </p:nvSpPr>
        <p:spPr>
          <a:xfrm>
            <a:off x="13066328" y="4492611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0" id="90"/>
          <p:cNvGrpSpPr/>
          <p:nvPr/>
        </p:nvGrpSpPr>
        <p:grpSpPr>
          <a:xfrm rot="0">
            <a:off x="13324619" y="3980815"/>
            <a:ext cx="745071" cy="1013296"/>
            <a:chOff x="0" y="0"/>
            <a:chExt cx="1021882" cy="13897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CAF5F7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선순위채권 확인</a:t>
              </a:r>
            </a:p>
          </p:txBody>
        </p:sp>
      </p:grpSp>
      <p:sp>
        <p:nvSpPr>
          <p:cNvPr name="AutoShape 93" id="93"/>
          <p:cNvSpPr/>
          <p:nvPr/>
        </p:nvSpPr>
        <p:spPr>
          <a:xfrm>
            <a:off x="14149164" y="4492611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4" id="94"/>
          <p:cNvGrpSpPr/>
          <p:nvPr/>
        </p:nvGrpSpPr>
        <p:grpSpPr>
          <a:xfrm rot="0">
            <a:off x="14407455" y="3980815"/>
            <a:ext cx="745071" cy="1013296"/>
            <a:chOff x="0" y="0"/>
            <a:chExt cx="1021882" cy="13897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CAF5F7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LTV/DTI/DSR 계산</a:t>
              </a:r>
            </a:p>
          </p:txBody>
        </p:sp>
      </p:grpSp>
      <p:sp>
        <p:nvSpPr>
          <p:cNvPr name="AutoShape 97" id="97"/>
          <p:cNvSpPr/>
          <p:nvPr/>
        </p:nvSpPr>
        <p:spPr>
          <a:xfrm flipV="true">
            <a:off x="15232000" y="4492611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8" id="98"/>
          <p:cNvGrpSpPr/>
          <p:nvPr/>
        </p:nvGrpSpPr>
        <p:grpSpPr>
          <a:xfrm rot="0">
            <a:off x="15490292" y="3980815"/>
            <a:ext cx="745071" cy="1013296"/>
            <a:chOff x="0" y="0"/>
            <a:chExt cx="1021882" cy="13897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CAF5F7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담보 설정</a:t>
              </a:r>
            </a:p>
          </p:txBody>
        </p:sp>
      </p:grpSp>
      <p:sp>
        <p:nvSpPr>
          <p:cNvPr name="AutoShape 101" id="101"/>
          <p:cNvSpPr/>
          <p:nvPr/>
        </p:nvSpPr>
        <p:spPr>
          <a:xfrm flipV="true">
            <a:off x="16314837" y="4492611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2" id="102"/>
          <p:cNvGrpSpPr/>
          <p:nvPr/>
        </p:nvGrpSpPr>
        <p:grpSpPr>
          <a:xfrm rot="0">
            <a:off x="16573128" y="3980815"/>
            <a:ext cx="745071" cy="1013296"/>
            <a:chOff x="0" y="0"/>
            <a:chExt cx="1021882" cy="138976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CAF5F7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실행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050897" y="5152473"/>
            <a:ext cx="3282580" cy="328258"/>
            <a:chOff x="0" y="0"/>
            <a:chExt cx="2997521" cy="299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997521" cy="299752"/>
            </a:xfrm>
            <a:custGeom>
              <a:avLst/>
              <a:gdLst/>
              <a:ahLst/>
              <a:cxnLst/>
              <a:rect r="r" b="b" t="t" l="l"/>
              <a:pathLst>
                <a:path h="299752" w="2997521">
                  <a:moveTo>
                    <a:pt x="2840508" y="0"/>
                  </a:moveTo>
                  <a:cubicBezTo>
                    <a:pt x="2927224" y="0"/>
                    <a:pt x="2997521" y="67102"/>
                    <a:pt x="2997521" y="149876"/>
                  </a:cubicBezTo>
                  <a:cubicBezTo>
                    <a:pt x="2997521" y="232650"/>
                    <a:pt x="2927224" y="299752"/>
                    <a:pt x="2840508" y="299752"/>
                  </a:cubicBezTo>
                  <a:lnTo>
                    <a:pt x="157013" y="299752"/>
                  </a:lnTo>
                  <a:cubicBezTo>
                    <a:pt x="70297" y="299752"/>
                    <a:pt x="0" y="232650"/>
                    <a:pt x="0" y="149876"/>
                  </a:cubicBezTo>
                  <a:cubicBezTo>
                    <a:pt x="0" y="67102"/>
                    <a:pt x="70297" y="0"/>
                    <a:pt x="157013" y="0"/>
                  </a:cubicBezTo>
                  <a:close/>
                </a:path>
              </a:pathLst>
            </a:custGeom>
            <a:solidFill>
              <a:srgbClr val="CAF5F7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2997521" cy="337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10175453" y="3047996"/>
            <a:ext cx="1808038" cy="429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49">
                <a:solidFill>
                  <a:srgbClr val="1A2E5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주택담보대출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2222906" y="5163426"/>
            <a:ext cx="2929620" cy="25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4"/>
              </a:lnSpc>
              <a:spcBef>
                <a:spcPct val="0"/>
              </a:spcBef>
            </a:pPr>
            <a:r>
              <a:rPr lang="en-US" sz="1438" strike="noStrike" u="none">
                <a:solidFill>
                  <a:srgbClr val="1A2E5A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핵심: 담보가치 + 상환능력</a:t>
            </a:r>
          </a:p>
        </p:txBody>
      </p:sp>
      <p:grpSp>
        <p:nvGrpSpPr>
          <p:cNvPr name="Group 110" id="110"/>
          <p:cNvGrpSpPr/>
          <p:nvPr/>
        </p:nvGrpSpPr>
        <p:grpSpPr>
          <a:xfrm rot="0">
            <a:off x="9877425" y="6453966"/>
            <a:ext cx="7629525" cy="3059757"/>
            <a:chOff x="0" y="0"/>
            <a:chExt cx="10464072" cy="419652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464072" cy="4196529"/>
            </a:xfrm>
            <a:custGeom>
              <a:avLst/>
              <a:gdLst/>
              <a:ahLst/>
              <a:cxnLst/>
              <a:rect r="r" b="b" t="t" l="l"/>
              <a:pathLst>
                <a:path h="4196529" w="10464072">
                  <a:moveTo>
                    <a:pt x="467146" y="0"/>
                  </a:moveTo>
                  <a:lnTo>
                    <a:pt x="9996926" y="0"/>
                  </a:lnTo>
                  <a:cubicBezTo>
                    <a:pt x="10254924" y="0"/>
                    <a:pt x="10464072" y="187885"/>
                    <a:pt x="10464072" y="419653"/>
                  </a:cubicBezTo>
                  <a:lnTo>
                    <a:pt x="10464072" y="3776876"/>
                  </a:lnTo>
                  <a:cubicBezTo>
                    <a:pt x="10464072" y="4008644"/>
                    <a:pt x="10254924" y="4196529"/>
                    <a:pt x="9996926" y="4196529"/>
                  </a:cubicBezTo>
                  <a:lnTo>
                    <a:pt x="467146" y="4196529"/>
                  </a:lnTo>
                  <a:cubicBezTo>
                    <a:pt x="209148" y="4196529"/>
                    <a:pt x="0" y="4008644"/>
                    <a:pt x="0" y="3776876"/>
                  </a:cubicBezTo>
                  <a:lnTo>
                    <a:pt x="0" y="419653"/>
                  </a:lnTo>
                  <a:cubicBezTo>
                    <a:pt x="0" y="187885"/>
                    <a:pt x="209148" y="0"/>
                    <a:pt x="46714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66FF"/>
              </a:solidFill>
              <a:prstDash val="solid"/>
              <a:miter/>
            </a:ln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0464072" cy="423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076111" y="7745422"/>
            <a:ext cx="745071" cy="1013296"/>
            <a:chOff x="0" y="0"/>
            <a:chExt cx="1021882" cy="13897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21882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882">
                  <a:moveTo>
                    <a:pt x="45417" y="0"/>
                  </a:moveTo>
                  <a:lnTo>
                    <a:pt x="976465" y="0"/>
                  </a:lnTo>
                  <a:cubicBezTo>
                    <a:pt x="1001548" y="0"/>
                    <a:pt x="1021882" y="62222"/>
                    <a:pt x="1021882" y="138976"/>
                  </a:cubicBezTo>
                  <a:lnTo>
                    <a:pt x="1021882" y="1250784"/>
                  </a:lnTo>
                  <a:cubicBezTo>
                    <a:pt x="1021882" y="1327538"/>
                    <a:pt x="1001548" y="1389760"/>
                    <a:pt x="976465" y="1389760"/>
                  </a:cubicBezTo>
                  <a:lnTo>
                    <a:pt x="45417" y="1389760"/>
                  </a:lnTo>
                  <a:cubicBezTo>
                    <a:pt x="2033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4" y="0"/>
                    <a:pt x="45417" y="0"/>
                  </a:cubicBezTo>
                  <a:close/>
                </a:path>
              </a:pathLst>
            </a:custGeom>
            <a:solidFill>
              <a:srgbClr val="D9F4CD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1021882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신청</a:t>
              </a:r>
            </a:p>
          </p:txBody>
        </p:sp>
      </p:grpSp>
      <p:sp>
        <p:nvSpPr>
          <p:cNvPr name="AutoShape 116" id="116"/>
          <p:cNvSpPr/>
          <p:nvPr/>
        </p:nvSpPr>
        <p:spPr>
          <a:xfrm>
            <a:off x="11004029" y="8257219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7" id="117"/>
          <p:cNvGrpSpPr/>
          <p:nvPr/>
        </p:nvGrpSpPr>
        <p:grpSpPr>
          <a:xfrm rot="0">
            <a:off x="11365695" y="7745422"/>
            <a:ext cx="1242050" cy="1013296"/>
            <a:chOff x="0" y="0"/>
            <a:chExt cx="1703500" cy="138976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703500" cy="1389760"/>
            </a:xfrm>
            <a:custGeom>
              <a:avLst/>
              <a:gdLst/>
              <a:ahLst/>
              <a:cxnLst/>
              <a:rect r="r" b="b" t="t" l="l"/>
              <a:pathLst>
                <a:path h="1389760" w="1703500">
                  <a:moveTo>
                    <a:pt x="75711" y="0"/>
                  </a:moveTo>
                  <a:lnTo>
                    <a:pt x="1627789" y="0"/>
                  </a:lnTo>
                  <a:cubicBezTo>
                    <a:pt x="1669603" y="0"/>
                    <a:pt x="1703500" y="62222"/>
                    <a:pt x="1703500" y="138976"/>
                  </a:cubicBezTo>
                  <a:lnTo>
                    <a:pt x="1703500" y="1250784"/>
                  </a:lnTo>
                  <a:cubicBezTo>
                    <a:pt x="1703500" y="1327538"/>
                    <a:pt x="1669603" y="1389760"/>
                    <a:pt x="1627789" y="1389760"/>
                  </a:cubicBezTo>
                  <a:lnTo>
                    <a:pt x="75711" y="1389760"/>
                  </a:lnTo>
                  <a:cubicBezTo>
                    <a:pt x="33897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33897" y="0"/>
                    <a:pt x="75711" y="0"/>
                  </a:cubicBezTo>
                  <a:close/>
                </a:path>
              </a:pathLst>
            </a:custGeom>
            <a:solidFill>
              <a:srgbClr val="D9F4CD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1703500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신용/소득 심사</a:t>
              </a:r>
            </a:p>
          </p:txBody>
        </p:sp>
      </p:grpSp>
      <p:sp>
        <p:nvSpPr>
          <p:cNvPr name="AutoShape 120" id="120"/>
          <p:cNvSpPr/>
          <p:nvPr/>
        </p:nvSpPr>
        <p:spPr>
          <a:xfrm>
            <a:off x="12790593" y="8257219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1" id="121"/>
          <p:cNvGrpSpPr/>
          <p:nvPr/>
        </p:nvGrpSpPr>
        <p:grpSpPr>
          <a:xfrm rot="0">
            <a:off x="13152258" y="7745422"/>
            <a:ext cx="1185132" cy="1013296"/>
            <a:chOff x="0" y="0"/>
            <a:chExt cx="1625437" cy="138976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625437" cy="1389760"/>
            </a:xfrm>
            <a:custGeom>
              <a:avLst/>
              <a:gdLst/>
              <a:ahLst/>
              <a:cxnLst/>
              <a:rect r="r" b="b" t="t" l="l"/>
              <a:pathLst>
                <a:path h="1389760" w="1625437">
                  <a:moveTo>
                    <a:pt x="72242" y="0"/>
                  </a:moveTo>
                  <a:lnTo>
                    <a:pt x="1553195" y="0"/>
                  </a:lnTo>
                  <a:cubicBezTo>
                    <a:pt x="1593093" y="0"/>
                    <a:pt x="1625437" y="62222"/>
                    <a:pt x="1625437" y="138976"/>
                  </a:cubicBezTo>
                  <a:lnTo>
                    <a:pt x="1625437" y="1250784"/>
                  </a:lnTo>
                  <a:cubicBezTo>
                    <a:pt x="1625437" y="1327538"/>
                    <a:pt x="1593093" y="1389760"/>
                    <a:pt x="1553195" y="1389760"/>
                  </a:cubicBezTo>
                  <a:lnTo>
                    <a:pt x="72242" y="1389760"/>
                  </a:lnTo>
                  <a:cubicBezTo>
                    <a:pt x="32344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32344" y="0"/>
                    <a:pt x="72242" y="0"/>
                  </a:cubicBezTo>
                  <a:close/>
                </a:path>
              </a:pathLst>
            </a:custGeom>
            <a:solidFill>
              <a:srgbClr val="D9F4CD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1625437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약정한도 산정</a:t>
              </a:r>
            </a:p>
          </p:txBody>
        </p:sp>
      </p:grpSp>
      <p:sp>
        <p:nvSpPr>
          <p:cNvPr name="AutoShape 124" id="124"/>
          <p:cNvSpPr/>
          <p:nvPr/>
        </p:nvSpPr>
        <p:spPr>
          <a:xfrm>
            <a:off x="14520238" y="8257219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5" id="125"/>
          <p:cNvGrpSpPr/>
          <p:nvPr/>
        </p:nvGrpSpPr>
        <p:grpSpPr>
          <a:xfrm rot="0">
            <a:off x="14881903" y="7745422"/>
            <a:ext cx="744992" cy="1013296"/>
            <a:chOff x="0" y="0"/>
            <a:chExt cx="1021774" cy="138976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21774" cy="1389760"/>
            </a:xfrm>
            <a:custGeom>
              <a:avLst/>
              <a:gdLst/>
              <a:ahLst/>
              <a:cxnLst/>
              <a:rect r="r" b="b" t="t" l="l"/>
              <a:pathLst>
                <a:path h="1389760" w="1021774">
                  <a:moveTo>
                    <a:pt x="45412" y="0"/>
                  </a:moveTo>
                  <a:lnTo>
                    <a:pt x="976361" y="0"/>
                  </a:lnTo>
                  <a:cubicBezTo>
                    <a:pt x="1001442" y="0"/>
                    <a:pt x="1021774" y="62222"/>
                    <a:pt x="1021774" y="138976"/>
                  </a:cubicBezTo>
                  <a:lnTo>
                    <a:pt x="1021774" y="1250784"/>
                  </a:lnTo>
                  <a:cubicBezTo>
                    <a:pt x="1021774" y="1327538"/>
                    <a:pt x="1001442" y="1389760"/>
                    <a:pt x="976361" y="1389760"/>
                  </a:cubicBezTo>
                  <a:lnTo>
                    <a:pt x="45412" y="1389760"/>
                  </a:lnTo>
                  <a:cubicBezTo>
                    <a:pt x="20332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0332" y="0"/>
                    <a:pt x="45412" y="0"/>
                  </a:cubicBezTo>
                  <a:close/>
                </a:path>
              </a:pathLst>
            </a:custGeom>
            <a:solidFill>
              <a:srgbClr val="D9F4CD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021774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한도계좌 개설</a:t>
              </a:r>
            </a:p>
          </p:txBody>
        </p:sp>
      </p:grpSp>
      <p:sp>
        <p:nvSpPr>
          <p:cNvPr name="AutoShape 128" id="128"/>
          <p:cNvSpPr/>
          <p:nvPr/>
        </p:nvSpPr>
        <p:spPr>
          <a:xfrm>
            <a:off x="15809743" y="8257219"/>
            <a:ext cx="178817" cy="0"/>
          </a:xfrm>
          <a:prstGeom prst="line">
            <a:avLst/>
          </a:prstGeom>
          <a:ln cap="flat" w="28575">
            <a:solidFill>
              <a:srgbClr val="0066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9" id="129"/>
          <p:cNvGrpSpPr/>
          <p:nvPr/>
        </p:nvGrpSpPr>
        <p:grpSpPr>
          <a:xfrm rot="0">
            <a:off x="16171408" y="7745422"/>
            <a:ext cx="1087892" cy="1013296"/>
            <a:chOff x="0" y="0"/>
            <a:chExt cx="1492069" cy="138976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492069" cy="1389760"/>
            </a:xfrm>
            <a:custGeom>
              <a:avLst/>
              <a:gdLst/>
              <a:ahLst/>
              <a:cxnLst/>
              <a:rect r="r" b="b" t="t" l="l"/>
              <a:pathLst>
                <a:path h="1389760" w="1492069">
                  <a:moveTo>
                    <a:pt x="66314" y="0"/>
                  </a:moveTo>
                  <a:lnTo>
                    <a:pt x="1425755" y="0"/>
                  </a:lnTo>
                  <a:cubicBezTo>
                    <a:pt x="1462379" y="0"/>
                    <a:pt x="1492069" y="62222"/>
                    <a:pt x="1492069" y="138976"/>
                  </a:cubicBezTo>
                  <a:lnTo>
                    <a:pt x="1492069" y="1250784"/>
                  </a:lnTo>
                  <a:cubicBezTo>
                    <a:pt x="1492069" y="1327538"/>
                    <a:pt x="1462379" y="1389760"/>
                    <a:pt x="1425755" y="1389760"/>
                  </a:cubicBezTo>
                  <a:lnTo>
                    <a:pt x="66314" y="1389760"/>
                  </a:lnTo>
                  <a:cubicBezTo>
                    <a:pt x="29690" y="1389760"/>
                    <a:pt x="0" y="1327538"/>
                    <a:pt x="0" y="1250784"/>
                  </a:cubicBezTo>
                  <a:lnTo>
                    <a:pt x="0" y="138976"/>
                  </a:lnTo>
                  <a:cubicBezTo>
                    <a:pt x="0" y="62222"/>
                    <a:pt x="29690" y="0"/>
                    <a:pt x="66314" y="0"/>
                  </a:cubicBezTo>
                  <a:close/>
                </a:path>
              </a:pathLst>
            </a:custGeom>
            <a:solidFill>
              <a:srgbClr val="D9F4CD"/>
            </a:solidFill>
            <a:ln w="9525" cap="sq">
              <a:solidFill>
                <a:srgbClr val="B8D4F0"/>
              </a:solidFill>
              <a:prstDash val="solid"/>
              <a:miter/>
            </a:ln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1492069" cy="1427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1A2E5A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사용금액 기준 이자 발생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2050897" y="8917081"/>
            <a:ext cx="3282580" cy="328258"/>
            <a:chOff x="0" y="0"/>
            <a:chExt cx="2997521" cy="29975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997521" cy="299752"/>
            </a:xfrm>
            <a:custGeom>
              <a:avLst/>
              <a:gdLst/>
              <a:ahLst/>
              <a:cxnLst/>
              <a:rect r="r" b="b" t="t" l="l"/>
              <a:pathLst>
                <a:path h="299752" w="2997521">
                  <a:moveTo>
                    <a:pt x="2840508" y="0"/>
                  </a:moveTo>
                  <a:cubicBezTo>
                    <a:pt x="2927224" y="0"/>
                    <a:pt x="2997521" y="67102"/>
                    <a:pt x="2997521" y="149876"/>
                  </a:cubicBezTo>
                  <a:cubicBezTo>
                    <a:pt x="2997521" y="232650"/>
                    <a:pt x="2927224" y="299752"/>
                    <a:pt x="2840508" y="299752"/>
                  </a:cubicBezTo>
                  <a:lnTo>
                    <a:pt x="157013" y="299752"/>
                  </a:lnTo>
                  <a:cubicBezTo>
                    <a:pt x="70297" y="299752"/>
                    <a:pt x="0" y="232650"/>
                    <a:pt x="0" y="149876"/>
                  </a:cubicBezTo>
                  <a:cubicBezTo>
                    <a:pt x="0" y="67102"/>
                    <a:pt x="70297" y="0"/>
                    <a:pt x="157013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2997521" cy="337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135" id="135"/>
          <p:cNvSpPr txBox="true"/>
          <p:nvPr/>
        </p:nvSpPr>
        <p:spPr>
          <a:xfrm rot="0">
            <a:off x="10175453" y="6812342"/>
            <a:ext cx="1808038" cy="43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  <a:spcBef>
                <a:spcPct val="0"/>
              </a:spcBef>
            </a:pPr>
            <a:r>
              <a:rPr lang="en-US" b="true" sz="2553">
                <a:solidFill>
                  <a:srgbClr val="1A2E5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마이너스통장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2222906" y="8928033"/>
            <a:ext cx="2929620" cy="25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4"/>
              </a:lnSpc>
              <a:spcBef>
                <a:spcPct val="0"/>
              </a:spcBef>
            </a:pPr>
            <a:r>
              <a:rPr lang="en-US" sz="1438" strike="noStrike" u="none">
                <a:solidFill>
                  <a:srgbClr val="1A2E5A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핵심: 한도 사용액 관리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5390" y="0"/>
            <a:ext cx="0" cy="7329735"/>
          </a:xfrm>
          <a:prstGeom prst="line">
            <a:avLst/>
          </a:prstGeom>
          <a:ln cap="flat" w="76200">
            <a:solidFill>
              <a:srgbClr val="006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745390" y="7932726"/>
            <a:ext cx="0" cy="2354274"/>
          </a:xfrm>
          <a:prstGeom prst="line">
            <a:avLst/>
          </a:prstGeom>
          <a:ln cap="flat" w="2857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14475" y="2309886"/>
            <a:ext cx="15744825" cy="5402104"/>
          </a:xfrm>
          <a:custGeom>
            <a:avLst/>
            <a:gdLst/>
            <a:ahLst/>
            <a:cxnLst/>
            <a:rect r="r" b="b" t="t" l="l"/>
            <a:pathLst>
              <a:path h="5402104" w="15744825">
                <a:moveTo>
                  <a:pt x="0" y="0"/>
                </a:moveTo>
                <a:lnTo>
                  <a:pt x="15744825" y="0"/>
                </a:lnTo>
                <a:lnTo>
                  <a:pt x="15744825" y="5402104"/>
                </a:lnTo>
                <a:lnTo>
                  <a:pt x="0" y="54021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14600" y="1085850"/>
            <a:ext cx="13335000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sz="6999" spc="-34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IT 구현 관점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14475" y="7932726"/>
            <a:ext cx="15744825" cy="1047750"/>
            <a:chOff x="0" y="0"/>
            <a:chExt cx="4020879" cy="2675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0879" cy="267572"/>
            </a:xfrm>
            <a:custGeom>
              <a:avLst/>
              <a:gdLst/>
              <a:ahLst/>
              <a:cxnLst/>
              <a:rect r="r" b="b" t="t" l="l"/>
              <a:pathLst>
                <a:path h="267572" w="4020879">
                  <a:moveTo>
                    <a:pt x="7376" y="0"/>
                  </a:moveTo>
                  <a:lnTo>
                    <a:pt x="4013503" y="0"/>
                  </a:lnTo>
                  <a:cubicBezTo>
                    <a:pt x="4015460" y="0"/>
                    <a:pt x="4017335" y="777"/>
                    <a:pt x="4018719" y="2160"/>
                  </a:cubicBezTo>
                  <a:cubicBezTo>
                    <a:pt x="4020102" y="3543"/>
                    <a:pt x="4020879" y="5420"/>
                    <a:pt x="4020879" y="7376"/>
                  </a:cubicBezTo>
                  <a:lnTo>
                    <a:pt x="4020879" y="260196"/>
                  </a:lnTo>
                  <a:cubicBezTo>
                    <a:pt x="4020879" y="262153"/>
                    <a:pt x="4020102" y="264029"/>
                    <a:pt x="4018719" y="265412"/>
                  </a:cubicBezTo>
                  <a:cubicBezTo>
                    <a:pt x="4017335" y="266795"/>
                    <a:pt x="4015460" y="267572"/>
                    <a:pt x="4013503" y="267572"/>
                  </a:cubicBezTo>
                  <a:lnTo>
                    <a:pt x="7376" y="267572"/>
                  </a:lnTo>
                  <a:cubicBezTo>
                    <a:pt x="3302" y="267572"/>
                    <a:pt x="0" y="264270"/>
                    <a:pt x="0" y="260196"/>
                  </a:cubicBezTo>
                  <a:lnTo>
                    <a:pt x="0" y="7376"/>
                  </a:lnTo>
                  <a:cubicBezTo>
                    <a:pt x="0" y="5420"/>
                    <a:pt x="777" y="3543"/>
                    <a:pt x="2160" y="2160"/>
                  </a:cubicBezTo>
                  <a:cubicBezTo>
                    <a:pt x="3543" y="777"/>
                    <a:pt x="5420" y="0"/>
                    <a:pt x="7376" y="0"/>
                  </a:cubicBezTo>
                  <a:close/>
                </a:path>
              </a:pathLst>
            </a:custGeom>
            <a:solidFill>
              <a:srgbClr val="FFF3C2"/>
            </a:solidFill>
            <a:ln w="38100" cap="sq">
              <a:solidFill>
                <a:srgbClr val="FFBD5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4020879" cy="353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4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120989" y="7935098"/>
            <a:ext cx="9944616" cy="95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3"/>
              </a:lnSpc>
            </a:pPr>
            <a:r>
              <a:rPr lang="en-US" sz="2488" spc="-74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실시간 API는 고객 요청을 처리하고, DB는 상태와 결과를 기록하며,</a:t>
            </a:r>
          </a:p>
          <a:p>
            <a:pPr algn="l" marL="0" indent="0" lvl="0">
              <a:lnSpc>
                <a:spcPts val="3883"/>
              </a:lnSpc>
              <a:spcBef>
                <a:spcPct val="0"/>
              </a:spcBef>
            </a:pPr>
            <a:r>
              <a:rPr lang="en-US" sz="2588" spc="-77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Spring Batch는 주기적・대량・반복 업무를 안정적으로 처리한다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24000" y="9351951"/>
            <a:ext cx="15735300" cy="700587"/>
            <a:chOff x="0" y="0"/>
            <a:chExt cx="4018446" cy="1789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18446" cy="178914"/>
            </a:xfrm>
            <a:custGeom>
              <a:avLst/>
              <a:gdLst/>
              <a:ahLst/>
              <a:cxnLst/>
              <a:rect r="r" b="b" t="t" l="l"/>
              <a:pathLst>
                <a:path h="178914" w="4018446">
                  <a:moveTo>
                    <a:pt x="7380" y="0"/>
                  </a:moveTo>
                  <a:lnTo>
                    <a:pt x="4011066" y="0"/>
                  </a:lnTo>
                  <a:cubicBezTo>
                    <a:pt x="4013023" y="0"/>
                    <a:pt x="4014901" y="778"/>
                    <a:pt x="4016285" y="2162"/>
                  </a:cubicBezTo>
                  <a:cubicBezTo>
                    <a:pt x="4017669" y="3546"/>
                    <a:pt x="4018446" y="5423"/>
                    <a:pt x="4018446" y="7380"/>
                  </a:cubicBezTo>
                  <a:lnTo>
                    <a:pt x="4018446" y="171534"/>
                  </a:lnTo>
                  <a:cubicBezTo>
                    <a:pt x="4018446" y="173492"/>
                    <a:pt x="4017669" y="175369"/>
                    <a:pt x="4016285" y="176753"/>
                  </a:cubicBezTo>
                  <a:cubicBezTo>
                    <a:pt x="4014901" y="178137"/>
                    <a:pt x="4013023" y="178914"/>
                    <a:pt x="4011066" y="178914"/>
                  </a:cubicBezTo>
                  <a:lnTo>
                    <a:pt x="7380" y="178914"/>
                  </a:lnTo>
                  <a:cubicBezTo>
                    <a:pt x="5423" y="178914"/>
                    <a:pt x="3546" y="178137"/>
                    <a:pt x="2162" y="176753"/>
                  </a:cubicBezTo>
                  <a:cubicBezTo>
                    <a:pt x="778" y="175369"/>
                    <a:pt x="0" y="173492"/>
                    <a:pt x="0" y="171534"/>
                  </a:cubicBezTo>
                  <a:lnTo>
                    <a:pt x="0" y="7380"/>
                  </a:lnTo>
                  <a:cubicBezTo>
                    <a:pt x="0" y="5423"/>
                    <a:pt x="778" y="3546"/>
                    <a:pt x="2162" y="2162"/>
                  </a:cubicBezTo>
                  <a:cubicBezTo>
                    <a:pt x="3546" y="778"/>
                    <a:pt x="5423" y="0"/>
                    <a:pt x="7380" y="0"/>
                  </a:cubicBezTo>
                  <a:close/>
                </a:path>
              </a:pathLst>
            </a:custGeom>
            <a:solidFill>
              <a:srgbClr val="F0F8FE"/>
            </a:solidFill>
            <a:ln w="38100" cap="sq">
              <a:solidFill>
                <a:srgbClr val="0066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4018446" cy="264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4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414742" y="9421042"/>
            <a:ext cx="7944291" cy="46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3"/>
              </a:lnSpc>
              <a:spcBef>
                <a:spcPct val="0"/>
              </a:spcBef>
            </a:pPr>
            <a:r>
              <a:rPr lang="en-US" sz="2488" spc="-74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대출이 실행되면 이후에는 상환 방식과 상환 흐름으로 이어진다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5390" y="0"/>
            <a:ext cx="0" cy="7329735"/>
          </a:xfrm>
          <a:prstGeom prst="line">
            <a:avLst/>
          </a:prstGeom>
          <a:ln cap="flat" w="76200">
            <a:solidFill>
              <a:srgbClr val="006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745390" y="7932726"/>
            <a:ext cx="0" cy="2354274"/>
          </a:xfrm>
          <a:prstGeom prst="line">
            <a:avLst/>
          </a:prstGeom>
          <a:ln cap="flat" w="2857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514600" y="1085850"/>
            <a:ext cx="13819856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34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대출 상품 상환 방식 흐름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622368" y="3188858"/>
            <a:ext cx="2636932" cy="263693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F3F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1924" lIns="51924" bIns="51924" rIns="51924"/>
            <a:lstStyle/>
            <a:p>
              <a:pPr algn="ctr" marL="0" indent="0" lvl="0">
                <a:lnSpc>
                  <a:spcPts val="375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22368" y="3188858"/>
            <a:ext cx="686027" cy="68602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6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13509" lIns="13509" bIns="13509" rIns="13509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814947" y="3387728"/>
            <a:ext cx="300869" cy="288287"/>
          </a:xfrm>
          <a:custGeom>
            <a:avLst/>
            <a:gdLst/>
            <a:ahLst/>
            <a:cxnLst/>
            <a:rect r="r" b="b" t="t" l="l"/>
            <a:pathLst>
              <a:path h="288287" w="300869">
                <a:moveTo>
                  <a:pt x="0" y="0"/>
                </a:moveTo>
                <a:lnTo>
                  <a:pt x="300869" y="0"/>
                </a:lnTo>
                <a:lnTo>
                  <a:pt x="300869" y="288287"/>
                </a:lnTo>
                <a:lnTo>
                  <a:pt x="0" y="28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949610" y="3802474"/>
            <a:ext cx="1982447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150">
                <a:solidFill>
                  <a:srgbClr val="0066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청구/자동 이체/ 연체 관리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18481" y="3188858"/>
            <a:ext cx="2636932" cy="263693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F3F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1924" lIns="51924" bIns="51924" rIns="51924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18481" y="3188858"/>
            <a:ext cx="686027" cy="68602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6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1924" lIns="51924" bIns="51924" rIns="51924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717351" y="3387728"/>
            <a:ext cx="288287" cy="288287"/>
          </a:xfrm>
          <a:custGeom>
            <a:avLst/>
            <a:gdLst/>
            <a:ahLst/>
            <a:cxnLst/>
            <a:rect r="r" b="b" t="t" l="l"/>
            <a:pathLst>
              <a:path h="288287" w="288287">
                <a:moveTo>
                  <a:pt x="0" y="0"/>
                </a:moveTo>
                <a:lnTo>
                  <a:pt x="288287" y="0"/>
                </a:lnTo>
                <a:lnTo>
                  <a:pt x="288287" y="288287"/>
                </a:lnTo>
                <a:lnTo>
                  <a:pt x="0" y="288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17351" y="4259674"/>
            <a:ext cx="216767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150">
                <a:solidFill>
                  <a:srgbClr val="0066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대출 상품 선택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794453" y="3188858"/>
            <a:ext cx="2636932" cy="263693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F3F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1924" lIns="51924" bIns="51924" rIns="51924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12146" y="3188858"/>
            <a:ext cx="686027" cy="68602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6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13509" lIns="13509" bIns="13509" rIns="13509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5011016" y="3387728"/>
            <a:ext cx="288287" cy="288287"/>
          </a:xfrm>
          <a:custGeom>
            <a:avLst/>
            <a:gdLst/>
            <a:ahLst/>
            <a:cxnLst/>
            <a:rect r="r" b="b" t="t" l="l"/>
            <a:pathLst>
              <a:path h="288287" w="288287">
                <a:moveTo>
                  <a:pt x="0" y="0"/>
                </a:moveTo>
                <a:lnTo>
                  <a:pt x="288287" y="0"/>
                </a:lnTo>
                <a:lnTo>
                  <a:pt x="288287" y="288287"/>
                </a:lnTo>
                <a:lnTo>
                  <a:pt x="0" y="288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1346396" y="3188858"/>
            <a:ext cx="2636932" cy="263693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F3F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1924" lIns="51924" bIns="51924" rIns="51924"/>
            <a:lstStyle/>
            <a:p>
              <a:pPr algn="ctr" marL="0" indent="0" lvl="0">
                <a:lnSpc>
                  <a:spcPts val="375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367135" y="3188858"/>
            <a:ext cx="686027" cy="686027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6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13509" lIns="13509" bIns="13509" rIns="13509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1566005" y="3387728"/>
            <a:ext cx="288287" cy="288287"/>
          </a:xfrm>
          <a:custGeom>
            <a:avLst/>
            <a:gdLst/>
            <a:ahLst/>
            <a:cxnLst/>
            <a:rect r="r" b="b" t="t" l="l"/>
            <a:pathLst>
              <a:path h="288287" w="288287">
                <a:moveTo>
                  <a:pt x="0" y="0"/>
                </a:moveTo>
                <a:lnTo>
                  <a:pt x="288287" y="0"/>
                </a:lnTo>
                <a:lnTo>
                  <a:pt x="288287" y="288287"/>
                </a:lnTo>
                <a:lnTo>
                  <a:pt x="0" y="2882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1673639" y="4031074"/>
            <a:ext cx="198244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150">
                <a:solidFill>
                  <a:srgbClr val="0066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상환 스케줄 생성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070424" y="3188858"/>
            <a:ext cx="2636932" cy="2636932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F3F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1924" lIns="51924" bIns="51924" rIns="51924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091163" y="3188858"/>
            <a:ext cx="686027" cy="686027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6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13509" lIns="13509" bIns="13509" rIns="13509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8290033" y="3387728"/>
            <a:ext cx="288287" cy="288287"/>
          </a:xfrm>
          <a:custGeom>
            <a:avLst/>
            <a:gdLst/>
            <a:ahLst/>
            <a:cxnLst/>
            <a:rect r="r" b="b" t="t" l="l"/>
            <a:pathLst>
              <a:path h="288287" w="288287">
                <a:moveTo>
                  <a:pt x="0" y="0"/>
                </a:moveTo>
                <a:lnTo>
                  <a:pt x="288287" y="0"/>
                </a:lnTo>
                <a:lnTo>
                  <a:pt x="288287" y="288287"/>
                </a:lnTo>
                <a:lnTo>
                  <a:pt x="0" y="2882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518481" y="7537397"/>
            <a:ext cx="15740819" cy="1720903"/>
            <a:chOff x="0" y="0"/>
            <a:chExt cx="4022793" cy="43980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22793" cy="439802"/>
            </a:xfrm>
            <a:custGeom>
              <a:avLst/>
              <a:gdLst/>
              <a:ahLst/>
              <a:cxnLst/>
              <a:rect r="r" b="b" t="t" l="l"/>
              <a:pathLst>
                <a:path h="439802" w="4022793">
                  <a:moveTo>
                    <a:pt x="0" y="0"/>
                  </a:moveTo>
                  <a:lnTo>
                    <a:pt x="4022793" y="0"/>
                  </a:lnTo>
                  <a:lnTo>
                    <a:pt x="4022793" y="439802"/>
                  </a:lnTo>
                  <a:lnTo>
                    <a:pt x="0" y="439802"/>
                  </a:lnTo>
                  <a:close/>
                </a:path>
              </a:pathLst>
            </a:custGeom>
            <a:solidFill>
              <a:srgbClr val="EDF3FB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4022793" cy="506477"/>
            </a:xfrm>
            <a:prstGeom prst="rect">
              <a:avLst/>
            </a:prstGeom>
          </p:spPr>
          <p:txBody>
            <a:bodyPr anchor="ctr" rtlCol="false" tIns="52352" lIns="52352" bIns="52352" rIns="52352"/>
            <a:lstStyle/>
            <a:p>
              <a:pPr algn="ctr" marL="0" indent="0" lvl="0">
                <a:lnSpc>
                  <a:spcPts val="375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2724410" y="7881380"/>
            <a:ext cx="13405290" cy="90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0"/>
              </a:lnSpc>
            </a:pPr>
            <a:r>
              <a:rPr lang="en-US" sz="2061" spc="-61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대출상품마다</a:t>
            </a:r>
            <a:r>
              <a:rPr lang="en-US" sz="2061" spc="-61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자금 사용 목적, 대출 기간, 원금 회수 시점이 다르기 때문에 은행 시스템은 상품에 맞는 상환방식을 적용하고, 그에 따라 상환 스케줄을 다르게 생성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978820" y="4259674"/>
            <a:ext cx="231055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150">
                <a:solidFill>
                  <a:srgbClr val="0066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상품 특성 확인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90033" y="4259674"/>
            <a:ext cx="227404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150">
                <a:solidFill>
                  <a:srgbClr val="0066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상환 방식 결정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4209568" y="4304540"/>
            <a:ext cx="530730" cy="350282"/>
          </a:xfrm>
          <a:custGeom>
            <a:avLst/>
            <a:gdLst/>
            <a:ahLst/>
            <a:cxnLst/>
            <a:rect r="r" b="b" t="t" l="l"/>
            <a:pathLst>
              <a:path h="350282" w="530730">
                <a:moveTo>
                  <a:pt x="0" y="0"/>
                </a:moveTo>
                <a:lnTo>
                  <a:pt x="530730" y="0"/>
                </a:lnTo>
                <a:lnTo>
                  <a:pt x="530730" y="350281"/>
                </a:lnTo>
                <a:lnTo>
                  <a:pt x="0" y="3502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7488535" y="4304540"/>
            <a:ext cx="530730" cy="350282"/>
          </a:xfrm>
          <a:custGeom>
            <a:avLst/>
            <a:gdLst/>
            <a:ahLst/>
            <a:cxnLst/>
            <a:rect r="r" b="b" t="t" l="l"/>
            <a:pathLst>
              <a:path h="350282" w="530730">
                <a:moveTo>
                  <a:pt x="0" y="0"/>
                </a:moveTo>
                <a:lnTo>
                  <a:pt x="530730" y="0"/>
                </a:lnTo>
                <a:lnTo>
                  <a:pt x="530730" y="350281"/>
                </a:lnTo>
                <a:lnTo>
                  <a:pt x="0" y="3502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764506" y="4304540"/>
            <a:ext cx="530730" cy="350282"/>
          </a:xfrm>
          <a:custGeom>
            <a:avLst/>
            <a:gdLst/>
            <a:ahLst/>
            <a:cxnLst/>
            <a:rect r="r" b="b" t="t" l="l"/>
            <a:pathLst>
              <a:path h="350282" w="530730">
                <a:moveTo>
                  <a:pt x="0" y="0"/>
                </a:moveTo>
                <a:lnTo>
                  <a:pt x="530730" y="0"/>
                </a:lnTo>
                <a:lnTo>
                  <a:pt x="530730" y="350281"/>
                </a:lnTo>
                <a:lnTo>
                  <a:pt x="0" y="3502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4040478" y="4278724"/>
            <a:ext cx="530730" cy="350282"/>
          </a:xfrm>
          <a:custGeom>
            <a:avLst/>
            <a:gdLst/>
            <a:ahLst/>
            <a:cxnLst/>
            <a:rect r="r" b="b" t="t" l="l"/>
            <a:pathLst>
              <a:path h="350282" w="530730">
                <a:moveTo>
                  <a:pt x="0" y="0"/>
                </a:moveTo>
                <a:lnTo>
                  <a:pt x="530730" y="0"/>
                </a:lnTo>
                <a:lnTo>
                  <a:pt x="530730" y="350281"/>
                </a:lnTo>
                <a:lnTo>
                  <a:pt x="0" y="3502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253314" y="1700257"/>
          <a:ext cx="14101970" cy="5186569"/>
        </p:xfrm>
        <a:graphic>
          <a:graphicData uri="http://schemas.openxmlformats.org/drawingml/2006/table">
            <a:tbl>
              <a:tblPr/>
              <a:tblGrid>
                <a:gridCol w="3014423"/>
                <a:gridCol w="3876263"/>
                <a:gridCol w="7211284"/>
              </a:tblGrid>
              <a:tr h="7627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4"/>
                        </a:lnSpc>
                        <a:defRPr/>
                      </a:pPr>
                      <a:r>
                        <a:rPr lang="en-US" sz="1753">
                          <a:solidFill>
                            <a:srgbClr val="FFFFFF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상품 특성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526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0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54"/>
                        </a:lnSpc>
                        <a:defRPr/>
                      </a:pPr>
                      <a:r>
                        <a:rPr lang="en-US" sz="1753">
                          <a:solidFill>
                            <a:srgbClr val="FFFFFF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상품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526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0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5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53" strike="noStrike" u="none">
                          <a:solidFill>
                            <a:srgbClr val="FFFFFF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대표 상환방식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526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0E7"/>
                    </a:solidFill>
                  </a:tcPr>
                </a:tc>
              </a:tr>
              <a:tr h="10622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담</a:t>
                      </a: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보 없이 고객 소득과 신용을 기반으로 갚는 구조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신</a:t>
                      </a: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용대출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원</a:t>
                      </a: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리금균등 or  원금균등 or 만기일시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22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장기 고액 대출이 많아 매월 상환 계획과 잔여원금 관리가 중요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주</a:t>
                      </a: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택담보대출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원</a:t>
                      </a: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리금균등 or 원금균등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22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전세 계약 만기 때 보증금 반환으로 원금을 갚는 구조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전</a:t>
                      </a: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세자금대출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만</a:t>
                      </a: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기 일시 상환 중심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70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한도 내에서 사용한 금액에 대해 이자를 내고 만기 때 연장 또는 상환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마</a:t>
                      </a: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이너스통장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만</a:t>
                      </a:r>
                      <a:r>
                        <a:rPr lang="en-US" sz="1856">
                          <a:solidFill>
                            <a:srgbClr val="434343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기 일시 상환  성격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647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2253314" y="7614008"/>
            <a:ext cx="14733795" cy="1991056"/>
            <a:chOff x="0" y="0"/>
            <a:chExt cx="19645060" cy="26547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66394" cy="2654742"/>
            </a:xfrm>
            <a:custGeom>
              <a:avLst/>
              <a:gdLst/>
              <a:ahLst/>
              <a:cxnLst/>
              <a:rect r="r" b="b" t="t" l="l"/>
              <a:pathLst>
                <a:path h="2654742" w="5566394">
                  <a:moveTo>
                    <a:pt x="0" y="0"/>
                  </a:moveTo>
                  <a:lnTo>
                    <a:pt x="5566394" y="0"/>
                  </a:lnTo>
                  <a:lnTo>
                    <a:pt x="5566394" y="2654742"/>
                  </a:lnTo>
                  <a:lnTo>
                    <a:pt x="0" y="2654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09091" y="0"/>
              <a:ext cx="6208670" cy="2654742"/>
            </a:xfrm>
            <a:custGeom>
              <a:avLst/>
              <a:gdLst/>
              <a:ahLst/>
              <a:cxnLst/>
              <a:rect r="r" b="b" t="t" l="l"/>
              <a:pathLst>
                <a:path h="2654742" w="6208670">
                  <a:moveTo>
                    <a:pt x="0" y="0"/>
                  </a:moveTo>
                  <a:lnTo>
                    <a:pt x="6208670" y="0"/>
                  </a:lnTo>
                  <a:lnTo>
                    <a:pt x="6208670" y="2654742"/>
                  </a:lnTo>
                  <a:lnTo>
                    <a:pt x="0" y="2654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3263158" y="59317"/>
              <a:ext cx="6381901" cy="2595425"/>
            </a:xfrm>
            <a:custGeom>
              <a:avLst/>
              <a:gdLst/>
              <a:ahLst/>
              <a:cxnLst/>
              <a:rect r="r" b="b" t="t" l="l"/>
              <a:pathLst>
                <a:path h="2595425" w="6381901">
                  <a:moveTo>
                    <a:pt x="0" y="0"/>
                  </a:moveTo>
                  <a:lnTo>
                    <a:pt x="6381902" y="0"/>
                  </a:lnTo>
                  <a:lnTo>
                    <a:pt x="6381902" y="2595425"/>
                  </a:lnTo>
                  <a:lnTo>
                    <a:pt x="0" y="259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514600" y="571183"/>
            <a:ext cx="13819856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34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대출 상품별 대표 상환 방식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745390" y="7932726"/>
            <a:ext cx="0" cy="2354274"/>
          </a:xfrm>
          <a:prstGeom prst="line">
            <a:avLst/>
          </a:prstGeom>
          <a:ln cap="flat" w="2857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45390" y="0"/>
            <a:ext cx="0" cy="7329735"/>
          </a:xfrm>
          <a:prstGeom prst="line">
            <a:avLst/>
          </a:prstGeom>
          <a:ln cap="flat" w="76200">
            <a:solidFill>
              <a:srgbClr val="0066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5390" y="0"/>
            <a:ext cx="0" cy="7329735"/>
          </a:xfrm>
          <a:prstGeom prst="line">
            <a:avLst/>
          </a:prstGeom>
          <a:ln cap="flat" w="76200">
            <a:solidFill>
              <a:srgbClr val="006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731103" y="7932726"/>
            <a:ext cx="0" cy="2354274"/>
          </a:xfrm>
          <a:prstGeom prst="line">
            <a:avLst/>
          </a:prstGeom>
          <a:ln cap="flat" w="2857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518481" y="7932726"/>
            <a:ext cx="15814203" cy="1532507"/>
            <a:chOff x="0" y="0"/>
            <a:chExt cx="4041548" cy="3916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41547" cy="391654"/>
            </a:xfrm>
            <a:custGeom>
              <a:avLst/>
              <a:gdLst/>
              <a:ahLst/>
              <a:cxnLst/>
              <a:rect r="r" b="b" t="t" l="l"/>
              <a:pathLst>
                <a:path h="391654" w="4041547">
                  <a:moveTo>
                    <a:pt x="0" y="0"/>
                  </a:moveTo>
                  <a:lnTo>
                    <a:pt x="4041547" y="0"/>
                  </a:lnTo>
                  <a:lnTo>
                    <a:pt x="4041547" y="391654"/>
                  </a:lnTo>
                  <a:lnTo>
                    <a:pt x="0" y="391654"/>
                  </a:lnTo>
                  <a:close/>
                </a:path>
              </a:pathLst>
            </a:custGeom>
            <a:solidFill>
              <a:srgbClr val="EDF3F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4041548" cy="458329"/>
            </a:xfrm>
            <a:prstGeom prst="rect">
              <a:avLst/>
            </a:prstGeom>
          </p:spPr>
          <p:txBody>
            <a:bodyPr anchor="ctr" rtlCol="false" tIns="52352" lIns="52352" bIns="52352" rIns="52352"/>
            <a:lstStyle/>
            <a:p>
              <a:pPr algn="ctr" marL="0" indent="0" lvl="0">
                <a:lnSpc>
                  <a:spcPts val="375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50533" y="2222246"/>
            <a:ext cx="15682150" cy="5107489"/>
          </a:xfrm>
          <a:custGeom>
            <a:avLst/>
            <a:gdLst/>
            <a:ahLst/>
            <a:cxnLst/>
            <a:rect r="r" b="b" t="t" l="l"/>
            <a:pathLst>
              <a:path h="5107489" w="15682150">
                <a:moveTo>
                  <a:pt x="0" y="0"/>
                </a:moveTo>
                <a:lnTo>
                  <a:pt x="15682151" y="0"/>
                </a:lnTo>
                <a:lnTo>
                  <a:pt x="15682151" y="5107489"/>
                </a:lnTo>
                <a:lnTo>
                  <a:pt x="0" y="51074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24" r="0" b="-42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14600" y="1085850"/>
            <a:ext cx="13819856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34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전세자금대출 예시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8481" y="7992253"/>
            <a:ext cx="15814203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 spc="-89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전</a:t>
            </a:r>
            <a:r>
              <a:rPr lang="en-US" sz="3000" spc="-89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세자금대출은 고객이 전세보증금을 마련하기 위해 받는 대출</a:t>
            </a:r>
          </a:p>
          <a:p>
            <a:pPr algn="l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 spc="-89">
                <a:solidFill>
                  <a:srgbClr val="43434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대출 기간 중에는 매월 이자를 납입하고, 계약이 끝나는 시점에 보증금을 돌려받아 원금을 한번에 상환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5390" y="0"/>
            <a:ext cx="0" cy="7329735"/>
          </a:xfrm>
          <a:prstGeom prst="line">
            <a:avLst/>
          </a:prstGeom>
          <a:ln cap="flat" w="76200">
            <a:solidFill>
              <a:srgbClr val="006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745390" y="7932726"/>
            <a:ext cx="0" cy="2354274"/>
          </a:xfrm>
          <a:prstGeom prst="line">
            <a:avLst/>
          </a:prstGeom>
          <a:ln cap="flat" w="2857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18481" y="2351282"/>
            <a:ext cx="15860556" cy="5584436"/>
          </a:xfrm>
          <a:custGeom>
            <a:avLst/>
            <a:gdLst/>
            <a:ahLst/>
            <a:cxnLst/>
            <a:rect r="r" b="b" t="t" l="l"/>
            <a:pathLst>
              <a:path h="5584436" w="15860556">
                <a:moveTo>
                  <a:pt x="0" y="0"/>
                </a:moveTo>
                <a:lnTo>
                  <a:pt x="15860556" y="0"/>
                </a:lnTo>
                <a:lnTo>
                  <a:pt x="15860556" y="5584436"/>
                </a:lnTo>
                <a:lnTo>
                  <a:pt x="0" y="5584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878" r="0" b="-2987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14600" y="1085850"/>
            <a:ext cx="13819856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34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IT 시스템 관점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18638"/>
            <a:ext cx="18288000" cy="11205638"/>
            <a:chOff x="0" y="0"/>
            <a:chExt cx="24384000" cy="14940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940850"/>
            </a:xfrm>
            <a:custGeom>
              <a:avLst/>
              <a:gdLst/>
              <a:ahLst/>
              <a:cxnLst/>
              <a:rect r="r" b="b" t="t" l="l"/>
              <a:pathLst>
                <a:path h="149408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940850"/>
                  </a:lnTo>
                  <a:lnTo>
                    <a:pt x="0" y="14940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401" r="0" b="-4401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6509987" y="6364443"/>
              <a:ext cx="12381004" cy="777027"/>
              <a:chOff x="0" y="0"/>
              <a:chExt cx="2445630" cy="15348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45631" cy="153487"/>
              </a:xfrm>
              <a:custGeom>
                <a:avLst/>
                <a:gdLst/>
                <a:ahLst/>
                <a:cxnLst/>
                <a:rect r="r" b="b" t="t" l="l"/>
                <a:pathLst>
                  <a:path h="153487" w="2445631">
                    <a:moveTo>
                      <a:pt x="0" y="0"/>
                    </a:moveTo>
                    <a:lnTo>
                      <a:pt x="2445631" y="0"/>
                    </a:lnTo>
                    <a:lnTo>
                      <a:pt x="2445631" y="153487"/>
                    </a:lnTo>
                    <a:lnTo>
                      <a:pt x="0" y="15348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85725"/>
                <a:ext cx="2445630" cy="2392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49"/>
                  </a:lnSpc>
                </a:p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DAHOmIbcieg</dc:identifier>
  <dcterms:modified xsi:type="dcterms:W3CDTF">2011-08-01T06:04:30Z</dcterms:modified>
  <cp:revision>1</cp:revision>
  <dc:title>금융스터디 3주차 발표</dc:title>
</cp:coreProperties>
</file>